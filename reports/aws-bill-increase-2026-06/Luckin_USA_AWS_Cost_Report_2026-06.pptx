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5月</c:v>
                </c:pt>
              </c:strCache>
            </c:strRef>
          </c:tx>
          <c:dPt>
            <c:idx val="0"/>
            <c:spPr>
              <a:solidFill>
                <a:srgbClr val="0B2A4A"/>
              </a:solidFill>
            </c:spPr>
          </c:dPt>
          <c:dPt>
            <c:idx val="1"/>
            <c:spPr>
              <a:solidFill>
                <a:srgbClr val="2E75B6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9DC3E6"/>
              </a:solidFill>
            </c:spPr>
          </c:dPt>
          <c:dPt>
            <c:idx val="4"/>
            <c:spPr>
              <a:solidFill>
                <a:srgbClr val="ED7D31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A5A5A5"/>
              </a:solidFill>
            </c:spPr>
          </c:dPt>
          <c:cat>
            <c:strRef>
              <c:f>Sheet1!$A$2:$A$8</c:f>
              <c:strCache>
                <c:ptCount val="7"/>
                <c:pt idx="0">
                  <c:v>计算 (EC2/EBS/EKS)</c:v>
                </c:pt>
                <c:pt idx="1">
                  <c:v>数据库 (RDS/DocDB/Redis)</c:v>
                </c:pt>
                <c:pt idx="2">
                  <c:v>大数据分析 (MSK/OpenSearch/EMR)</c:v>
                </c:pt>
                <c:pt idx="3">
                  <c:v>监控 (CloudWatch)</c:v>
                </c:pt>
                <c:pt idx="4">
                  <c:v>安全 (GuardDuty/WAF)</c:v>
                </c:pt>
                <c:pt idx="5">
                  <c:v>网络</c:v>
                </c:pt>
                <c:pt idx="6">
                  <c:v>存储/镜像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32447</c:v>
                </c:pt>
                <c:pt idx="1">
                  <c:v>9077</c:v>
                </c:pt>
                <c:pt idx="2">
                  <c:v>5277</c:v>
                </c:pt>
                <c:pt idx="3">
                  <c:v>2439</c:v>
                </c:pt>
                <c:pt idx="4">
                  <c:v>1446</c:v>
                </c:pt>
                <c:pt idx="5">
                  <c:v>986</c:v>
                </c:pt>
                <c:pt idx="6">
                  <c:v>811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5月 (USD)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2E75B6"/>
              </a:solidFill>
            </c:spPr>
          </c:dPt>
          <c:dPt>
            <c:idx val="2"/>
            <c:spPr>
              <a:solidFill>
                <a:srgbClr val="2E75B6"/>
              </a:solidFill>
            </c:spPr>
          </c:dPt>
          <c:dPt>
            <c:idx val="3"/>
            <c:spPr>
              <a:solidFill>
                <a:srgbClr val="2E75B6"/>
              </a:solidFill>
            </c:spPr>
          </c:dPt>
          <c:dPt>
            <c:idx val="4"/>
            <c:spPr>
              <a:solidFill>
                <a:srgbClr val="2E75B6"/>
              </a:solidFill>
            </c:spPr>
          </c:dPt>
          <c:dPt>
            <c:idx val="5"/>
            <c:spPr>
              <a:solidFill>
                <a:srgbClr val="2E75B6"/>
              </a:solidFill>
            </c:spPr>
          </c:dPt>
          <c:dPt>
            <c:idx val="6"/>
            <c:spPr>
              <a:solidFill>
                <a:srgbClr val="2E75B6"/>
              </a:solidFill>
            </c:spPr>
          </c:dPt>
          <c:dPt>
            <c:idx val="7"/>
            <c:spPr>
              <a:solidFill>
                <a:srgbClr val="ED7D31"/>
              </a:solidFill>
            </c:spPr>
          </c:dPt>
          <c:dPt>
            <c:idx val="8"/>
            <c:spPr>
              <a:solidFill>
                <a:srgbClr val="2E75B6"/>
              </a:solidFill>
            </c:spPr>
          </c:dPt>
          <c:dPt>
            <c:idx val="9"/>
            <c:spPr>
              <a:solidFill>
                <a:srgbClr val="2E75B6"/>
              </a:solidFill>
            </c:spPr>
          </c:dPt>
          <c:cat>
            <c:strRef>
              <c:f>Sheet1!$A$2:$A$11</c:f>
              <c:strCache>
                <c:ptCount val="10"/>
                <c:pt idx="0">
                  <c:v>EC2 计算</c:v>
                </c:pt>
                <c:pt idx="1">
                  <c:v>RDS 数据库</c:v>
                </c:pt>
                <c:pt idx="2">
                  <c:v>EC2-Other</c:v>
                </c:pt>
                <c:pt idx="3">
                  <c:v>CloudWatch</c:v>
                </c:pt>
                <c:pt idx="4">
                  <c:v>MSK Kafka</c:v>
                </c:pt>
                <c:pt idx="5">
                  <c:v>OpenSearch</c:v>
                </c:pt>
                <c:pt idx="6">
                  <c:v>ElastiCache</c:v>
                </c:pt>
                <c:pt idx="7">
                  <c:v>GuardDuty</c:v>
                </c:pt>
                <c:pt idx="8">
                  <c:v>DocumentDB</c:v>
                </c:pt>
                <c:pt idx="9">
                  <c:v>EMR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29125</c:v>
                </c:pt>
                <c:pt idx="1">
                  <c:v>5722</c:v>
                </c:pt>
                <c:pt idx="2">
                  <c:v>3173</c:v>
                </c:pt>
                <c:pt idx="3">
                  <c:v>2439</c:v>
                </c:pt>
                <c:pt idx="4">
                  <c:v>2328</c:v>
                </c:pt>
                <c:pt idx="5">
                  <c:v>2311</c:v>
                </c:pt>
                <c:pt idx="6">
                  <c:v>2305</c:v>
                </c:pt>
                <c:pt idx="7">
                  <c:v>1438</c:v>
                </c:pt>
                <c:pt idx="8">
                  <c:v>1050</c:v>
                </c:pt>
                <c:pt idx="9">
                  <c:v>638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5月</c:v>
                </c:pt>
              </c:strCache>
            </c:strRef>
          </c:tx>
          <c:spPr>
            <a:solidFill>
              <a:srgbClr val="0B2A4A"/>
            </a:solidFill>
          </c:spPr>
          <c:cat>
            <c:strRef>
              <c:f>Sheet1!$A$2:$A$7</c:f>
              <c:strCache>
                <c:ptCount val="6"/>
                <c:pt idx="0">
                  <c:v>EC2 计算</c:v>
                </c:pt>
                <c:pt idx="1">
                  <c:v>RDS</c:v>
                </c:pt>
                <c:pt idx="2">
                  <c:v>EC2-Other</c:v>
                </c:pt>
                <c:pt idx="3">
                  <c:v>CloudWatch</c:v>
                </c:pt>
                <c:pt idx="4">
                  <c:v>MSK</c:v>
                </c:pt>
                <c:pt idx="5">
                  <c:v>GuardDuty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29125</c:v>
                </c:pt>
                <c:pt idx="1">
                  <c:v>5722</c:v>
                </c:pt>
                <c:pt idx="2">
                  <c:v>3173</c:v>
                </c:pt>
                <c:pt idx="3">
                  <c:v>2439</c:v>
                </c:pt>
                <c:pt idx="4">
                  <c:v>2328</c:v>
                </c:pt>
                <c:pt idx="5">
                  <c:v>1438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6月(预估)</c:v>
                </c:pt>
              </c:strCache>
            </c:strRef>
          </c:tx>
          <c:spPr>
            <a:solidFill>
              <a:srgbClr val="9DC3E6"/>
            </a:solidFill>
          </c:spPr>
          <c:cat>
            <c:strRef>
              <c:f>Sheet1!$A$2:$A$7</c:f>
              <c:strCache>
                <c:ptCount val="6"/>
                <c:pt idx="0">
                  <c:v>EC2 计算</c:v>
                </c:pt>
                <c:pt idx="1">
                  <c:v>RDS</c:v>
                </c:pt>
                <c:pt idx="2">
                  <c:v>EC2-Other</c:v>
                </c:pt>
                <c:pt idx="3">
                  <c:v>CloudWatch</c:v>
                </c:pt>
                <c:pt idx="4">
                  <c:v>MSK</c:v>
                </c:pt>
                <c:pt idx="5">
                  <c:v>GuardDuty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29000</c:v>
                </c:pt>
                <c:pt idx="1">
                  <c:v>5300</c:v>
                </c:pt>
                <c:pt idx="2">
                  <c:v>3190</c:v>
                </c:pt>
                <c:pt idx="3">
                  <c:v>1910</c:v>
                </c:pt>
                <c:pt idx="4">
                  <c:v>2290</c:v>
                </c:pt>
                <c:pt idx="5">
                  <c:v>1570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月增 (USD)</c:v>
                </c:pt>
              </c:strCache>
            </c:strRef>
          </c:tx>
          <c:dPt>
            <c:idx val="0"/>
            <c:spPr>
              <a:solidFill>
                <a:srgbClr val="ED7D31"/>
              </a:solidFill>
            </c:spPr>
          </c:dPt>
          <c:dPt>
            <c:idx val="1"/>
            <c:spPr>
              <a:solidFill>
                <a:srgbClr val="2E75B6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GuardDuty 运行时监控
(3/19 开启·持续)</c:v>
                </c:pt>
                <c:pt idx="1">
                  <c:v>用量自然增长+
小库升级</c:v>
                </c:pt>
                <c:pt idx="2">
                  <c:v>EC2 临时尖峰
(一次性·已回落)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1300</c:v>
                </c:pt>
                <c:pt idx="1">
                  <c:v>850</c:v>
                </c:pt>
                <c:pt idx="2">
                  <c:v>550</c:v>
                </c:pt>
              </c:numCache>
            </c:numRef>
          </c:val>
        </c:ser>
        <c:dLbls>
          <c:numFmt formatCode="&quot;+$&quot;#,##0" sourceLinked="0"/>
          <c:txPr>
            <a:bodyPr/>
            <a:lstStyle/>
            <a:p>
              <a:pPr>
                <a:defRPr sz="1200" b="1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445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AWS 云成本月度支出报告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9DC3E6"/>
                </a:solidFill>
                <a:latin typeface="Microsoft YaHei"/>
              </a:rPr>
              <a:t>Luckin Coffee USA  ·  First Ray Holdings USA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汇报周期：2026 年 5–6 月    |    编制：DBA 团队 曾翔宇    |    日期：2026-06-26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DC3E6"/>
                </a:solidFill>
                <a:latin typeface="Microsoft YaHei"/>
              </a:rPr>
              <a:t>月度支出约 $52,000  ·  近两月持平  ·  净增约 $2K 主因为 GuardDuty 安全功能升级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DC3E6"/>
                </a:solidFill>
                <a:latin typeface="Microsoft YaHei"/>
              </a:rPr>
              <a:t>LUCKIN COFFEE USA · AWS 云成本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摘要：核心数字一览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Microsoft YaHei"/>
              </a:rPr>
              <a:t>AWS 账号 257394478466 · us-east-1 · 数据口径 Cost Explorer UnblendedCost · 2026-06-26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30168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82296" cy="1554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18488"/>
            <a:ext cx="3264408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E75B6"/>
                </a:solidFill>
                <a:latin typeface="Microsoft YaHei"/>
              </a:rPr>
              <a:t>$52.5K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32644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5 月总支出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417320"/>
            <a:ext cx="3630168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417320"/>
            <a:ext cx="82296" cy="1554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618488"/>
            <a:ext cx="3264408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E75B6"/>
                </a:solidFill>
                <a:latin typeface="Microsoft YaHei"/>
              </a:rPr>
              <a:t>$51.8K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377440"/>
            <a:ext cx="32644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6 月总支出（预估）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1417320"/>
            <a:ext cx="3630168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9016" y="1417320"/>
            <a:ext cx="82296" cy="155448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618488"/>
            <a:ext cx="3264408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0AD47"/>
                </a:solidFill>
                <a:latin typeface="Microsoft YaHei"/>
              </a:rPr>
              <a:t>-1.3%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377440"/>
            <a:ext cx="32644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环比变动 · 基本持平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27832"/>
            <a:ext cx="3630168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27832"/>
            <a:ext cx="82296" cy="15544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3264408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A4A"/>
                </a:solidFill>
                <a:latin typeface="Microsoft YaHei"/>
              </a:rPr>
              <a:t>85%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87952"/>
            <a:ext cx="32644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EC2+数据库+大数据 占比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3227832"/>
            <a:ext cx="3630168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5968" y="3227832"/>
            <a:ext cx="82296" cy="15544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429000"/>
            <a:ext cx="3264408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Microsoft YaHei"/>
              </a:rPr>
              <a:t>+$1.3K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4187952"/>
            <a:ext cx="32644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GuardDuty 月增（主因）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9016" y="3227832"/>
            <a:ext cx="3630168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9016" y="3227832"/>
            <a:ext cx="82296" cy="15544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3429000"/>
            <a:ext cx="3264408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A4A"/>
                </a:solidFill>
                <a:latin typeface="Microsoft YaHei"/>
              </a:rPr>
              <a:t>89.6%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187952"/>
            <a:ext cx="326440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预留实例覆盖率 · 正常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B2A4A"/>
                </a:solidFill>
                <a:latin typeface="Microsoft YaHei"/>
              </a:rPr>
              <a:t>结论：月支出约 $52K，近两月持平；钱主要花在计算/数据库/大数据三块。较早前约 $49.6K 的水平净增约 $2K，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B2A4A"/>
                </a:solidFill>
                <a:latin typeface="Microsoft YaHei"/>
              </a:rPr>
              <a:t>主因是 3 月 19 日开启的 GuardDuty 运行时监控（约 +$1,300/月），其余为用量自然增长。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DC3E6"/>
                </a:solidFill>
                <a:latin typeface="Microsoft YaHei"/>
              </a:rPr>
              <a:t>LUCKIN COFFEE USA · AWS 云成本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一、钱花在哪里（5 月，按类别）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Microsoft YaHei"/>
              </a:rPr>
              <a:t>AWS 账号 257394478466 · us-east-1 · 数据口径 Cost Explorer UnblendedCost · 2026-06-26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325880"/>
          <a:ext cx="67665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360920" y="1554480"/>
            <a:ext cx="4434840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554480"/>
            <a:ext cx="237744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类别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554480"/>
            <a:ext cx="100584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金额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1554480"/>
            <a:ext cx="8229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占比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938528"/>
            <a:ext cx="4434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93852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计算 (EC2/EBS/EKS)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1938528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$32,447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1938528"/>
            <a:ext cx="822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61.8%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304288"/>
            <a:ext cx="4434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30428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数据库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304288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$9,077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2304288"/>
            <a:ext cx="822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17.3%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2670048"/>
            <a:ext cx="4434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67004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大数据分析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670048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$5,277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2670048"/>
            <a:ext cx="822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10.1%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3035808"/>
            <a:ext cx="4434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303580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监控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35808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$2,439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3035808"/>
            <a:ext cx="822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4.6%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3401568"/>
            <a:ext cx="4434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340156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安全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401568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$1,446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3401568"/>
            <a:ext cx="822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2.8%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3767328"/>
            <a:ext cx="4434840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76732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网络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767328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$986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3767328"/>
            <a:ext cx="822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1.9%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4133088"/>
            <a:ext cx="4434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413308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存储/镜像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133088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B2A4A"/>
                </a:solidFill>
                <a:latin typeface="Microsoft YaHei"/>
              </a:rPr>
              <a:t>$811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4133088"/>
            <a:ext cx="822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1.5%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4498848"/>
            <a:ext cx="4434840" cy="36576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449884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2A4A"/>
                </a:solidFill>
                <a:latin typeface="Microsoft YaHei"/>
              </a:rPr>
              <a:t>合计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498848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2A4A"/>
                </a:solidFill>
                <a:latin typeface="Microsoft YaHei"/>
              </a:rPr>
              <a:t>$52,497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4498848"/>
            <a:ext cx="822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95959"/>
                </a:solidFill>
                <a:latin typeface="Microsoft YaHei"/>
              </a:rPr>
              <a:t>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DC3E6"/>
                </a:solidFill>
                <a:latin typeface="Microsoft YaHei"/>
              </a:rPr>
              <a:t>LUCKIN COFFEE USA · AWS 云成本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一、钱花在哪里（5 月 Top 10 服务，从高到低）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Microsoft YaHei"/>
              </a:rPr>
              <a:t>AWS 账号 257394478466 · us-east-1 · 数据口径 Cost Explorer UnblendedCost · 2026-06-26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325880"/>
          <a:ext cx="112471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</a:rPr>
              <a:t>注：EC2 计算含约 $24K/月预留实例(RI)固定费用（2025-08 购买）。GuardDuty 已标橙=本期上涨项。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DC3E6"/>
                </a:solidFill>
                <a:latin typeface="Microsoft YaHei"/>
              </a:rPr>
              <a:t>LUCKIN COFFEE USA · AWS 云成本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二、近几个月变动趋势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Microsoft YaHei"/>
              </a:rPr>
              <a:t>AWS 账号 257394478466 · us-east-1 · 数据口径 Cost Explorer UnblendedCost · 2026-06-26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371600"/>
          <a:ext cx="7680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56616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554480"/>
            <a:ext cx="82296" cy="128016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69164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月度总计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Microsoft YaHei"/>
              </a:rPr>
              <a:t>$52.5K → $51.8K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0AD47"/>
                </a:solidFill>
                <a:latin typeface="Microsoft YaHei"/>
              </a:rPr>
              <a:t>环比 -1.3% · 基本持平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63240"/>
            <a:ext cx="361188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B2A4A"/>
                </a:solidFill>
                <a:latin typeface="Microsoft YaHei"/>
              </a:rPr>
              <a:t>要点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• 近两个完整月账单基本持平，各服务小幅此消彼长，无新跳变。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• 6/12–16 有一次性 EC2 临时尖峰（+$550），已回落。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• 账单自 3 月起即处于上涨后的稳定水平。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909090"/>
                </a:solidFill>
                <a:latin typeface="Microsoft YaHei"/>
              </a:rPr>
              <a:t>• 4 月计费数据不完整，不作整月对比。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DC3E6"/>
                </a:solidFill>
                <a:latin typeface="Microsoft YaHei"/>
              </a:rPr>
              <a:t>LUCKIN COFFEE USA · AWS 云成本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三、账单上涨主要原因（从高到低）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Microsoft YaHei"/>
              </a:rPr>
              <a:t>AWS 账号 257394478466 · us-east-1 · 数据口径 Cost Explorer UnblendedCost · 2026-06-26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</a:rPr>
              <a:t>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37160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1463040"/>
            <a:ext cx="438912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B2A4A"/>
                </a:solidFill>
                <a:latin typeface="Microsoft YaHei"/>
              </a:rPr>
              <a:t>主因：GuardDuty 安全升级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2026-03-19 开启 Runtime Monitoring（自动监控 233 台 EC2 + EKS，按 vCPU 计费）及 EBS 恶意软件扫描。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GuardDuty 由 ~$90/月 → ~$1,400/月，持续多支出约 $1,300/月。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B2A4A"/>
                </a:solidFill>
                <a:latin typeface="Microsoft YaHei"/>
              </a:rPr>
              <a:t>已排除的非原因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• $24K/月预留实例费：2025-08 购买，非新增，覆盖率 89.6% 正常。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</a:rPr>
              <a:t>• 无近期新购 RI，无大规模实例升配。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DC3E6"/>
                </a:solidFill>
                <a:latin typeface="Microsoft YaHei"/>
              </a:rPr>
              <a:t>LUCKIN COFFEE USA · AWS 云成本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四、建议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Microsoft YaHei"/>
              </a:rPr>
              <a:t>AWS 账号 257394478466 · us-east-1 · 数据口径 Cost Explorer UnblendedCost · 2026-06-26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20140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09728" cy="1417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B2A4A"/>
                </a:solidFill>
                <a:latin typeface="Microsoft YaHei"/>
              </a:rPr>
              <a:t>1  优化 EC2 按需缺口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581912"/>
            <a:ext cx="20116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1581912"/>
            <a:ext cx="2011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省钱机会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105156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</a:rPr>
              <a:t>约 $5K/月按需用量未被预留实例覆盖（c6i.2xlarge / t3.large 等机型）。补充对应预留实例(RI)可进一步降低按需成本。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