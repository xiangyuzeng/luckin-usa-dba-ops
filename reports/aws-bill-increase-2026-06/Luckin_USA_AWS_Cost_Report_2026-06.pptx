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5月</c:v>
                </c:pt>
              </c:strCache>
            </c:strRef>
          </c:tx>
          <c:dPt>
            <c:idx val="0"/>
            <c:spPr>
              <a:solidFill>
                <a:srgbClr val="0B2A4A"/>
              </a:solidFill>
            </c:spPr>
          </c:dPt>
          <c:dPt>
            <c:idx val="1"/>
            <c:spPr>
              <a:solidFill>
                <a:srgbClr val="2E75B6"/>
              </a:solidFill>
            </c:spPr>
          </c:dPt>
          <c:dPt>
            <c:idx val="2"/>
            <c:spPr>
              <a:solidFill>
                <a:srgbClr val="5B9BD5"/>
              </a:solidFill>
            </c:spPr>
          </c:dPt>
          <c:dPt>
            <c:idx val="3"/>
            <c:spPr>
              <a:solidFill>
                <a:srgbClr val="9DC3E6"/>
              </a:solidFill>
            </c:spPr>
          </c:dPt>
          <c:dPt>
            <c:idx val="4"/>
            <c:spPr>
              <a:solidFill>
                <a:srgbClr val="ED7D31"/>
              </a:solidFill>
            </c:spPr>
          </c:dPt>
          <c:dPt>
            <c:idx val="5"/>
            <c:spPr>
              <a:solidFill>
                <a:srgbClr val="70AD47"/>
              </a:solidFill>
            </c:spPr>
          </c:dPt>
          <c:dPt>
            <c:idx val="6"/>
            <c:spPr>
              <a:solidFill>
                <a:srgbClr val="A5A5A5"/>
              </a:solidFill>
            </c:spPr>
          </c:dPt>
          <c:cat>
            <c:strRef>
              <c:f>Sheet1!$A$2:$A$8</c:f>
              <c:strCache>
                <c:ptCount val="7"/>
                <c:pt idx="0">
                  <c:v>计算 (EC2/EBS/EKS)</c:v>
                </c:pt>
                <c:pt idx="1">
                  <c:v>数据库 (RDS/DocDB/Redis)</c:v>
                </c:pt>
                <c:pt idx="2">
                  <c:v>大数据分析 (MSK/OpenSearch/EMR)</c:v>
                </c:pt>
                <c:pt idx="3">
                  <c:v>监控 (CloudWatch)</c:v>
                </c:pt>
                <c:pt idx="4">
                  <c:v>安全 (GuardDuty/WAF)</c:v>
                </c:pt>
                <c:pt idx="5">
                  <c:v>网络</c:v>
                </c:pt>
                <c:pt idx="6">
                  <c:v>存储/镜像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32447</c:v>
                </c:pt>
                <c:pt idx="1">
                  <c:v>9077</c:v>
                </c:pt>
                <c:pt idx="2">
                  <c:v>5277</c:v>
                </c:pt>
                <c:pt idx="3">
                  <c:v>2439</c:v>
                </c:pt>
                <c:pt idx="4">
                  <c:v>1446</c:v>
                </c:pt>
                <c:pt idx="5">
                  <c:v>986</c:v>
                </c:pt>
                <c:pt idx="6">
                  <c:v>811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latin typeface="Microsoft YaHe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5月 (USD)</c:v>
                </c:pt>
              </c:strCache>
            </c:strRef>
          </c:tx>
          <c:dPt>
            <c:idx val="0"/>
            <c:spPr>
              <a:solidFill>
                <a:srgbClr val="2E75B6"/>
              </a:solidFill>
            </c:spPr>
          </c:dPt>
          <c:dPt>
            <c:idx val="1"/>
            <c:spPr>
              <a:solidFill>
                <a:srgbClr val="2E75B6"/>
              </a:solidFill>
            </c:spPr>
          </c:dPt>
          <c:dPt>
            <c:idx val="2"/>
            <c:spPr>
              <a:solidFill>
                <a:srgbClr val="2E75B6"/>
              </a:solidFill>
            </c:spPr>
          </c:dPt>
          <c:dPt>
            <c:idx val="3"/>
            <c:spPr>
              <a:solidFill>
                <a:srgbClr val="2E75B6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dPt>
            <c:idx val="5"/>
            <c:spPr>
              <a:solidFill>
                <a:srgbClr val="2E75B6"/>
              </a:solidFill>
            </c:spPr>
          </c:dPt>
          <c:dPt>
            <c:idx val="6"/>
            <c:spPr>
              <a:solidFill>
                <a:srgbClr val="2E75B6"/>
              </a:solidFill>
            </c:spPr>
          </c:dPt>
          <c:dPt>
            <c:idx val="7"/>
            <c:spPr>
              <a:solidFill>
                <a:srgbClr val="ED7D31"/>
              </a:solidFill>
            </c:spPr>
          </c:dPt>
          <c:dPt>
            <c:idx val="8"/>
            <c:spPr>
              <a:solidFill>
                <a:srgbClr val="2E75B6"/>
              </a:solidFill>
            </c:spPr>
          </c:dPt>
          <c:dPt>
            <c:idx val="9"/>
            <c:spPr>
              <a:solidFill>
                <a:srgbClr val="2E75B6"/>
              </a:solidFill>
            </c:spPr>
          </c:dPt>
          <c:cat>
            <c:strRef>
              <c:f>Sheet1!$A$2:$A$11</c:f>
              <c:strCache>
                <c:ptCount val="10"/>
                <c:pt idx="0">
                  <c:v>EC2 计算</c:v>
                </c:pt>
                <c:pt idx="1">
                  <c:v>RDS 数据库</c:v>
                </c:pt>
                <c:pt idx="2">
                  <c:v>EC2-Other</c:v>
                </c:pt>
                <c:pt idx="3">
                  <c:v>CloudWatch</c:v>
                </c:pt>
                <c:pt idx="4">
                  <c:v>MSK Kafka</c:v>
                </c:pt>
                <c:pt idx="5">
                  <c:v>OpenSearch</c:v>
                </c:pt>
                <c:pt idx="6">
                  <c:v>ElastiCache</c:v>
                </c:pt>
                <c:pt idx="7">
                  <c:v>GuardDuty</c:v>
                </c:pt>
                <c:pt idx="8">
                  <c:v>DocumentDB</c:v>
                </c:pt>
                <c:pt idx="9">
                  <c:v>EMR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29125</c:v>
                </c:pt>
                <c:pt idx="1">
                  <c:v>5722</c:v>
                </c:pt>
                <c:pt idx="2">
                  <c:v>3173</c:v>
                </c:pt>
                <c:pt idx="3">
                  <c:v>2439</c:v>
                </c:pt>
                <c:pt idx="4">
                  <c:v>2328</c:v>
                </c:pt>
                <c:pt idx="5">
                  <c:v>2311</c:v>
                </c:pt>
                <c:pt idx="6">
                  <c:v>2305</c:v>
                </c:pt>
                <c:pt idx="7">
                  <c:v>1438</c:v>
                </c:pt>
                <c:pt idx="8">
                  <c:v>1050</c:v>
                </c:pt>
                <c:pt idx="9">
                  <c:v>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 b="1">
                  <a:latin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icrosoft Ya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5月</c:v>
                </c:pt>
              </c:strCache>
            </c:strRef>
          </c:tx>
          <c:spPr>
            <a:solidFill>
              <a:srgbClr val="0B2A4A"/>
            </a:solidFill>
          </c:spPr>
          <c:cat>
            <c:strRef>
              <c:f>Sheet1!$A$2:$A$7</c:f>
              <c:strCache>
                <c:ptCount val="6"/>
                <c:pt idx="0">
                  <c:v>EC2 计算</c:v>
                </c:pt>
                <c:pt idx="1">
                  <c:v>RDS</c:v>
                </c:pt>
                <c:pt idx="2">
                  <c:v>EC2-Other</c:v>
                </c:pt>
                <c:pt idx="3">
                  <c:v>CloudWatch</c:v>
                </c:pt>
                <c:pt idx="4">
                  <c:v>MSK</c:v>
                </c:pt>
                <c:pt idx="5">
                  <c:v>GuardDuty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29125</c:v>
                </c:pt>
                <c:pt idx="1">
                  <c:v>5722</c:v>
                </c:pt>
                <c:pt idx="2">
                  <c:v>3173</c:v>
                </c:pt>
                <c:pt idx="3">
                  <c:v>2439</c:v>
                </c:pt>
                <c:pt idx="4">
                  <c:v>2328</c:v>
                </c:pt>
                <c:pt idx="5">
                  <c:v>1438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6月(预估)</c:v>
                </c:pt>
              </c:strCache>
            </c:strRef>
          </c:tx>
          <c:spPr>
            <a:solidFill>
              <a:srgbClr val="9DC3E6"/>
            </a:solidFill>
          </c:spPr>
          <c:cat>
            <c:strRef>
              <c:f>Sheet1!$A$2:$A$7</c:f>
              <c:strCache>
                <c:ptCount val="6"/>
                <c:pt idx="0">
                  <c:v>EC2 计算</c:v>
                </c:pt>
                <c:pt idx="1">
                  <c:v>RDS</c:v>
                </c:pt>
                <c:pt idx="2">
                  <c:v>EC2-Other</c:v>
                </c:pt>
                <c:pt idx="3">
                  <c:v>CloudWatch</c:v>
                </c:pt>
                <c:pt idx="4">
                  <c:v>MSK</c:v>
                </c:pt>
                <c:pt idx="5">
                  <c:v>GuardDuty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29000</c:v>
                </c:pt>
                <c:pt idx="1">
                  <c:v>5300</c:v>
                </c:pt>
                <c:pt idx="2">
                  <c:v>3190</c:v>
                </c:pt>
                <c:pt idx="3">
                  <c:v>1910</c:v>
                </c:pt>
                <c:pt idx="4">
                  <c:v>2290</c:v>
                </c:pt>
                <c:pt idx="5">
                  <c:v>1570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latin typeface="Microsoft YaHe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月增 (USD)</c:v>
                </c:pt>
              </c:strCache>
            </c:strRef>
          </c:tx>
          <c:dPt>
            <c:idx val="0"/>
            <c:spPr>
              <a:solidFill>
                <a:srgbClr val="ED7D31"/>
              </a:solidFill>
            </c:spPr>
          </c:dPt>
          <c:dPt>
            <c:idx val="1"/>
            <c:spPr>
              <a:solidFill>
                <a:srgbClr val="2E75B6"/>
              </a:solidFill>
            </c:spPr>
          </c:dPt>
          <c:dPt>
            <c:idx val="2"/>
            <c:spPr>
              <a:solidFill>
                <a:srgbClr val="A5A5A5"/>
              </a:solidFill>
            </c:spPr>
          </c:dPt>
          <c:cat>
            <c:strRef>
              <c:f>Sheet1!$A$2:$A$4</c:f>
              <c:strCache>
                <c:ptCount val="3"/>
                <c:pt idx="0">
                  <c:v>GuardDuty 运行时监控
(3/19 开启·持续)</c:v>
                </c:pt>
                <c:pt idx="1">
                  <c:v>用量自然增长+
小库升级</c:v>
                </c:pt>
                <c:pt idx="2">
                  <c:v>EC2 临时尖峰
(一次性·已回落)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1300</c:v>
                </c:pt>
                <c:pt idx="1">
                  <c:v>850</c:v>
                </c:pt>
                <c:pt idx="2">
                  <c:v>550</c:v>
                </c:pt>
              </c:numCache>
            </c:numRef>
          </c:val>
        </c:ser>
        <c:dLbls>
          <c:numFmt formatCode="&quot;+$&quot;#,##0" sourceLinked="0"/>
          <c:txPr>
            <a:bodyPr/>
            <a:lstStyle/>
            <a:p>
              <a:pPr>
                <a:defRPr sz="1200" b="1">
                  <a:latin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icrosoft YaHe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445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AWS 云成本月度支出报告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9DC3E6"/>
                </a:solidFill>
                <a:latin typeface="Microsoft YaHei"/>
              </a:rPr>
              <a:t>Luckin Coffee USA  ·  First Ray Holdings USA Inc.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86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汇报周期：2026 年 5–6 月    |    编制：DBA 团队 曾翔宇    |    日期：2026-06-26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DC3E6"/>
                </a:solidFill>
                <a:latin typeface="Microsoft YaHei"/>
              </a:rPr>
              <a:t>月度支出约 $52,000  ·  近两月持平  ·  净增约 $2K 主因为 GuardDuty 安全功能升级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DC3E6"/>
                </a:solidFill>
                <a:latin typeface="Microsoft YaHei"/>
              </a:rPr>
              <a:t>LUCKIN COFFEE USA · AWS 云成本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摘要：核心数字一览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</a:rPr>
              <a:t>AWS 账号 257394478466 · us-east-1 · 数据口径 Cost Explorer UnblendedCost · 2026-06-26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icrosoft YaHe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3630168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82296" cy="15544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18488"/>
            <a:ext cx="3264408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E75B6"/>
                </a:solidFill>
                <a:latin typeface="Microsoft YaHei"/>
              </a:rPr>
              <a:t>$52.5K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377440"/>
            <a:ext cx="32644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5 月总支出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417320"/>
            <a:ext cx="3630168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417320"/>
            <a:ext cx="82296" cy="15544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618488"/>
            <a:ext cx="3264408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E75B6"/>
                </a:solidFill>
                <a:latin typeface="Microsoft YaHei"/>
              </a:rPr>
              <a:t>$51.8K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377440"/>
            <a:ext cx="32644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6 月总支出（预估）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1417320"/>
            <a:ext cx="3630168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29016" y="1417320"/>
            <a:ext cx="82296" cy="155448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618488"/>
            <a:ext cx="3264408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0AD47"/>
                </a:solidFill>
                <a:latin typeface="Microsoft YaHei"/>
              </a:rPr>
              <a:t>-1.3%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377440"/>
            <a:ext cx="32644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环比变动 · 基本持平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27832"/>
            <a:ext cx="3630168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227832"/>
            <a:ext cx="82296" cy="15544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429000"/>
            <a:ext cx="3264408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B2A4A"/>
                </a:solidFill>
                <a:latin typeface="Microsoft YaHei"/>
              </a:rPr>
              <a:t>85%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87952"/>
            <a:ext cx="32644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EC2+数据库+大数据 占比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5968" y="3227832"/>
            <a:ext cx="3630168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5968" y="3227832"/>
            <a:ext cx="82296" cy="15544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44568" y="3429000"/>
            <a:ext cx="3264408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Microsoft YaHei"/>
              </a:rPr>
              <a:t>+$1.3K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2856" y="4187952"/>
            <a:ext cx="32644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GuardDuty 月增（主因）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29016" y="3227832"/>
            <a:ext cx="3630168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29016" y="3227832"/>
            <a:ext cx="82296" cy="15544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7616" y="3429000"/>
            <a:ext cx="3264408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B2A4A"/>
                </a:solidFill>
                <a:latin typeface="Microsoft YaHei"/>
              </a:rPr>
              <a:t>89.6%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5904" y="4187952"/>
            <a:ext cx="32644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预留实例覆盖率 · 正常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44068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B2A4A"/>
                </a:solidFill>
                <a:latin typeface="Microsoft YaHei"/>
              </a:rPr>
              <a:t>结论：月支出约 $52K，近两月持平；钱主要花在计算/数据库/大数据三块。较早前约 $49.6K 的水平净增约 $2K，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B2A4A"/>
                </a:solidFill>
                <a:latin typeface="Microsoft YaHei"/>
              </a:rPr>
              <a:t>主因是 3 月 19 日开启的 GuardDuty 运行时监控（约 +$1,300/月，属安全加固投入），无异常浪费。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DC3E6"/>
                </a:solidFill>
                <a:latin typeface="Microsoft YaHei"/>
              </a:rPr>
              <a:t>LUCKIN COFFEE USA · AWS 云成本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一、钱花在哪里（5 月，按类别）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</a:rPr>
              <a:t>AWS 账号 257394478466 · us-east-1 · 数据口径 Cost Explorer UnblendedCost · 2026-06-26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icrosoft YaHei"/>
              </a:rPr>
              <a:t>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65760" y="1325880"/>
          <a:ext cx="67665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7360920" y="1554480"/>
            <a:ext cx="4434840" cy="38404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1554480"/>
            <a:ext cx="237744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类别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1554480"/>
            <a:ext cx="100584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金额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1554480"/>
            <a:ext cx="82296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占比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0920" y="1938528"/>
            <a:ext cx="44348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193852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计算 (EC2/EBS/EKS)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1938528"/>
            <a:ext cx="10972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$32,447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1938528"/>
            <a:ext cx="8229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61.8%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2304288"/>
            <a:ext cx="443484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30428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数据库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304288"/>
            <a:ext cx="10972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$9,077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2304288"/>
            <a:ext cx="8229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17.3%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2670048"/>
            <a:ext cx="44348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267004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大数据分析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2670048"/>
            <a:ext cx="10972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$5,277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2670048"/>
            <a:ext cx="8229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10.1%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20" y="3035808"/>
            <a:ext cx="443484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303580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监控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35808"/>
            <a:ext cx="10972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$2,439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3035808"/>
            <a:ext cx="8229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4.6%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20" y="3401568"/>
            <a:ext cx="44348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60" y="340156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3401568"/>
            <a:ext cx="10972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$1,446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3401568"/>
            <a:ext cx="8229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2.8%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60920" y="3767328"/>
            <a:ext cx="443484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376732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网络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3767328"/>
            <a:ext cx="10972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$986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3767328"/>
            <a:ext cx="8229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1.9%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60920" y="4133088"/>
            <a:ext cx="44348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2360" y="413308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存储/镜像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133088"/>
            <a:ext cx="10972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B2A4A"/>
                </a:solidFill>
                <a:latin typeface="Microsoft YaHei"/>
              </a:rPr>
              <a:t>$811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4133088"/>
            <a:ext cx="8229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1.5%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60920" y="4498848"/>
            <a:ext cx="4434840" cy="365760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52360" y="449884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2A4A"/>
                </a:solidFill>
                <a:latin typeface="Microsoft YaHei"/>
              </a:rPr>
              <a:t>合计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38360" y="4498848"/>
            <a:ext cx="10972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2A4A"/>
                </a:solidFill>
                <a:latin typeface="Microsoft YaHei"/>
              </a:rPr>
              <a:t>$52,497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4498848"/>
            <a:ext cx="8229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95959"/>
                </a:solidFill>
                <a:latin typeface="Microsoft YaHei"/>
              </a:rPr>
              <a:t>100%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DC3E6"/>
                </a:solidFill>
                <a:latin typeface="Microsoft YaHei"/>
              </a:rPr>
              <a:t>LUCKIN COFFEE USA · AWS 云成本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一、钱花在哪里（5 月 Top 10 服务，从高到低）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</a:rPr>
              <a:t>AWS 账号 257394478466 · us-east-1 · 数据口径 Cost Explorer UnblendedCost · 2026-06-26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icrosoft YaHei"/>
              </a:rPr>
              <a:t>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325880"/>
          <a:ext cx="112471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35508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icrosoft YaHei"/>
              </a:rPr>
              <a:t>注：EC2 计算含约 $24K/月预留实例(RI)固定费用（2025-08 购买）。GuardDuty 已标橙=本期上涨项。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DC3E6"/>
                </a:solidFill>
                <a:latin typeface="Microsoft YaHei"/>
              </a:rPr>
              <a:t>LUCKIN COFFEE USA · AWS 云成本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二、近几个月变动趋势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</a:rPr>
              <a:t>AWS 账号 257394478466 · us-east-1 · 数据口径 Cost Explorer UnblendedCost · 2026-06-26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icrosoft YaHei"/>
              </a:rPr>
              <a:t>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65760" y="1371600"/>
          <a:ext cx="76809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8229600" y="1554480"/>
            <a:ext cx="356616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554480"/>
            <a:ext cx="82296" cy="12801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691640"/>
            <a:ext cx="32004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月度总计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Microsoft YaHei"/>
              </a:rPr>
              <a:t>$52.5K → $51.8K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0AD47"/>
                </a:solidFill>
                <a:latin typeface="Microsoft YaHei"/>
              </a:rPr>
              <a:t>环比 -1.3% · 基本持平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063240"/>
            <a:ext cx="3611880" cy="3108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0B2A4A"/>
                </a:solidFill>
                <a:latin typeface="Microsoft YaHei"/>
              </a:rPr>
              <a:t>要点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</a:rPr>
              <a:t>• 近两个完整月账单基本持平，各服务小幅此消彼长，无新跳变。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</a:rPr>
              <a:t>• 6/12–16 有一次性 EC2 临时尖峰（+$550），已回落。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</a:rPr>
              <a:t>• 账单自 3 月起即处于上涨后的稳定水平。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>
                <a:solidFill>
                  <a:srgbClr val="909090"/>
                </a:solidFill>
                <a:latin typeface="Microsoft YaHei"/>
              </a:rPr>
              <a:t>• 4 月计费数据不完整，不作整月对比。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DC3E6"/>
                </a:solidFill>
                <a:latin typeface="Microsoft YaHei"/>
              </a:rPr>
              <a:t>LUCKIN COFFEE USA · AWS 云成本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三、账单上涨主要原因（从高到低）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</a:rPr>
              <a:t>AWS 账号 257394478466 · us-east-1 · 数据口径 Cost Explorer UnblendedCost · 2026-06-26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icrosoft YaHei"/>
              </a:rPr>
              <a:t>6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65760" y="1371600"/>
          <a:ext cx="694944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98079" y="1463040"/>
            <a:ext cx="438912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B2A4A"/>
                </a:solidFill>
                <a:latin typeface="Microsoft YaHei"/>
              </a:rPr>
              <a:t>主因：GuardDuty 安全升级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</a:rPr>
              <a:t>2026-03-19 开启 Runtime Monitoring（自动监控 233 台 EC2 + EKS，按 vCPU 计费）及 EBS 恶意软件扫描。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</a:rPr>
              <a:t>GuardDuty 由 ~$90/月 → ~$1,400/月，持续多支出约 $1,300/月。属安全加固投入，非浪费。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>
                <a:solidFill>
                  <a:srgbClr val="595959"/>
                </a:solidFill>
                <a:latin typeface="Microsoft YaHe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B2A4A"/>
                </a:solidFill>
                <a:latin typeface="Microsoft YaHei"/>
              </a:rPr>
              <a:t>已排除的非原因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</a:rPr>
              <a:t>• $24K/月预留实例费：2025-08 购买，非新增，覆盖率 89.6% 正常。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</a:rPr>
              <a:t>• 无近期新购 RI，无大规模实例升配。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DC3E6"/>
                </a:solidFill>
                <a:latin typeface="Microsoft YaHei"/>
              </a:rPr>
              <a:t>LUCKIN COFFEE USA · AWS 云成本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四、建议与决策点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</a:rPr>
              <a:t>AWS 账号 257394478466 · us-east-1 · 数据口径 Cost Explorer UnblendedCost · 2026-06-26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icrosoft YaHe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20140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14173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36192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B2A4A"/>
                </a:solidFill>
                <a:latin typeface="Microsoft YaHei"/>
              </a:rPr>
              <a:t>1  确认 GuardDuty 是否保留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0" y="1581912"/>
            <a:ext cx="2011680" cy="4572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158191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约 $1,300/月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75688"/>
            <a:ext cx="1051560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</a:rPr>
              <a:t>若为安全/合规要求 → 合理保留；若可收窄，关闭对 233 台 EC2 的自动监控只留 EKS，预计省 ~$1,000–1,300/月。需与安全团队确认。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44952"/>
            <a:ext cx="1120140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044952"/>
            <a:ext cx="109728" cy="1417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63824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B2A4A"/>
                </a:solidFill>
                <a:latin typeface="Microsoft YaHei"/>
              </a:rPr>
              <a:t>2  优化 EC2 按需缺口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3209544"/>
            <a:ext cx="20116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3209544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可省机会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03320"/>
            <a:ext cx="1051560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</a:rPr>
              <a:t>约 $5K/月按需用量未被预留实例覆盖（c6i.2xlarge/t3.large 等）。补充对应 RI 可进一步降本。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72584"/>
            <a:ext cx="1120140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72584"/>
            <a:ext cx="109728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791456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B2A4A"/>
                </a:solidFill>
                <a:latin typeface="Microsoft YaHei"/>
              </a:rPr>
              <a:t>3  预算告警同步管理层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4837176"/>
            <a:ext cx="201168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4837176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治理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330952"/>
            <a:ext cx="1051560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</a:rPr>
              <a:t>AWS 成本异常监控已运行，建议设定月度预算阈值并同步管理层，成本变动及时可见、可追溯。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