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PQNC</c:v>
                </c:pt>
              </c:strCache>
            </c:strRef>
          </c:tx>
          <c:spPr>
            <a:solidFill>
              <a:srgbClr val="1F3864"/>
            </a:solidFill>
            <a:ln w="25400">
              <a:solidFill>
                <a:srgbClr val="1F3864"/>
              </a:solidFill>
            </a:ln>
          </c:spPr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80</c:v>
                </c:pt>
                <c:pt idx="2">
                  <c:v>33</c:v>
                </c:pt>
                <c:pt idx="3">
                  <c:v>68</c:v>
                </c:pt>
                <c:pt idx="4">
                  <c:v>72</c:v>
                </c:pt>
                <c:pt idx="5">
                  <c:v>61</c:v>
                </c:pt>
                <c:pt idx="6">
                  <c:v>59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750">
                  <a:solidFill>
                    <a:srgbClr val="22222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9C9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E8E8E8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C9C9C9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solidFill>
            <a:srgbClr val="5F6978"/>
          </a:solidFill>
          <a:latin typeface="Microsoft YaHe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1F3864"/>
              </a:solidFill>
              <a:ln w="254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9DC3E6"/>
              </a:solidFill>
              <a:ln w="2540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288C5A"/>
              </a:solidFill>
              <a:ln w="2540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EB9119"/>
              </a:solidFill>
              <a:ln w="25400"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Supplier 供应商</c:v>
                </c:pt>
                <c:pt idx="1">
                  <c:v>Warehouse 仓储</c:v>
                </c:pt>
                <c:pt idx="2">
                  <c:v>Joint 共担</c:v>
                </c:pt>
                <c:pt idx="3">
                  <c:v>Unknown/reject 未明确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</c:v>
                </c:pt>
                <c:pt idx="1">
                  <c:v>4</c:v>
                </c:pt>
                <c:pt idx="2">
                  <c:v>13</c:v>
                </c:pt>
                <c:pt idx="3">
                  <c:v>9</c:v>
                </c:pt>
              </c:numCache>
            </c:numRef>
          </c:val>
        </c:ser>
        <c:dLbls>
          <c:txPr>
            <a:bodyPr/>
            <a:lstStyle/>
            <a:p>
              <a:pPr>
                <a:defRPr sz="85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800"/>
          </a:pPr>
        </a:p>
      </c:txPr>
    </c:legend>
    <c:plotVisOnly val="1"/>
    <c:dispBlanksAs val="gap"/>
    <c:showDLblsOverMax val="0"/>
  </c:chart>
  <c:txPr>
    <a:bodyPr/>
    <a:lstStyle/>
    <a:p>
      <a:pPr>
        <a:defRPr sz="850">
          <a:latin typeface="Arial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9DC3E6"/>
            </a:solidFill>
            <a:ln w="25400">
              <a:solidFill>
                <a:srgbClr val="9DC3E6"/>
              </a:solidFill>
            </a:ln>
          </c:spPr>
          <c:cat>
            <c:strRef>
              <c:f>Sheet1!$A$2:$A$6</c:f>
              <c:strCache>
                <c:ptCount val="5"/>
                <c:pt idx="0">
                  <c:v>SYSCO</c:v>
                </c:pt>
                <c:pt idx="1">
                  <c:v>VIOBIO MARKET PL</c:v>
                </c:pt>
                <c:pt idx="2">
                  <c:v>S&amp;D coffee</c:v>
                </c:pt>
                <c:pt idx="3">
                  <c:v>FREENOW USA INC.</c:v>
                </c:pt>
                <c:pt idx="4">
                  <c:v>Primizie New Yor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22222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9C9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E8E8E8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C9C9C9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5F6978"/>
          </a:solidFill>
          <a:latin typeface="Microsoft YaHe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Supplier</c:v>
                </c:pt>
              </c:strCache>
            </c:strRef>
          </c:tx>
          <c:spPr>
            <a:solidFill>
              <a:srgbClr val="1F3864"/>
            </a:solidFill>
            <a:ln w="25400">
              <a:solidFill>
                <a:srgbClr val="1F3864"/>
              </a:solidFill>
            </a:ln>
          </c:spPr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57</c:v>
                </c:pt>
                <c:pt idx="1">
                  <c:v>65</c:v>
                </c:pt>
                <c:pt idx="2">
                  <c:v>30</c:v>
                </c:pt>
                <c:pt idx="3">
                  <c:v>51</c:v>
                </c:pt>
                <c:pt idx="4">
                  <c:v>40</c:v>
                </c:pt>
                <c:pt idx="5">
                  <c:v>19</c:v>
                </c:pt>
                <c:pt idx="6">
                  <c:v>33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750">
                  <a:solidFill>
                    <a:srgbClr val="22222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9C9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E8E8E8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C9C9C9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solidFill>
            <a:srgbClr val="5F6978"/>
          </a:solidFill>
          <a:latin typeface="Microsoft YaHe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6 月 仓储·共担</c:v>
                </c:pt>
              </c:strCache>
            </c:strRef>
          </c:tx>
          <c:spPr>
            <a:solidFill>
              <a:srgbClr val="1F3864"/>
            </a:solidFill>
            <a:ln w="25400">
              <a:solidFill>
                <a:srgbClr val="1F3864"/>
              </a:solidFill>
            </a:ln>
          </c:spPr>
          <c:cat>
            <c:strRef>
              <c:f>Sheet1!$A$2:$A$6</c:f>
              <c:strCache>
                <c:ptCount val="5"/>
                <c:pt idx="0">
                  <c:v>过期/短保</c:v>
                </c:pt>
                <c:pt idx="1">
                  <c:v>失温/错误温区</c:v>
                </c:pt>
                <c:pt idx="2">
                  <c:v>破损变形/泄漏</c:v>
                </c:pt>
                <c:pt idx="3">
                  <c:v>变质</c:v>
                </c:pt>
                <c:pt idx="4">
                  <c:v>其他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6</c:v>
                </c:pt>
                <c:pt idx="2">
                  <c:v>7</c:v>
                </c:pt>
                <c:pt idx="3">
                  <c:v>2</c:v>
                </c:pt>
                <c:pt idx="4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7 月 仓储</c:v>
                </c:pt>
              </c:strCache>
            </c:strRef>
          </c:tx>
          <c:spPr>
            <a:solidFill>
              <a:srgbClr val="9DC3E6"/>
            </a:solidFill>
            <a:ln w="25400">
              <a:solidFill>
                <a:srgbClr val="9DC3E6"/>
              </a:solidFill>
            </a:ln>
          </c:spPr>
          <c:cat>
            <c:strRef>
              <c:f>Sheet1!$A$2:$A$6</c:f>
              <c:strCache>
                <c:ptCount val="5"/>
                <c:pt idx="0">
                  <c:v>过期/短保</c:v>
                </c:pt>
                <c:pt idx="1">
                  <c:v>失温/错误温区</c:v>
                </c:pt>
                <c:pt idx="2">
                  <c:v>破损变形/泄漏</c:v>
                </c:pt>
                <c:pt idx="3">
                  <c:v>变质</c:v>
                </c:pt>
                <c:pt idx="4">
                  <c:v>其他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3</c:v>
                </c:pt>
                <c:pt idx="3">
                  <c:v>0</c:v>
                </c:pt>
                <c:pt idx="4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7 月 共担集群</c:v>
                </c:pt>
              </c:strCache>
            </c:strRef>
          </c:tx>
          <c:spPr>
            <a:solidFill>
              <a:srgbClr val="288C5A"/>
            </a:solidFill>
            <a:ln w="25400">
              <a:solidFill>
                <a:srgbClr val="288C5A"/>
              </a:solidFill>
            </a:ln>
          </c:spPr>
          <c:cat>
            <c:strRef>
              <c:f>Sheet1!$A$2:$A$6</c:f>
              <c:strCache>
                <c:ptCount val="5"/>
                <c:pt idx="0">
                  <c:v>过期/短保</c:v>
                </c:pt>
                <c:pt idx="1">
                  <c:v>失温/错误温区</c:v>
                </c:pt>
                <c:pt idx="2">
                  <c:v>破损变形/泄漏</c:v>
                </c:pt>
                <c:pt idx="3">
                  <c:v>变质</c:v>
                </c:pt>
                <c:pt idx="4">
                  <c:v>其他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</c:v>
                </c:pt>
                <c:pt idx="1">
                  <c:v>0</c:v>
                </c:pt>
                <c:pt idx="2">
                  <c:v>1</c:v>
                </c:pt>
                <c:pt idx="3">
                  <c:v>9</c:v>
                </c:pt>
                <c:pt idx="4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22222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9C9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E8E8E8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C9C9C9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50"/>
          </a:pPr>
        </a:p>
      </c:txPr>
    </c:legend>
    <c:dispBlanksAs val="gap"/>
  </c:chart>
  <c:txPr>
    <a:bodyPr/>
    <a:lstStyle/>
    <a:p>
      <a:pPr>
        <a:defRPr sz="900">
          <a:solidFill>
            <a:srgbClr val="5F6978"/>
          </a:solidFill>
          <a:latin typeface="Microsoft YaHe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QA 得分</c:v>
                </c:pt>
              </c:strCache>
            </c:strRef>
          </c:tx>
          <c:spPr>
            <a:solidFill>
              <a:srgbClr val="1F3864"/>
            </a:solidFill>
            <a:ln w="25400">
              <a:solidFill>
                <a:srgbClr val="1F3864"/>
              </a:solidFill>
            </a:ln>
          </c:spPr>
          <c:cat>
            <c:strRef>
              <c:f>Sheet1!$A$2:$A$19</c:f>
              <c:strCache>
                <c:ptCount val="18"/>
                <c:pt idx="0">
                  <c:v>29th &amp; 3rd</c:v>
                </c:pt>
                <c:pt idx="1">
                  <c:v>154 Bleecker</c:v>
                </c:pt>
                <c:pt idx="2">
                  <c:v>8th &amp; Broadway</c:v>
                </c:pt>
                <c:pt idx="3">
                  <c:v>28th &amp; 6th</c:v>
                </c:pt>
                <c:pt idx="4">
                  <c:v>41st &amp; Lexington</c:v>
                </c:pt>
                <c:pt idx="5">
                  <c:v>40th &amp; 10th</c:v>
                </c:pt>
                <c:pt idx="6">
                  <c:v>21st &amp; 3rd</c:v>
                </c:pt>
                <c:pt idx="7">
                  <c:v>221 Grand</c:v>
                </c:pt>
                <c:pt idx="8">
                  <c:v>37th &amp; Broadway</c:v>
                </c:pt>
                <c:pt idx="9">
                  <c:v>16th &amp; 6th</c:v>
                </c:pt>
                <c:pt idx="10">
                  <c:v>33rd &amp; 10th</c:v>
                </c:pt>
                <c:pt idx="11">
                  <c:v>23rd &amp; 8th</c:v>
                </c:pt>
                <c:pt idx="12">
                  <c:v>102 Fulton</c:v>
                </c:pt>
                <c:pt idx="13">
                  <c:v>15th &amp; 3rd</c:v>
                </c:pt>
                <c:pt idx="14">
                  <c:v>52nd &amp; Madison</c:v>
                </c:pt>
                <c:pt idx="15">
                  <c:v>108th &amp; Broadway</c:v>
                </c:pt>
                <c:pt idx="16">
                  <c:v>100 Maiden Ln</c:v>
                </c:pt>
                <c:pt idx="17">
                  <c:v>54th &amp; 8th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98</c:v>
                </c:pt>
                <c:pt idx="1">
                  <c:v>95</c:v>
                </c:pt>
                <c:pt idx="2">
                  <c:v>94</c:v>
                </c:pt>
                <c:pt idx="3">
                  <c:v>94</c:v>
                </c:pt>
                <c:pt idx="4">
                  <c:v>94</c:v>
                </c:pt>
                <c:pt idx="5">
                  <c:v>94</c:v>
                </c:pt>
                <c:pt idx="6">
                  <c:v>94</c:v>
                </c:pt>
                <c:pt idx="7">
                  <c:v>94</c:v>
                </c:pt>
                <c:pt idx="8">
                  <c:v>93</c:v>
                </c:pt>
                <c:pt idx="9">
                  <c:v>93</c:v>
                </c:pt>
                <c:pt idx="10">
                  <c:v>92</c:v>
                </c:pt>
                <c:pt idx="11">
                  <c:v>92</c:v>
                </c:pt>
                <c:pt idx="12">
                  <c:v>91</c:v>
                </c:pt>
                <c:pt idx="13">
                  <c:v>91</c:v>
                </c:pt>
                <c:pt idx="14">
                  <c:v>90</c:v>
                </c:pt>
                <c:pt idx="15">
                  <c:v>89</c:v>
                </c:pt>
                <c:pt idx="16">
                  <c:v>85</c:v>
                </c:pt>
                <c:pt idx="17">
                  <c:v>84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22222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9C9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E8E8E8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C9C9C9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5F6978"/>
          </a:solidFill>
          <a:latin typeface="Microsoft YaHe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A+ 级</c:v>
                </c:pt>
              </c:strCache>
            </c:strRef>
          </c:tx>
          <c:spPr>
            <a:solidFill>
              <a:srgbClr val="1F3864"/>
            </a:solidFill>
            <a:ln w="25400">
              <a:solidFill>
                <a:srgbClr val="1F3864"/>
              </a:solidFill>
            </a:ln>
          </c:spPr>
          <c:cat>
            <c:strRef>
              <c:f>Sheet1!$A$2:$A$2</c:f>
              <c:strCache>
                <c:ptCount val="1"/>
                <c:pt idx="0">
                  <c:v>QA 稽核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 级</c:v>
                </c:pt>
              </c:strCache>
            </c:strRef>
          </c:tx>
          <c:spPr>
            <a:solidFill>
              <a:srgbClr val="1F4E96"/>
            </a:solidFill>
            <a:ln w="25400">
              <a:solidFill>
                <a:srgbClr val="1F4E96"/>
              </a:solidFill>
            </a:ln>
          </c:spPr>
          <c:cat>
            <c:strRef>
              <c:f>Sheet1!$A$2:$A$2</c:f>
              <c:strCache>
                <c:ptCount val="1"/>
                <c:pt idx="0">
                  <c:v>QA 稽核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 级</c:v>
                </c:pt>
              </c:strCache>
            </c:strRef>
          </c:tx>
          <c:spPr>
            <a:solidFill>
              <a:srgbClr val="2E75B6"/>
            </a:solidFill>
            <a:ln w="25400">
              <a:solidFill>
                <a:srgbClr val="2E75B6"/>
              </a:solidFill>
            </a:ln>
          </c:spPr>
          <c:cat>
            <c:strRef>
              <c:f>Sheet1!$A$2:$A$2</c:f>
              <c:strCache>
                <c:ptCount val="1"/>
                <c:pt idx="0">
                  <c:v>QA 稽核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 级</c:v>
                </c:pt>
              </c:strCache>
            </c:strRef>
          </c:tx>
          <c:spPr>
            <a:solidFill>
              <a:srgbClr val="9DC3E6"/>
            </a:solidFill>
            <a:ln w="25400">
              <a:solidFill>
                <a:srgbClr val="9DC3E6"/>
              </a:solidFill>
            </a:ln>
          </c:spPr>
          <c:cat>
            <c:strRef>
              <c:f>Sheet1!$A$2:$A$2</c:f>
              <c:strCache>
                <c:ptCount val="1"/>
                <c:pt idx="0">
                  <c:v>QA 稽核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22222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C9C9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9525">
              <a:solidFill>
                <a:srgbClr val="E8E8E8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C9C9C9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50"/>
          </a:pPr>
        </a:p>
      </c:txPr>
    </c:legend>
    <c:dispBlanksAs val="gap"/>
  </c:chart>
  <c:txPr>
    <a:bodyPr/>
    <a:lstStyle/>
    <a:p>
      <a:pPr>
        <a:defRPr sz="900">
          <a:solidFill>
            <a:srgbClr val="5F6978"/>
          </a:solidFill>
          <a:latin typeface="Microsoft YaHe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申诉前</c:v>
                </c:pt>
              </c:strCache>
            </c:strRef>
          </c:tx>
          <c:spPr>
            <a:solidFill>
              <a:srgbClr val="9DC3E6"/>
            </a:solidFill>
            <a:ln w="25400">
              <a:solidFill>
                <a:srgbClr val="9DC3E6"/>
              </a:solidFill>
            </a:ln>
          </c:spPr>
          <c:cat>
            <c:strRef>
              <c:f>Sheet1!$A$2:$A$5</c:f>
              <c:strCache>
                <c:ptCount val="4"/>
                <c:pt idx="0">
                  <c:v>A+</c:v>
                </c:pt>
                <c:pt idx="1">
                  <c:v>A</c:v>
                </c:pt>
                <c:pt idx="2">
                  <c:v>B</c:v>
                </c:pt>
                <c:pt idx="3">
                  <c:v>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7</c:v>
                </c:pt>
                <c:pt idx="2">
                  <c:v>1</c:v>
                </c:pt>
                <c:pt idx="3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申诉后</c:v>
                </c:pt>
              </c:strCache>
            </c:strRef>
          </c:tx>
          <c:spPr>
            <a:solidFill>
              <a:srgbClr val="1F3864"/>
            </a:solidFill>
            <a:ln w="25400">
              <a:solidFill>
                <a:srgbClr val="1F3864"/>
              </a:solidFill>
            </a:ln>
          </c:spPr>
          <c:cat>
            <c:strRef>
              <c:f>Sheet1!$A$2:$A$5</c:f>
              <c:strCache>
                <c:ptCount val="4"/>
                <c:pt idx="0">
                  <c:v>A+</c:v>
                </c:pt>
                <c:pt idx="1">
                  <c:v>A</c:v>
                </c:pt>
                <c:pt idx="2">
                  <c:v>B</c:v>
                </c:pt>
                <c:pt idx="3">
                  <c:v>C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</c:v>
                </c:pt>
                <c:pt idx="1">
                  <c:v>8</c:v>
                </c:pt>
                <c:pt idx="2">
                  <c:v>2</c:v>
                </c:pt>
                <c:pt idx="3">
                  <c:v>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50">
                  <a:solidFill>
                    <a:srgbClr val="22222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9C9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E8E8E8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C9C9C9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50"/>
          </a:pPr>
        </a:p>
      </c:txPr>
    </c:legend>
    <c:dispBlanksAs val="gap"/>
  </c:chart>
  <c:txPr>
    <a:bodyPr/>
    <a:lstStyle/>
    <a:p>
      <a:pPr>
        <a:defRPr sz="900">
          <a:solidFill>
            <a:srgbClr val="5F6978"/>
          </a:solidFill>
          <a:latin typeface="Microsoft YaHe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6 月</c:v>
                </c:pt>
              </c:strCache>
            </c:strRef>
          </c:tx>
          <c:spPr>
            <a:solidFill>
              <a:srgbClr val="9DC3E6"/>
            </a:solidFill>
            <a:ln w="25400">
              <a:solidFill>
                <a:srgbClr val="9DC3E6"/>
              </a:solidFill>
            </a:ln>
          </c:spPr>
          <c:cat>
            <c:strRef>
              <c:f>Sheet1!$A$2:$A$5</c:f>
              <c:strCache>
                <c:ptCount val="4"/>
                <c:pt idx="0">
                  <c:v>A+</c:v>
                </c:pt>
                <c:pt idx="1">
                  <c:v>A</c:v>
                </c:pt>
                <c:pt idx="2">
                  <c:v>B</c:v>
                </c:pt>
                <c:pt idx="3">
                  <c:v>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8</c:v>
                </c:pt>
                <c:pt idx="2">
                  <c:v>2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7 月</c:v>
                </c:pt>
              </c:strCache>
            </c:strRef>
          </c:tx>
          <c:spPr>
            <a:solidFill>
              <a:srgbClr val="1F3864"/>
            </a:solidFill>
            <a:ln w="25400">
              <a:solidFill>
                <a:srgbClr val="1F3864"/>
              </a:solidFill>
            </a:ln>
          </c:spPr>
          <c:cat>
            <c:strRef>
              <c:f>Sheet1!$A$2:$A$5</c:f>
              <c:strCache>
                <c:ptCount val="4"/>
                <c:pt idx="0">
                  <c:v>A+</c:v>
                </c:pt>
                <c:pt idx="1">
                  <c:v>A</c:v>
                </c:pt>
                <c:pt idx="2">
                  <c:v>B</c:v>
                </c:pt>
                <c:pt idx="3">
                  <c:v>C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</c:v>
                </c:pt>
                <c:pt idx="1">
                  <c:v>8</c:v>
                </c:pt>
                <c:pt idx="2">
                  <c:v>2</c:v>
                </c:pt>
                <c:pt idx="3">
                  <c:v>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50">
                  <a:solidFill>
                    <a:srgbClr val="22222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9C9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E8E8E8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C9C9C9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50"/>
          </a:pPr>
        </a:p>
      </c:txPr>
    </c:legend>
    <c:dispBlanksAs val="gap"/>
  </c:chart>
  <c:txPr>
    <a:bodyPr/>
    <a:lstStyle/>
    <a:p>
      <a:pPr>
        <a:defRPr sz="900">
          <a:solidFill>
            <a:srgbClr val="5F6978"/>
          </a:solidFill>
          <a:latin typeface="Microsoft YaHe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门店自检</c:v>
                </c:pt>
              </c:strCache>
            </c:strRef>
          </c:tx>
          <c:spPr>
            <a:solidFill>
              <a:srgbClr val="1F3864"/>
            </a:solidFill>
            <a:ln w="25400">
              <a:solidFill>
                <a:srgbClr val="1F3864"/>
              </a:solidFill>
            </a:ln>
          </c:spPr>
          <c:cat>
            <c:strRef>
              <c:f>Sheet1!$A$2:$A$8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</c:v>
                </c:pt>
                <c:pt idx="1">
                  <c:v>5</c:v>
                </c:pt>
                <c:pt idx="2">
                  <c:v>13</c:v>
                </c:pt>
                <c:pt idx="3">
                  <c:v>32</c:v>
                </c:pt>
                <c:pt idx="4">
                  <c:v>49</c:v>
                </c:pt>
                <c:pt idx="5">
                  <c:v>51</c:v>
                </c:pt>
                <c:pt idx="6">
                  <c:v>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QA 稽核</c:v>
                </c:pt>
              </c:strCache>
            </c:strRef>
          </c:tx>
          <c:spPr>
            <a:solidFill>
              <a:srgbClr val="9DC3E6"/>
            </a:solidFill>
            <a:ln w="25400">
              <a:solidFill>
                <a:srgbClr val="9DC3E6"/>
              </a:solidFill>
            </a:ln>
          </c:spPr>
          <c:cat>
            <c:strRef>
              <c:f>Sheet1!$A$2:$A$8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</c:v>
                </c:pt>
                <c:pt idx="1">
                  <c:v>2</c:v>
                </c:pt>
                <c:pt idx="2">
                  <c:v>1</c:v>
                </c:pt>
                <c:pt idx="3">
                  <c:v>12</c:v>
                </c:pt>
                <c:pt idx="4">
                  <c:v>16</c:v>
                </c:pt>
                <c:pt idx="5">
                  <c:v>16</c:v>
                </c:pt>
                <c:pt idx="6">
                  <c:v>19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区经检查</c:v>
                </c:pt>
              </c:strCache>
            </c:strRef>
          </c:tx>
          <c:spPr>
            <a:solidFill>
              <a:srgbClr val="288C5A"/>
            </a:solidFill>
            <a:ln w="25400">
              <a:solidFill>
                <a:srgbClr val="288C5A"/>
              </a:solidFill>
            </a:ln>
          </c:spPr>
          <c:cat>
            <c:strRef>
              <c:f>Sheet1!$A$2:$A$8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4</c:v>
                </c:pt>
                <c:pt idx="1">
                  <c:v>0</c:v>
                </c:pt>
                <c:pt idx="2">
                  <c:v>0</c:v>
                </c:pt>
                <c:pt idx="3">
                  <c:v>14</c:v>
                </c:pt>
                <c:pt idx="4">
                  <c:v>21</c:v>
                </c:pt>
                <c:pt idx="5">
                  <c:v>18</c:v>
                </c:pt>
                <c:pt idx="6">
                  <c:v>21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22222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9C9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E8E8E8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C9C9C9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50"/>
          </a:pPr>
        </a:p>
      </c:txPr>
    </c:legend>
    <c:dispBlanksAs val="gap"/>
  </c:chart>
  <c:txPr>
    <a:bodyPr/>
    <a:lstStyle/>
    <a:p>
      <a:pPr>
        <a:defRPr sz="900">
          <a:solidFill>
            <a:srgbClr val="5F6978"/>
          </a:solidFill>
          <a:latin typeface="Microsoft YaHei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店均轻微项 L</c:v>
                </c:pt>
              </c:strCache>
            </c:strRef>
          </c:tx>
          <c:spPr>
            <a:solidFill>
              <a:srgbClr val="1F3864"/>
            </a:solidFill>
            <a:ln w="25400">
              <a:solidFill>
                <a:srgbClr val="1F3864"/>
              </a:solidFill>
            </a:ln>
          </c:spPr>
          <c:cat>
            <c:strRef>
              <c:f>Sheet1!$A$2:$A$3</c:f>
              <c:strCache>
                <c:ptCount val="2"/>
                <c:pt idx="0">
                  <c:v>6 月</c:v>
                </c:pt>
                <c:pt idx="1">
                  <c:v>7 月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0.89</c:v>
                </c:pt>
                <c:pt idx="1">
                  <c:v>0.71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店均一般项 G</c:v>
                </c:pt>
              </c:strCache>
            </c:strRef>
          </c:tx>
          <c:spPr>
            <a:solidFill>
              <a:srgbClr val="1F4E96"/>
            </a:solidFill>
            <a:ln w="25400">
              <a:solidFill>
                <a:srgbClr val="1F4E96"/>
              </a:solidFill>
            </a:ln>
          </c:spPr>
          <c:cat>
            <c:strRef>
              <c:f>Sheet1!$A$2:$A$3</c:f>
              <c:strCache>
                <c:ptCount val="2"/>
                <c:pt idx="0">
                  <c:v>6 月</c:v>
                </c:pt>
                <c:pt idx="1">
                  <c:v>7 月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3.22</c:v>
                </c:pt>
                <c:pt idx="1">
                  <c:v>3.43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店均重点项 M</c:v>
                </c:pt>
              </c:strCache>
            </c:strRef>
          </c:tx>
          <c:spPr>
            <a:solidFill>
              <a:srgbClr val="2E75B6"/>
            </a:solidFill>
            <a:ln w="25400">
              <a:solidFill>
                <a:srgbClr val="2E75B6"/>
              </a:solidFill>
            </a:ln>
          </c:spPr>
          <c:cat>
            <c:strRef>
              <c:f>Sheet1!$A$2:$A$3</c:f>
              <c:strCache>
                <c:ptCount val="2"/>
                <c:pt idx="0">
                  <c:v>6 月</c:v>
                </c:pt>
                <c:pt idx="1">
                  <c:v>7 月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0.33</c:v>
                </c:pt>
                <c:pt idx="1">
                  <c:v>0.33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店均关键项 S</c:v>
                </c:pt>
              </c:strCache>
            </c:strRef>
          </c:tx>
          <c:spPr>
            <a:solidFill>
              <a:srgbClr val="9DC3E6"/>
            </a:solidFill>
            <a:ln w="25400">
              <a:solidFill>
                <a:srgbClr val="9DC3E6"/>
              </a:solidFill>
            </a:ln>
          </c:spPr>
          <c:cat>
            <c:strRef>
              <c:f>Sheet1!$A$2:$A$3</c:f>
              <c:strCache>
                <c:ptCount val="2"/>
                <c:pt idx="0">
                  <c:v>6 月</c:v>
                </c:pt>
                <c:pt idx="1">
                  <c:v>7 月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0.44</c:v>
                </c:pt>
                <c:pt idx="1">
                  <c:v>0.62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800">
                  <a:solidFill>
                    <a:srgbClr val="22222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9C9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E8E8E8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C9C9C9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50"/>
          </a:pPr>
        </a:p>
      </c:txPr>
    </c:legend>
    <c:dispBlanksAs val="gap"/>
  </c:chart>
  <c:txPr>
    <a:bodyPr/>
    <a:lstStyle/>
    <a:p>
      <a:pPr>
        <a:defRPr sz="900">
          <a:solidFill>
            <a:srgbClr val="5F6978"/>
          </a:solidFill>
          <a:latin typeface="Microsoft YaHei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扣分</c:v>
                </c:pt>
              </c:strCache>
            </c:strRef>
          </c:tx>
          <c:spPr>
            <a:solidFill>
              <a:srgbClr val="9DC3E6"/>
            </a:solidFill>
            <a:ln w="25400">
              <a:solidFill>
                <a:srgbClr val="9DC3E6"/>
              </a:solidFill>
            </a:ln>
          </c:spPr>
          <c:cat>
            <c:strRef>
              <c:f>Sheet1!$A$2:$A$9</c:f>
              <c:strCache>
                <c:ptCount val="8"/>
                <c:pt idx="0">
                  <c:v>设备维护</c:v>
                </c:pt>
                <c:pt idx="1">
                  <c:v>员工健康卫生</c:v>
                </c:pt>
                <c:pt idx="2">
                  <c:v>职业安全</c:v>
                </c:pt>
                <c:pt idx="3">
                  <c:v>虫害防控</c:v>
                </c:pt>
                <c:pt idx="4">
                  <c:v>过程控制</c:v>
                </c:pt>
                <c:pt idx="5">
                  <c:v>温控有效期</c:v>
                </c:pt>
                <c:pt idx="6">
                  <c:v>设施</c:v>
                </c:pt>
                <c:pt idx="7">
                  <c:v>清洁卫生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24</c:v>
                </c:pt>
                <c:pt idx="5">
                  <c:v>25</c:v>
                </c:pt>
                <c:pt idx="6">
                  <c:v>56</c:v>
                </c:pt>
                <c:pt idx="7">
                  <c:v>118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50">
                  <a:solidFill>
                    <a:srgbClr val="22222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C9C9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9525">
              <a:solidFill>
                <a:srgbClr val="E8E8E8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C9C9C9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5F6978"/>
          </a:solidFill>
          <a:latin typeface="Microsoft YaHei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事故起数 Incidents</c:v>
                </c:pt>
              </c:strCache>
            </c:strRef>
          </c:tx>
          <c:spPr>
            <a:solidFill>
              <a:srgbClr val="1F3864"/>
            </a:solidFill>
            <a:ln w="25400">
              <a:solidFill>
                <a:srgbClr val="1F3864"/>
              </a:solidFill>
            </a:ln>
          </c:spPr>
          <c:cat>
            <c:strRef>
              <c:f>Sheet1!$A$2:$A$8</c:f>
              <c:strCache>
                <c:ptCount val="7"/>
                <c:pt idx="0">
                  <c:v>Jan 1月</c:v>
                </c:pt>
                <c:pt idx="1">
                  <c:v>Feb 2月</c:v>
                </c:pt>
                <c:pt idx="2">
                  <c:v>Mar 3月</c:v>
                </c:pt>
                <c:pt idx="3">
                  <c:v>Apr 4月</c:v>
                </c:pt>
                <c:pt idx="4">
                  <c:v>May 5月</c:v>
                </c:pt>
                <c:pt idx="5">
                  <c:v>Jun 6月</c:v>
                </c:pt>
                <c:pt idx="6">
                  <c:v>Jul 7月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22222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9C9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E8E8E8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C9C9C9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5F6978"/>
          </a:solidFill>
          <a:latin typeface="Microsoft YaHe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8288"/>
            <a:ext cx="4562856" cy="68488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07608" y="2468880"/>
            <a:ext cx="505663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a:eastAsianTypeface="Microsoft YaHei">
                <a:solidFill>
                  <a:srgbClr val="1E2D41"/>
                </a:solidFill>
                <a:latin typeface="Microsoft YaHei"/>
              </a:rPr>
              <a:t>US Quality Management</a:t>
            </a:r>
          </a:p>
          <a:p>
            <a:pPr algn="l">
              <a:lnSpc>
                <a:spcPct val="120000"/>
              </a:lnSpc>
            </a:pPr>
            <a:r>
              <a:rPr sz="3200" b="1" a:eastAsianTypeface="Microsoft YaHei">
                <a:solidFill>
                  <a:srgbClr val="1E2D41"/>
                </a:solidFill>
                <a:latin typeface="Microsoft YaHei"/>
              </a:rPr>
              <a:t>北美质量管理部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0" y="4370832"/>
            <a:ext cx="1280160" cy="320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7608" y="4645152"/>
            <a:ext cx="50566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a:eastAsianTypeface="Microsoft YaHei">
                <a:solidFill>
                  <a:srgbClr val="1F3864"/>
                </a:solidFill>
                <a:latin typeface="Microsoft YaHei"/>
              </a:rPr>
              <a:t>Jul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5358384"/>
            <a:ext cx="50566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a:eastAsianTypeface="Microsoft YaHei">
                <a:solidFill>
                  <a:srgbClr val="5F6978"/>
                </a:solidFill>
                <a:latin typeface="Microsoft YaHei"/>
              </a:rPr>
              <a:t>2026 年 7 月度质量报告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5760720"/>
            <a:ext cx="5056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a:eastAsianTypeface="Microsoft YaHei">
                <a:solidFill>
                  <a:srgbClr val="5F6978"/>
                </a:solidFill>
                <a:latin typeface="Microsoft YaHei"/>
              </a:rPr>
              <a:t>编制：曾翔宇　|　日期：2026-08-04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a:eastAsianTypeface="Microsoft YaHei">
                <a:solidFill>
                  <a:srgbClr val="1E2D41"/>
                </a:solidFill>
                <a:latin typeface="Microsoft YaHei"/>
              </a:rPr>
              <a:t>7 月整体质量表现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01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a:eastAsianTypeface="Microsoft YaHei">
                <a:solidFill>
                  <a:srgbClr val="5F6978"/>
                </a:solidFill>
                <a:latin typeface="Microsoft YaHei"/>
              </a:rPr>
              <a:t>Monthly Quality Performance Overview ·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41908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a:eastAsianTypeface="Microsoft YaHei">
                <a:solidFill>
                  <a:srgbClr val="1F3864"/>
                </a:solidFill>
                <a:latin typeface="Microsoft YaHei"/>
              </a:rPr>
              <a:t>瑞幸咖啡 · 北美质量保障部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282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a:eastAsianTypeface="Microsoft YaHei">
                <a:solidFill>
                  <a:srgbClr val="5F6978"/>
                </a:solidFill>
                <a:latin typeface="Microsoft YaHe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234440"/>
            <a:ext cx="4983480" cy="12344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234440"/>
            <a:ext cx="54864" cy="1234440"/>
          </a:xfrm>
          <a:prstGeom prst="rect">
            <a:avLst/>
          </a:prstGeom>
          <a:solidFill>
            <a:srgbClr val="EB9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39903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a:eastAsianTypeface="Microsoft YaHei">
                <a:solidFill>
                  <a:srgbClr val="EB9119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435608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a:eastAsianTypeface="Microsoft YaHei">
                <a:solidFill>
                  <a:srgbClr val="1F3864"/>
                </a:solidFill>
                <a:latin typeface="Microsoft YaHei"/>
              </a:rPr>
              <a:t>Supplier &amp; Materials Performance 供应链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984248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a:eastAsianTypeface="Microsoft YaHei">
                <a:solidFill>
                  <a:srgbClr val="5F6978"/>
                </a:solidFill>
                <a:latin typeface="Microsoft YaHei"/>
              </a:rPr>
              <a:t>PQNC 59 起 · 供应商责任 33 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234440"/>
            <a:ext cx="4983480" cy="12344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234440"/>
            <a:ext cx="54864" cy="1234440"/>
          </a:xfrm>
          <a:prstGeom prst="rect">
            <a:avLst/>
          </a:prstGeom>
          <a:solidFill>
            <a:srgbClr val="EB9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139903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a:eastAsianTypeface="Microsoft YaHei">
                <a:solidFill>
                  <a:srgbClr val="EB9119"/>
                </a:solidFill>
                <a:latin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19" y="1435608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a:eastAsianTypeface="Microsoft YaHei">
                <a:solidFill>
                  <a:srgbClr val="1F3864"/>
                </a:solidFill>
                <a:latin typeface="Microsoft YaHei"/>
              </a:rPr>
              <a:t>Warehouse Quality Performance 仓配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19" y="1984248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a:eastAsianTypeface="Microsoft YaHei">
                <a:solidFill>
                  <a:srgbClr val="5F6978"/>
                </a:solidFill>
                <a:latin typeface="Microsoft YaHei"/>
              </a:rPr>
              <a:t>仓储·共担 17 起（6 月 32 起，-47%）· 含奶类变质集群 13 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2743200"/>
            <a:ext cx="4983480" cy="12344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2743200"/>
            <a:ext cx="54864" cy="1234440"/>
          </a:xfrm>
          <a:prstGeom prst="rect">
            <a:avLst/>
          </a:prstGeom>
          <a:solidFill>
            <a:srgbClr val="EB9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290779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a:eastAsianTypeface="Microsoft YaHei">
                <a:solidFill>
                  <a:srgbClr val="EB9119"/>
                </a:solidFill>
                <a:latin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2944368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a:eastAsianTypeface="Microsoft YaHei">
                <a:solidFill>
                  <a:srgbClr val="1F3864"/>
                </a:solidFill>
                <a:latin typeface="Microsoft YaHei"/>
              </a:rPr>
              <a:t>Store Audit Performance 门店稽核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493008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a:eastAsianTypeface="Microsoft YaHei">
                <a:solidFill>
                  <a:srgbClr val="5F6978"/>
                </a:solidFill>
                <a:latin typeface="Microsoft YaHei"/>
              </a:rPr>
              <a:t>QA 稽核 19 次 / 18 家 · 均分 92.1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743200"/>
            <a:ext cx="4983480" cy="12344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2743200"/>
            <a:ext cx="54864" cy="1234440"/>
          </a:xfrm>
          <a:prstGeom prst="rect">
            <a:avLst/>
          </a:prstGeom>
          <a:solidFill>
            <a:srgbClr val="EB9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290779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a:eastAsianTypeface="Microsoft YaHei">
                <a:solidFill>
                  <a:srgbClr val="EB9119"/>
                </a:solidFill>
                <a:latin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19" y="2944368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a:eastAsianTypeface="Microsoft YaHei">
                <a:solidFill>
                  <a:srgbClr val="1F3864"/>
                </a:solidFill>
                <a:latin typeface="Microsoft YaHei"/>
              </a:rPr>
              <a:t>Customer Complaint 客户投诉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19" y="3493008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a:eastAsianTypeface="Microsoft YaHei">
                <a:solidFill>
                  <a:srgbClr val="5F6978"/>
                </a:solidFill>
                <a:latin typeface="Microsoft YaHei"/>
              </a:rPr>
              <a:t>食安类客诉 1 起（异物）· YTD 4 起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4251960"/>
            <a:ext cx="4983480" cy="12344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4251960"/>
            <a:ext cx="54864" cy="1234440"/>
          </a:xfrm>
          <a:prstGeom prst="rect">
            <a:avLst/>
          </a:prstGeom>
          <a:solidFill>
            <a:srgbClr val="28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992" y="441655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a:eastAsianTypeface="Microsoft YaHei">
                <a:solidFill>
                  <a:srgbClr val="288C5A"/>
                </a:solidFill>
                <a:latin typeface="Microsoft YaHe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4453128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a:eastAsianTypeface="Microsoft YaHei">
                <a:solidFill>
                  <a:srgbClr val="1F3864"/>
                </a:solidFill>
                <a:latin typeface="Microsoft YaHei"/>
              </a:rPr>
              <a:t>EHS 环境健康安全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5001768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a:eastAsianTypeface="Microsoft YaHei">
                <a:solidFill>
                  <a:srgbClr val="5F6978"/>
                </a:solidFill>
                <a:latin typeface="Microsoft YaHei"/>
              </a:rPr>
              <a:t>工伤 0 起 · 连续两月零工伤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5806440"/>
            <a:ext cx="146304" cy="146304"/>
          </a:xfrm>
          <a:prstGeom prst="rect">
            <a:avLst/>
          </a:prstGeom>
          <a:solidFill>
            <a:srgbClr val="C8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8992" y="5788152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a:eastAsianTypeface="Microsoft YaHei">
                <a:solidFill>
                  <a:srgbClr val="5F6978"/>
                </a:solidFill>
                <a:latin typeface="Microsoft YaHei"/>
              </a:rPr>
              <a:t>发现重大偏差 / 低于预期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26280" y="5806440"/>
            <a:ext cx="146304" cy="146304"/>
          </a:xfrm>
          <a:prstGeom prst="rect">
            <a:avLst/>
          </a:prstGeom>
          <a:solidFill>
            <a:srgbClr val="EB9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82312" y="5788152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a:eastAsianTypeface="Microsoft YaHei">
                <a:solidFill>
                  <a:srgbClr val="5F6978"/>
                </a:solidFill>
                <a:latin typeface="Microsoft YaHei"/>
              </a:rPr>
              <a:t>表现波动，需要密切关注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5806440"/>
            <a:ext cx="146304" cy="146304"/>
          </a:xfrm>
          <a:prstGeom prst="rect">
            <a:avLst/>
          </a:prstGeom>
          <a:solidFill>
            <a:srgbClr val="28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85632" y="5788152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a:eastAsianTypeface="Microsoft YaHei">
                <a:solidFill>
                  <a:srgbClr val="5F6978"/>
                </a:solidFill>
                <a:latin typeface="Microsoft YaHei"/>
              </a:rPr>
              <a:t>整体无明显异常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01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8484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6096" y="2340864"/>
            <a:ext cx="42153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a:eastAsianTypeface="Microsoft YaHei">
                <a:solidFill>
                  <a:srgbClr val="1F3864"/>
                </a:solidFill>
                <a:latin typeface="Microsoft YaHei"/>
              </a:rPr>
              <a:t>01 /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6096" y="2816352"/>
            <a:ext cx="4215384" cy="20665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 a:eastAsianTypeface="Microsoft YaHei">
                <a:solidFill>
                  <a:srgbClr val="1E2D41"/>
                </a:solidFill>
                <a:latin typeface="Microsoft YaHei"/>
              </a:rPr>
              <a:t>Supplier &amp; Materials</a:t>
            </a:r>
          </a:p>
          <a:p>
            <a:pPr algn="l">
              <a:lnSpc>
                <a:spcPct val="118000"/>
              </a:lnSpc>
            </a:pPr>
            <a:r>
              <a:rPr sz="3200" b="1" a:eastAsianTypeface="Microsoft YaHei">
                <a:solidFill>
                  <a:srgbClr val="1E2D41"/>
                </a:solidFill>
                <a:latin typeface="Microsoft YaHei"/>
              </a:rPr>
              <a:t>&amp; Warehouse</a:t>
            </a:r>
          </a:p>
          <a:p>
            <a:pPr algn="l">
              <a:lnSpc>
                <a:spcPct val="118000"/>
              </a:lnSpc>
            </a:pPr>
            <a:r>
              <a:rPr sz="3200" b="1" a:eastAsianTypeface="Microsoft YaHei">
                <a:solidFill>
                  <a:srgbClr val="1E2D41"/>
                </a:solidFill>
                <a:latin typeface="Microsoft YaHei"/>
              </a:rPr>
              <a:t>供应链仓配质检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a:eastAsianTypeface="Microsoft YaHei">
                <a:solidFill>
                  <a:srgbClr val="1E2D41"/>
                </a:solidFill>
                <a:latin typeface="Microsoft YaHei"/>
              </a:rPr>
              <a:t>01  Supplier &amp; Materials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01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a:eastAsianTypeface="Microsoft YaHei">
                <a:solidFill>
                  <a:srgbClr val="5F6978"/>
                </a:solidFill>
                <a:latin typeface="Microsoft YaHei"/>
              </a:rPr>
              <a:t>1. Suppliers admission / 供应商准入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41908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a:eastAsianTypeface="Microsoft YaHei">
                <a:solidFill>
                  <a:srgbClr val="1F3864"/>
                </a:solidFill>
                <a:latin typeface="Microsoft YaHei"/>
              </a:rPr>
              <a:t>瑞幸咖啡 · 北美质量保障部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282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a:eastAsianTypeface="Microsoft YaHei">
                <a:solidFill>
                  <a:srgbClr val="5F6978"/>
                </a:solidFill>
                <a:latin typeface="Microsoft YaHei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2651760" cy="105156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435607"/>
            <a:ext cx="23957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005EB8"/>
                </a:solidFill>
                <a:latin typeface="Microsoft Ya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837943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本月准入通过 / Approved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121407"/>
            <a:ext cx="23957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6 月 4 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325880"/>
            <a:ext cx="2651760" cy="105156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3864" y="1435607"/>
            <a:ext cx="23957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005EB8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1837943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食品类 / Food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3864" y="2121407"/>
            <a:ext cx="23957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经 QA 审批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325880"/>
            <a:ext cx="2651760" cy="105156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1435607"/>
            <a:ext cx="23957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005EB8"/>
                </a:solidFill>
                <a:latin typeface="Microsoft YaHe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1837943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其他非食品 / Other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4" y="2121407"/>
            <a:ext cx="23957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经 QA 审批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0" y="1325880"/>
            <a:ext cx="2651760" cy="105156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53144" y="1435607"/>
            <a:ext cx="23957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5F6978"/>
                </a:solidFill>
                <a:latin typeface="Microsoft YaHei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3144" y="1837943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现场稽核 / On-site audit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3144" y="2121407"/>
            <a:ext cx="23957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本月无准入/年度/飞行审核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02920" y="2697480"/>
          <a:ext cx="585215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0114"/>
                <a:gridCol w="1672045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Supplier Category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Approved #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Microsoft YaHei"/>
                        </a:rPr>
                        <a:t>Food 食品类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Microsoft YaHei"/>
                        </a:rPr>
                        <a:t>Other none-food 其他非食品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Microsoft YaHei"/>
                        </a:rPr>
                        <a:t>Total / 合计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6537960" y="2697480"/>
            <a:ext cx="512064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47688" y="2752344"/>
            <a:ext cx="490118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口径说明 / Scope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37960" y="3008376"/>
            <a:ext cx="5120640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84264" y="3127248"/>
            <a:ext cx="482803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本页为「经 QA 审批」的准入家数。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部分营建类供应商不经 QA 审批即可在系统建档，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因此系统家数会高于本页。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343400"/>
            <a:ext cx="1115568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4398264"/>
            <a:ext cx="109362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与系统主数据的差异（已核实）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654296"/>
            <a:ext cx="111556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" y="4773168"/>
            <a:ext cx="10863072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系统 `t_mdm_supplier` 7 月新增 15 条供应商主数据记录，而经 QA 审批的准入仅 2 家——两者不矛盾：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「营建 / 工程类供应商不走 QA 准入审批流程，但仍会在系统内建档」，这部分计入主数据、不计入本页。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因此「主数据新增家数」不能直接当作「准入通过家数」使用；v1 版据此提出的数据缺口已由业务侧澄清并关闭。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※ 本月仅提供通过家数；申请家数（含被否决）未单独统计，故不列「Total applied」列。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a:eastAsianTypeface="Microsoft YaHei">
                <a:solidFill>
                  <a:srgbClr val="1E2D41"/>
                </a:solidFill>
                <a:latin typeface="Microsoft YaHei"/>
              </a:rPr>
              <a:t>01  Supplier &amp; Materials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01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a:eastAsianTypeface="Microsoft YaHei">
                <a:solidFill>
                  <a:srgbClr val="5F6978"/>
                </a:solidFill>
                <a:latin typeface="Microsoft YaHei"/>
              </a:rPr>
              <a:t>2. Materials admission / 原料准入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41908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a:eastAsianTypeface="Microsoft YaHei">
                <a:solidFill>
                  <a:srgbClr val="1F3864"/>
                </a:solidFill>
                <a:latin typeface="Microsoft YaHei"/>
              </a:rPr>
              <a:t>瑞幸咖啡 · 北美质量保障部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282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a:eastAsianTypeface="Microsoft YaHei">
                <a:solidFill>
                  <a:srgbClr val="5F6978"/>
                </a:solidFill>
                <a:latin typeface="Microsoft YaHei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3566160" cy="118872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481328"/>
            <a:ext cx="33101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005EB8"/>
                </a:solidFill>
                <a:latin typeface="Microsoft YaHe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883664"/>
            <a:ext cx="33101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本月原料准入 / Materials admitted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304287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6 月同为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371600"/>
            <a:ext cx="3566160" cy="118872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8264" y="1481328"/>
            <a:ext cx="33101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005EB8"/>
                </a:solidFill>
                <a:latin typeface="Microsoft YaHe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8264" y="1883664"/>
            <a:ext cx="33101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新增申请 / Applications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8264" y="2304287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无在途审批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1371600"/>
            <a:ext cx="3657600" cy="118872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7304" y="1481328"/>
            <a:ext cx="340156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288C5A"/>
                </a:solidFill>
                <a:latin typeface="Microsoft YaHei"/>
              </a:rPr>
              <a:t>连续 2 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188366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无新原料引入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47304" y="2304287"/>
            <a:ext cx="34015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6 月 0 / 7 月 0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02920" y="2834640"/>
          <a:ext cx="5852159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0114"/>
                <a:gridCol w="1672045"/>
              </a:tblGrid>
              <a:tr h="26289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Material Category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Approved #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Microsoft YaHei"/>
                        </a:rPr>
                        <a:t>Raw material 原料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Microsoft YaHei"/>
                        </a:rPr>
                        <a:t>Light food 轻食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Microsoft YaHei"/>
                        </a:rPr>
                        <a:t>Food contact material 食品接触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Microsoft YaHei"/>
                        </a:rPr>
                        <a:t>Promotional items 营销物料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Microsoft YaHei"/>
                        </a:rPr>
                        <a:t>Chemicals 化学品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Microsoft YaHei"/>
                        </a:rPr>
                        <a:t>Other none-food 其他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Microsoft YaHei"/>
                        </a:rPr>
                        <a:t>Total / 合计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6537960" y="2834640"/>
            <a:ext cx="512064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47688" y="2889504"/>
            <a:ext cx="490118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说明 / Note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3145536"/>
            <a:ext cx="5120640" cy="1792224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84264" y="3264408"/>
            <a:ext cx="4828031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7 月无新原料准入（申请 0 / 通过 0），与 6 月一致。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现有原料池保持不变，本月供应商责任 PQNC 全部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发生在既有 SKU 上，非新引入原料导致。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※ 原料准入审批不在 luckyus_scm_srm 内，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本页数据由供应链团队提供。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a:eastAsianTypeface="Microsoft YaHei">
                <a:solidFill>
                  <a:srgbClr val="1E2D41"/>
                </a:solidFill>
                <a:latin typeface="Microsoft YaHei"/>
              </a:rPr>
              <a:t>Supplier &amp; Warehouse Quality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01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a:eastAsianTypeface="Microsoft YaHei">
                <a:solidFill>
                  <a:srgbClr val="5F6978"/>
                </a:solidFill>
                <a:latin typeface="Microsoft YaHei"/>
              </a:rPr>
              <a:t>July 2026 PQNC Summary / 2026 年 7 月 PQNC 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41908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a:eastAsianTypeface="Microsoft YaHei">
                <a:solidFill>
                  <a:srgbClr val="1F3864"/>
                </a:solidFill>
                <a:latin typeface="Microsoft YaHei"/>
              </a:rPr>
              <a:t>瑞幸咖啡 · 北美质量保障部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282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a:eastAsianTypeface="Microsoft YaHei">
                <a:solidFill>
                  <a:srgbClr val="5F6978"/>
                </a:solidFill>
                <a:latin typeface="Microsoft YaHei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2651760" cy="105156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344168"/>
            <a:ext cx="23957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288C5A"/>
                </a:solidFill>
                <a:latin typeface="Microsoft YaHei"/>
              </a:rPr>
              <a:t>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746504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PQNC reported / 月度上报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029967"/>
            <a:ext cx="23957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vs Jun 61, -3%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234440"/>
            <a:ext cx="2651760" cy="105156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3864" y="1344168"/>
            <a:ext cx="23957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288C5A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1746504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Food-safety major / 食安风险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3864" y="2029967"/>
            <a:ext cx="23957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vs Jun 5, -80%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234440"/>
            <a:ext cx="2651760" cy="105156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1344168"/>
            <a:ext cx="23957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EB9119"/>
                </a:solidFill>
                <a:latin typeface="Microsoft YaHei"/>
              </a:rPr>
              <a:t>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1746504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Warehouse + Joint / 仓储·共担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4" y="2029967"/>
            <a:ext cx="23957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vs Jun 32, -47%（含集群 13 起）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0" y="1234440"/>
            <a:ext cx="2651760" cy="105156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53144" y="1344168"/>
            <a:ext cx="23957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C82D2D"/>
                </a:solidFill>
                <a:latin typeface="Microsoft YaHei"/>
              </a:rPr>
              <a:t>33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3144" y="1746504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Supplier resp. / 供应商责任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3144" y="2029967"/>
            <a:ext cx="23957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vs Jun 19, +74%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242316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a:eastAsianTypeface="Microsoft YaHei">
                <a:solidFill>
                  <a:srgbClr val="5F6978"/>
                </a:solidFill>
                <a:latin typeface="Microsoft YaHei"/>
              </a:rPr>
              <a:t>PQNC 月度趋势 / Monthly trend（起）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457200" y="2651760"/>
          <a:ext cx="3794760" cy="1920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4434840" y="242316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a:eastAsianTypeface="Microsoft YaHei">
                <a:solidFill>
                  <a:srgbClr val="5F6978"/>
                </a:solidFill>
                <a:latin typeface="Microsoft YaHei"/>
              </a:rPr>
              <a:t>判责结构 / Responsibility mix（起）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4389120" y="2606040"/>
          <a:ext cx="3429000" cy="2057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8001000" y="242316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a:eastAsianTypeface="Microsoft YaHei">
                <a:solidFill>
                  <a:srgbClr val="5F6978"/>
                </a:solidFill>
                <a:latin typeface="Microsoft YaHei"/>
              </a:rPr>
              <a:t>PQNC Type / 问题类型（起）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955279" y="2651760"/>
          <a:ext cx="37033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822960"/>
                <a:gridCol w="822960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PQNC type / 类型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Cases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占比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Food Safety Issue / 食安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1.7%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General Defect / 普通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49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83.1%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Unclassified / 未判定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9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15.3%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Microsoft YaHei"/>
                        </a:rPr>
                        <a:t>Total / 合计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22222"/>
                          </a:solidFill>
                          <a:latin typeface="Microsoft YaHei"/>
                        </a:rPr>
                        <a:t>59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22222"/>
                          </a:solidFill>
                          <a:latin typeface="Microsoft YaHei"/>
                        </a:rPr>
                        <a:t>100%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7955279" y="4206240"/>
          <a:ext cx="37033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822960"/>
                <a:gridCol w="822960"/>
              </a:tblGrid>
              <a:tr h="266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判责 / Responsibility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Cases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货值 $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Supplier / 供应商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33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$183.15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Warehouse / 仓储物流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$433.44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Joint / 供应商·仓储共担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13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$65.91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Unknown / reject 未明确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9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$247.19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Microsoft YaHei"/>
                        </a:rPr>
                        <a:t>Total / 合计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22222"/>
                          </a:solidFill>
                          <a:latin typeface="Microsoft YaHei"/>
                        </a:rPr>
                        <a:t>59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22222"/>
                          </a:solidFill>
                          <a:latin typeface="Microsoft YaHei"/>
                        </a:rPr>
                        <a:t>$929.69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457200" y="4754880"/>
            <a:ext cx="736092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4873752"/>
            <a:ext cx="7068312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>7 月共上报 59 起 PQNC，较 6 月 61 起微降 3%，为 3 月以来最低；货值合计 $929.69。</a:t>
            </a:r>
          </a:p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>食安风险仅 1 起（6 月 5 起）：7/5 Sysco 罐装产品开罐发现变色异物，已隔离留样。</a:t>
            </a:r>
          </a:p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>仓储·共担 17 起（6 月 32 起，−47%）：仓储单独判责仅 4 起，其余 13 起为 7/22–7/28 Cream-O-Land 脱脂奶变质集群，8/3 判为供应商·仓储共担（详见 Case B）。</a:t>
            </a:r>
          </a:p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>供应商责任 33 起（占 56%，6 月 19 起 +74%），其中 SYSCO 23 起、集中于 Cream-O-Land 奶类效期标签与灌装量问题。</a:t>
            </a:r>
          </a:p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>※ 本页数据于 2026-08-04 重算，并与 SRM 系统导出《PQNC 2026-07.xlsx》逐单核对一致（59/59 单相符）。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a:eastAsianTypeface="Microsoft YaHei">
                <a:solidFill>
                  <a:srgbClr val="1E2D41"/>
                </a:solidFill>
                <a:latin typeface="Microsoft YaHei"/>
              </a:rPr>
              <a:t>Supplier-Responsibility Quality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01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a:eastAsianTypeface="Microsoft YaHei">
                <a:solidFill>
                  <a:srgbClr val="5F6978"/>
                </a:solidFill>
                <a:latin typeface="Microsoft YaHei"/>
              </a:rPr>
              <a:t>供应商责任质量概况 · July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41908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a:eastAsianTypeface="Microsoft YaHei">
                <a:solidFill>
                  <a:srgbClr val="1F3864"/>
                </a:solidFill>
                <a:latin typeface="Microsoft YaHei"/>
              </a:rPr>
              <a:t>瑞幸咖啡 · 北美质量保障部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282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a:eastAsianTypeface="Microsoft YaHei">
                <a:solidFill>
                  <a:srgbClr val="5F6978"/>
                </a:solidFill>
                <a:latin typeface="Microsoft YaHei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2377440" cy="109728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389888"/>
            <a:ext cx="21214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C82D2D"/>
                </a:solidFill>
                <a:latin typeface="Microsoft YaHei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792224"/>
            <a:ext cx="21214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Supplier-resp. cases 供应商责任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121407"/>
            <a:ext cx="21214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vs Jun 19, +74%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1280160"/>
            <a:ext cx="2377440" cy="109728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63824" y="1389888"/>
            <a:ext cx="21214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005EB8"/>
                </a:solidFill>
                <a:latin typeface="Microsoft YaHei"/>
              </a:rPr>
              <a:t>$183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63824" y="1792224"/>
            <a:ext cx="21214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Goods value 货值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3824" y="2121407"/>
            <a:ext cx="21214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占全月货值 20%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32120" y="1280160"/>
            <a:ext cx="2377440" cy="109728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78424" y="1389888"/>
            <a:ext cx="21214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5F6978"/>
                </a:solidFill>
                <a:latin typeface="Microsoft YaHei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78424" y="1792224"/>
            <a:ext cx="21214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On-site supplier audits 现场稽核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78424" y="2121407"/>
            <a:ext cx="21214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本月无准入/年度/飞行审核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606040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a:eastAsianTypeface="Microsoft YaHei">
                <a:solidFill>
                  <a:srgbClr val="5F6978"/>
                </a:solidFill>
                <a:latin typeface="Microsoft YaHei"/>
              </a:rPr>
              <a:t>供应商责任 PQNC 分布（起）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457200" y="2834640"/>
          <a:ext cx="402336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709160" y="2606040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a:eastAsianTypeface="Microsoft YaHei">
                <a:solidFill>
                  <a:srgbClr val="5F6978"/>
                </a:solidFill>
                <a:latin typeface="Microsoft YaHei"/>
              </a:rPr>
              <a:t>供应商责任月度趋势（起）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663440" y="2834640"/>
          <a:ext cx="3200400" cy="228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8092440" y="128016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a:eastAsianTypeface="Microsoft YaHei">
                <a:solidFill>
                  <a:srgbClr val="5F6978"/>
                </a:solidFill>
                <a:latin typeface="Microsoft YaHei"/>
              </a:rPr>
              <a:t>按货物类别（供应商责任）※ 关键词归类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046720" y="1536192"/>
          <a:ext cx="3657598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5531"/>
                <a:gridCol w="778212"/>
                <a:gridCol w="933855"/>
              </a:tblGrid>
              <a:tr h="28956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Category / 货物类别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Cases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Value $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奶类 Milk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22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$122.65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包材/器具 Packaging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6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$16.03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咖啡豆 Coffee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$40.83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轻食 Light food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$3.64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Microsoft YaHei"/>
                        </a:rPr>
                        <a:t>Total / 合计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22222"/>
                          </a:solidFill>
                          <a:latin typeface="Microsoft YaHei"/>
                        </a:rPr>
                        <a:t>33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22222"/>
                          </a:solidFill>
                          <a:latin typeface="Microsoft YaHei"/>
                        </a:rPr>
                        <a:t>$183.15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8046720" y="3429000"/>
            <a:ext cx="365760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93024" y="3547872"/>
            <a:ext cx="3364992" cy="2414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>供应商责任 PQNC 33 起，占本月总量 56%，较 6 月 19 起上升 74%。</a:t>
            </a:r>
          </a:p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>SYSCO 23 起：绝大多数为 Cream-O-Land 奶类——效期标签缺失/模糊 8 起、灌装量不足 / 液位偏低 7 起、瓶体渗漏/破孔 4 起、变质酸败 3 起。</a:t>
            </a:r>
          </a:p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>S&amp;D Coffee 3 起：咖啡豆包装袋在箱内即已破裂散豆。</a:t>
            </a:r>
          </a:p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>VIOBIO 3 起 / FREENOW 3 起：杯体无品牌标识、轻食成型不良。</a:t>
            </a:r>
          </a:p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>⚠ 另有 13 起 Cream-O-Land 脱脂奶变质集群未计入本页——该集群判为供应商·仓储共担，计入仓储页（Case B）。若并入，SYSCO 相关问题达 36 起。</a:t>
            </a:r>
          </a:p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>建议：对 Cream-O-Land 灌装线与效期喷码稳定性提出整改；到货抽检增加效期字迹与灌装液位项。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a:eastAsianTypeface="Microsoft YaHei">
                <a:solidFill>
                  <a:srgbClr val="1E2D41"/>
                </a:solidFill>
                <a:latin typeface="Microsoft YaHei"/>
              </a:rPr>
              <a:t>Warehouse &amp; Distribution Responsibility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01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a:eastAsianTypeface="Microsoft YaHei">
                <a:solidFill>
                  <a:srgbClr val="5F6978"/>
                </a:solidFill>
                <a:latin typeface="Microsoft YaHei"/>
              </a:rPr>
              <a:t>仓储与配送责任问题 · July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41908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a:eastAsianTypeface="Microsoft YaHei">
                <a:solidFill>
                  <a:srgbClr val="1F3864"/>
                </a:solidFill>
                <a:latin typeface="Microsoft YaHei"/>
              </a:rPr>
              <a:t>瑞幸咖啡 · 北美质量保障部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282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a:eastAsianTypeface="Microsoft YaHei">
                <a:solidFill>
                  <a:srgbClr val="5F6978"/>
                </a:solidFill>
                <a:latin typeface="Microsoft YaHei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2468880" cy="109728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389888"/>
            <a:ext cx="22128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EB9119"/>
                </a:solidFill>
                <a:latin typeface="Microsoft YaHei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792224"/>
            <a:ext cx="22128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Warehouse + Joint 仓储·共担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121407"/>
            <a:ext cx="22128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vs Jun 32, -47%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1280160"/>
            <a:ext cx="2468880" cy="109728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55264" y="1389888"/>
            <a:ext cx="22128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005EB8"/>
                </a:solidFill>
                <a:latin typeface="Microsoft YaHei"/>
              </a:rPr>
              <a:t>$499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55264" y="1792224"/>
            <a:ext cx="22128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Goods value 货值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55264" y="2121407"/>
            <a:ext cx="22128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占全月货值 54%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0" y="1280160"/>
            <a:ext cx="2468880" cy="109728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61304" y="1389888"/>
            <a:ext cx="22128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C82D2D"/>
                </a:solidFill>
                <a:latin typeface="Microsoft YaHei"/>
              </a:rP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1304" y="1792224"/>
            <a:ext cx="22128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Joint 共担 · 奶类变质集群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61304" y="2121407"/>
            <a:ext cx="22128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7/22–7/28 · 详见 Case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60604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a:eastAsianTypeface="Microsoft YaHei">
                <a:solidFill>
                  <a:srgbClr val="5F6978"/>
                </a:solidFill>
                <a:latin typeface="Microsoft YaHei"/>
              </a:rPr>
              <a:t>6 月 vs 7 月 仓储责任问题分类（起）※ 关键词归类，两月同一规则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457200" y="2834640"/>
          <a:ext cx="5394960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035040" y="1536192"/>
          <a:ext cx="56692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8970"/>
                <a:gridCol w="708660"/>
                <a:gridCol w="767715"/>
                <a:gridCol w="1003935"/>
              </a:tblGrid>
              <a:tr h="261257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Issue / 问题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判责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Cases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Value $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Seal popped / 封口崩开泄漏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仓储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$4.97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Bottle hole / 瓶体破孔渗漏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仓储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$4.16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Label damaged / 标签破损缺开口拉环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仓储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$26.18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Missing parts / 货架配件缺件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仓储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$398.13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Microsoft YaHei"/>
                        </a:rPr>
                        <a:t>Milk spoilage cluster / 奶类变质集群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22222"/>
                          </a:solidFill>
                          <a:latin typeface="Microsoft YaHei"/>
                        </a:rPr>
                        <a:t>共担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22222"/>
                          </a:solidFill>
                          <a:latin typeface="Microsoft YaHei"/>
                        </a:rPr>
                        <a:t>13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22222"/>
                          </a:solidFill>
                          <a:latin typeface="Microsoft YaHei"/>
                        </a:rPr>
                        <a:t>$65.91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6125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Microsoft YaHei"/>
                        </a:rPr>
                        <a:t>Total / 合计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22222"/>
                          </a:solidFill>
                          <a:latin typeface="Microsoft YaHei"/>
                        </a:rPr>
                        <a:t>17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22222"/>
                          </a:solidFill>
                          <a:latin typeface="Microsoft YaHei"/>
                        </a:rPr>
                        <a:t>$499.35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6035040" y="3474720"/>
            <a:ext cx="566928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81344" y="3593591"/>
            <a:ext cx="5376672" cy="2414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a:eastAsianTypeface="Microsoft YaHei">
                <a:solidFill>
                  <a:srgbClr val="222222"/>
                </a:solidFill>
                <a:latin typeface="Microsoft YaHei"/>
              </a:rPr>
              <a:t>仓储·共担合计 17 起（6 月 32 起，-47%），但结构与 6 月完全不同，需拆开看：</a:t>
            </a:r>
          </a:p>
          <a:p>
            <a:pPr algn="l">
              <a:lnSpc>
                <a:spcPct val="125000"/>
              </a:lnSpc>
            </a:pPr>
            <a:r>
              <a:rPr sz="85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850" b="0" a:eastAsianTypeface="Microsoft YaHei">
                <a:solidFill>
                  <a:srgbClr val="222222"/>
                </a:solidFill>
                <a:latin typeface="Microsoft YaHei"/>
              </a:rPr>
              <a:t>① 仓储单独判责仅 4 起，为本年度最低——6 月「效期管控 / 冷链执行 / 配送放置」三项专项整改见效：过期/短保 8→0 起、失温/错误温区 6→0 起。这 4 起均为包装完整性与配件缺件，其中设备仓「货架配件缺件」单笔 $398.13，占仓储·共担货值 80%，建议设备类出库增加配件清单双人核对。</a:t>
            </a:r>
          </a:p>
          <a:p>
            <a:pPr algn="l">
              <a:lnSpc>
                <a:spcPct val="125000"/>
              </a:lnSpc>
            </a:pPr>
            <a:r>
              <a:rPr sz="85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850" b="0" a:eastAsianTypeface="Microsoft YaHei">
                <a:solidFill>
                  <a:srgbClr val="222222"/>
                </a:solidFill>
                <a:latin typeface="Microsoft YaHei"/>
              </a:rPr>
              <a:t>② 新增 13 起「供应商·仓储共担」，全部为 Cream-O-Land 脱脂奶变质集群（7/22–7/28，9 家门店，$65.91）。判责意见：多店反馈奶变酸，供应商与仓库双方自查均未发现异常，故共担——责任未落到单一环节，冷链链路仍是开放风险（详见 Case B）。</a:t>
            </a:r>
          </a:p>
          <a:p>
            <a:pPr algn="l">
              <a:lnSpc>
                <a:spcPct val="125000"/>
              </a:lnSpc>
            </a:pPr>
            <a:r>
              <a:rPr sz="85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850" b="0" a:eastAsianTypeface="Microsoft YaHei">
                <a:solidFill>
                  <a:srgbClr val="222222"/>
                </a:solidFill>
                <a:latin typeface="Microsoft YaHei"/>
              </a:rPr>
              <a:t>⚠ 另有 7 起门店后厨冰箱异常除霜物料损失（$241.34），判责「未明确」，非仓储责任，需运营与设备侧介入（详见 Case C）。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a:eastAsianTypeface="Microsoft YaHei">
                <a:solidFill>
                  <a:srgbClr val="1E2D41"/>
                </a:solidFill>
                <a:latin typeface="Microsoft YaHei"/>
              </a:rPr>
              <a:t>典型案例 — Milk Expiration Label / Underfill / Leakage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01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a:eastAsianTypeface="Microsoft YaHei">
                <a:solidFill>
                  <a:srgbClr val="5F6978"/>
                </a:solidFill>
                <a:latin typeface="Microsoft YaHei"/>
              </a:rPr>
              <a:t>奶类效期标签、灌装量与渗漏 · Case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41908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a:eastAsianTypeface="Microsoft YaHei">
                <a:solidFill>
                  <a:srgbClr val="1F3864"/>
                </a:solidFill>
                <a:latin typeface="Microsoft YaHei"/>
              </a:rPr>
              <a:t>瑞幸咖啡 · 北美质量保障部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282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a:eastAsianTypeface="Microsoft YaHei">
                <a:solidFill>
                  <a:srgbClr val="5F6978"/>
                </a:solidFill>
                <a:latin typeface="Microsoft YaHei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2468880" cy="96012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389888"/>
            <a:ext cx="22128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C82D2D"/>
                </a:solidFill>
                <a:latin typeface="Microsoft YaHei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792224"/>
            <a:ext cx="22128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奶类 PQNC（供应商责任）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1984248"/>
            <a:ext cx="22128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占供应商责任 67%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1280160"/>
            <a:ext cx="2468880" cy="96012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55264" y="1389888"/>
            <a:ext cx="22128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C82D2D"/>
                </a:solidFill>
                <a:latin typeface="Microsoft YaHei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55264" y="1792224"/>
            <a:ext cx="22128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效期标签缺失/模糊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55264" y="1984248"/>
            <a:ext cx="22128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本月最高频子类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0" y="1280160"/>
            <a:ext cx="2468880" cy="96012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61304" y="1389888"/>
            <a:ext cx="22128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EB9119"/>
                </a:solidFill>
                <a:latin typeface="Microsoft YaHei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1304" y="1792224"/>
            <a:ext cx="22128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灌装量不足 / 液位偏低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61304" y="1984248"/>
            <a:ext cx="22128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Cream-O-Land 集中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1280160"/>
            <a:ext cx="2468880" cy="96012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67344" y="1389888"/>
            <a:ext cx="22128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005EB8"/>
                </a:solidFill>
                <a:latin typeface="Microsoft YaHei"/>
              </a:rPr>
              <a:t>37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344" y="1792224"/>
            <a:ext cx="22128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全月奶类相关合计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7344" y="1984248"/>
            <a:ext cx="22128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占全月 63%，其中共担集群 12 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468880"/>
            <a:ext cx="1115568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2523744"/>
            <a:ext cx="109362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问题描述 / NC Description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779776"/>
            <a:ext cx="111556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" y="2898648"/>
            <a:ext cx="10863072" cy="1179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效期标签（8 起）：7/8 字迹褪色；7/12、7/19、7/28 无效期；7/12 效期不清；7/23 单批 5 瓶无效期；7/24、7/26 标签未贴牢/脱落。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灌装量不足 / 液位偏低（7 起）：7/2、7/3 ×3、7/6 液位明显低于常规；7/3、7/5 到货即已开封且内容物缺失。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渗漏 / 破孔（4 起）：7/12 未开封瓶渗漏；7/16 瓶盖未完全盖合致脱脂奶溢出；7/27 瓶身侧面破孔；7/28 产品渗漏。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变质 / 酸败（3 起）：7/5 色泽异常伴异味；7/19 颜色异常、酸味且液位偏低；7/21 椰奶开瓶即变质。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343400"/>
            <a:ext cx="548640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" y="4398264"/>
            <a:ext cx="5266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问题分析 / Root Cause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654296"/>
            <a:ext cx="54864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" y="4773168"/>
            <a:ext cx="5193792" cy="1271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效期喷码与标签粘附稳定性不足，为供应商灌装线工艺问题，非门店可闭环。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灌装量不足与瓶盖压合不良指向同一条灌装线的稳定性。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Cream-O-Land 为奶类单一主力供应商，风险高度集中——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7/22 起同一供应商再现 13 起变质集群（共担判责，见 Case B）。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4343400"/>
            <a:ext cx="548640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81928" y="4398264"/>
            <a:ext cx="5266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纠正措施 / Corrective Action（P1）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4654296"/>
            <a:ext cx="54864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18504" y="4773168"/>
            <a:ext cx="5193792" cy="1271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① 向 Cream-O-Land / SYSCO 提出灌装线与效期喷码专项整改，要求书面回复。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② 门店收货增加「效期字迹清晰度 + 灌装液位 + 瓶盖压合」三项必检并拍照留证。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③ 连续两月同类问题的批次纳入到货批次抽检加严。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163056"/>
            <a:ext cx="11155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a:eastAsianTypeface="Microsoft YaHei">
                <a:solidFill>
                  <a:srgbClr val="5F6978"/>
                </a:solidFill>
                <a:latin typeface="Microsoft YaHei"/>
              </a:rPr>
              <a:t>※ 本页对应的现场实拍附件存于对象存储（工单 attachment_url 仅存路径），未纳入本次数据拉取；如需配图请从 SRM / 稽核系统导出后插入。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a:eastAsianTypeface="Microsoft YaHei">
                <a:solidFill>
                  <a:srgbClr val="1E2D41"/>
                </a:solidFill>
                <a:latin typeface="Microsoft YaHei"/>
              </a:rPr>
              <a:t>典型案例 — Cream-O-Land Fat-Free Milk Spoilage Cluster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01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a:eastAsianTypeface="Microsoft YaHei">
                <a:solidFill>
                  <a:srgbClr val="5F6978"/>
                </a:solidFill>
                <a:latin typeface="Microsoft YaHei"/>
              </a:rPr>
              <a:t>脱脂奶变质集群 · Case B · 2026-07-22 ~ 07-28 · 判责：供应商·仓储共担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41908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a:eastAsianTypeface="Microsoft YaHei">
                <a:solidFill>
                  <a:srgbClr val="1F3864"/>
                </a:solidFill>
                <a:latin typeface="Microsoft YaHei"/>
              </a:rPr>
              <a:t>瑞幸咖啡 · 北美质量保障部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282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a:eastAsianTypeface="Microsoft YaHei">
                <a:solidFill>
                  <a:srgbClr val="5F6978"/>
                </a:solidFill>
                <a:latin typeface="Microsoft YaHei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2468880" cy="96012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389888"/>
            <a:ext cx="22128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C82D2D"/>
                </a:solidFill>
                <a:latin typeface="Microsoft YaHe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792224"/>
            <a:ext cx="22128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集群起数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1984248"/>
            <a:ext cx="22128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同一 SKU / 同一供应商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1280160"/>
            <a:ext cx="2468880" cy="96012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55264" y="1389888"/>
            <a:ext cx="22128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C82D2D"/>
                </a:solidFill>
                <a:latin typeface="Microsoft YaHei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55264" y="1792224"/>
            <a:ext cx="22128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涉及门店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55264" y="1984248"/>
            <a:ext cx="22128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07-22 ~ 07-28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0" y="1280160"/>
            <a:ext cx="2468880" cy="96012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61304" y="1389888"/>
            <a:ext cx="22128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EB9119"/>
                </a:solidFill>
                <a:latin typeface="Microsoft YaHei"/>
              </a:rPr>
              <a:t>$65.91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1304" y="1792224"/>
            <a:ext cx="22128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损失货值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61304" y="1984248"/>
            <a:ext cx="22128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占全月 7%（低值高频）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1280160"/>
            <a:ext cx="2468880" cy="96012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67344" y="1389888"/>
            <a:ext cx="22128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a:eastAsianTypeface="Microsoft YaHei">
                <a:solidFill>
                  <a:srgbClr val="EB9119"/>
                </a:solidFill>
                <a:latin typeface="Microsoft YaHei"/>
              </a:rPr>
              <a:t>共担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344" y="1792224"/>
            <a:ext cx="22128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判责结果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7344" y="1984248"/>
            <a:ext cx="22128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供应商 + 仓储物流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02920" y="2423160"/>
          <a:ext cx="5486399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4442"/>
                <a:gridCol w="794084"/>
                <a:gridCol w="1010652"/>
                <a:gridCol w="1227221"/>
              </a:tblGrid>
              <a:tr h="21197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门店 / Store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Cases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Value $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日期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</a:tr>
              <a:tr h="21197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52nd &amp; Madison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$14.68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07-22 / 07-26 / 07-28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1197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29th &amp; 3rd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$9.57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07-22 / 07-28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  <a:tr h="21197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48th &amp; 3rd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$15.15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07-22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1197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100 Maiden Ln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$3.79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07-22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  <a:tr h="21197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128 W 32nd St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$7.56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07-22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1197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221 Grand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$3.79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07-22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  <a:tr h="21197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28th &amp; 6th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$3.79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07-26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1197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33rd &amp; 10th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$3.79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07-22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  <a:tr h="21197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Grand Central Terminal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$3.79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07-22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1198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Microsoft YaHei"/>
                        </a:rPr>
                        <a:t>Total / 合计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22222"/>
                          </a:solidFill>
                          <a:latin typeface="Microsoft YaHei"/>
                        </a:rPr>
                        <a:t>13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22222"/>
                          </a:solidFill>
                          <a:latin typeface="Microsoft YaHei"/>
                        </a:rPr>
                        <a:t>$65.91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6172200" y="2423160"/>
            <a:ext cx="548640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1928" y="2478024"/>
            <a:ext cx="5266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问题描述 / NC Description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2734056"/>
            <a:ext cx="5486400" cy="2020824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18504" y="2852928"/>
            <a:ext cx="5193792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>13 起工单全部指向同一 SKU：Cream-O-Land Fat-Free Milk 4/1 GAL CS（供应商 SYSCO），涉及 3 个批次（20260708 / 20260713 / 20260723）。</a:t>
            </a:r>
          </a:p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>门店描述高度一致：开瓶即有酸味 / 腐臭味、色泽异常、口感变酸，多数在效期内即已变质（如 7/28 一起效期标注 7/29）；1 起伴随瓶体渗漏。</a:t>
            </a:r>
          </a:p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>7/22 单日集中上报 9 起，7/26、7/28 各再现 2 起，跨 9 家门店，非单店偶发。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892040"/>
            <a:ext cx="548640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4946903"/>
            <a:ext cx="5266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判责与分析 / Judgment &amp; Root Cause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202936"/>
            <a:ext cx="548640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" y="5321808"/>
            <a:ext cx="5193792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>系统判责意见（2026-08-03）：多店反馈奶变酸，供应商与仓库双方自查</a:t>
            </a:r>
          </a:p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>均未发现异常 → 判为「供应商·仓储共担」。</a:t>
            </a:r>
          </a:p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>即根因未定位到单一环节：灌装/原奶质量与入库后冷链执行均未排除，</a:t>
            </a:r>
          </a:p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>现有留样与温度记录不足以判定，冷链链路仍是开放风险。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4892040"/>
            <a:ext cx="548640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81928" y="4946903"/>
            <a:ext cx="5266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纠正措施 / Corrective Action（P1）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5202936"/>
            <a:ext cx="548640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18504" y="5321808"/>
            <a:ext cx="5193792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>① 要求 SYSCO / Cream-O-Land 追溯上述批次原奶与灌装记录并书面回函。</a:t>
            </a:r>
          </a:p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>② 补齐链路温度证据：仓库出库温度、配送车温度记录、门店收货温度必检并留证。</a:t>
            </a:r>
          </a:p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>③ 涉事批次全量下架复检；8 月同 SKU 到货加严抽检（开瓶感官 + 效期）。</a:t>
            </a:r>
          </a:p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>④ 建立「同 SKU 跨店 3 起以上」自动预警，避免集群靠人工汇总才被发现。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163056"/>
            <a:ext cx="11155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a:eastAsianTypeface="Microsoft YaHei">
                <a:solidFill>
                  <a:srgbClr val="5F6978"/>
                </a:solidFill>
                <a:latin typeface="Microsoft YaHei"/>
              </a:rPr>
              <a:t>※ 本页对应的现场实拍附件存于对象存储（工单 attachment_url 仅存路径），未纳入本次数据拉取；如需配图请从 SRM / 稽核系统导出后插入。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a:eastAsianTypeface="Microsoft YaHei">
                <a:solidFill>
                  <a:srgbClr val="1E2D41"/>
                </a:solidFill>
                <a:latin typeface="Microsoft YaHei"/>
              </a:rPr>
              <a:t>典型案例 — BOH Fridge Abnormal Defrost Cycle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01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a:eastAsianTypeface="Microsoft YaHei">
                <a:solidFill>
                  <a:srgbClr val="5F6978"/>
                </a:solidFill>
                <a:latin typeface="Microsoft YaHei"/>
              </a:rPr>
              <a:t>后厨冰箱异常除霜致物料损失 · Case C · 2026-07-28 单日集群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41908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a:eastAsianTypeface="Microsoft YaHei">
                <a:solidFill>
                  <a:srgbClr val="1F3864"/>
                </a:solidFill>
                <a:latin typeface="Microsoft YaHei"/>
              </a:rPr>
              <a:t>瑞幸咖啡 · 北美质量保障部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282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a:eastAsianTypeface="Microsoft YaHei">
                <a:solidFill>
                  <a:srgbClr val="5F6978"/>
                </a:solidFill>
                <a:latin typeface="Microsoft YaHei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2468880" cy="96012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389888"/>
            <a:ext cx="22128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C82D2D"/>
                </a:solidFill>
                <a:latin typeface="Microsoft YaHe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792224"/>
            <a:ext cx="22128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同日上报起数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1984248"/>
            <a:ext cx="22128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2026-07-28 单日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1280160"/>
            <a:ext cx="2468880" cy="96012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55264" y="1389888"/>
            <a:ext cx="22128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C82D2D"/>
                </a:solidFill>
                <a:latin typeface="Microsoft YaHei"/>
              </a:rPr>
              <a:t>$241.34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55264" y="1792224"/>
            <a:ext cx="22128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损失货值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55264" y="1984248"/>
            <a:ext cx="22128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占全月 26%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0" y="1280160"/>
            <a:ext cx="2468880" cy="96012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61304" y="1389888"/>
            <a:ext cx="22128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a:eastAsianTypeface="Microsoft YaHei">
                <a:solidFill>
                  <a:srgbClr val="EB9119"/>
                </a:solidFill>
                <a:latin typeface="Microsoft YaHei"/>
              </a:rPr>
              <a:t>未明确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1304" y="1792224"/>
            <a:ext cx="22128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当前判责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61304" y="1984248"/>
            <a:ext cx="22128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非供应商 / 非仓储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1280160"/>
            <a:ext cx="2468880" cy="96012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67344" y="1389888"/>
            <a:ext cx="22128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EB9119"/>
                </a:solidFill>
                <a:latin typeface="Microsoft YaHei"/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344" y="1792224"/>
            <a:ext cx="22128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全月未明确判责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7344" y="1984248"/>
            <a:ext cx="22128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占全月 15%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02920" y="2423160"/>
          <a:ext cx="548639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9767"/>
                <a:gridCol w="1020725"/>
                <a:gridCol w="1275906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供应商 / 来源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Cases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Value $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Microsoft YaHei"/>
                        </a:rPr>
                        <a:t>New York raw material warehouse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Microsoft YaHei"/>
                        </a:rPr>
                        <a:t>$126.60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Microsoft YaHei"/>
                        </a:rPr>
                        <a:t>Wholesome farms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Microsoft YaHei"/>
                        </a:rPr>
                        <a:t>$114.74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Microsoft YaHei"/>
                        </a:rPr>
                        <a:t>Total / 合计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Microsoft YaHei"/>
                        </a:rPr>
                        <a:t>7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Microsoft YaHei"/>
                        </a:rPr>
                        <a:t>$241.34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6172200" y="2423160"/>
            <a:ext cx="548640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1928" y="2478024"/>
            <a:ext cx="5266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问题描述 / NC Description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2734056"/>
            <a:ext cx="5486400" cy="1517904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18504" y="2852928"/>
            <a:ext cx="519379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7 起工单描述一致：物料存放于后厨常温/冷藏冰箱，冰箱在非预期时段启动除霜循环（defrost cycle），导致温度失控、物料报废。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全部由门店发起，判责结果为「未明确」，未归入供应商或仓储责任。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389120"/>
            <a:ext cx="548640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4443983"/>
            <a:ext cx="5266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问题分析 / Root Cause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700016"/>
            <a:ext cx="54864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" y="4818888"/>
            <a:ext cx="5193792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属门店设备（冰箱控制板 / 除霜定时器）故障，非物料本身质量问题，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因此现有 PQNC 判责体系无对应责任方，全部落入「未明确」。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本月「未明确」9 起中 7 起源于此，是该桶占比偏高的主因。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4389120"/>
            <a:ext cx="548640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81928" y="4443983"/>
            <a:ext cx="5266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纠正措施 / Corrective Action（P1）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4700016"/>
            <a:ext cx="54864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18504" y="4818888"/>
            <a:ext cx="5193792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① 立即排查涉事门店冰箱除霜定时器与控制板，必要时更换。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② 冷藏/冷冻设备加装温度记录仪并纳入日检。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③ 建议 PQNC 判责增设「门店设备」责任类型，避免设备类损失长期沉淀在「未明确」。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163056"/>
            <a:ext cx="11155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a:eastAsianTypeface="Microsoft YaHei">
                <a:solidFill>
                  <a:srgbClr val="5F6978"/>
                </a:solidFill>
                <a:latin typeface="Microsoft YaHei"/>
              </a:rPr>
              <a:t>※ 本页对应的现场实拍附件存于对象存储（工单 attachment_url 仅存路径），未纳入本次数据拉取；如需配图请从 SRM / 稽核系统导出后插入。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a:eastAsianTypeface="Microsoft YaHei">
                <a:solidFill>
                  <a:srgbClr val="1E2D41"/>
                </a:solidFill>
                <a:latin typeface="Microsoft YaHei"/>
              </a:rPr>
              <a:t>典型案例 — Packaging Integrity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01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a:eastAsianTypeface="Microsoft YaHei">
                <a:solidFill>
                  <a:srgbClr val="5F6978"/>
                </a:solidFill>
                <a:latin typeface="Microsoft YaHei"/>
              </a:rPr>
              <a:t>包装完整性（咖啡豆袋 / 罐体 / 杯具）· Case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41908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a:eastAsianTypeface="Microsoft YaHei">
                <a:solidFill>
                  <a:srgbClr val="1F3864"/>
                </a:solidFill>
                <a:latin typeface="Microsoft YaHei"/>
              </a:rPr>
              <a:t>瑞幸咖啡 · 北美质量保障部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282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a:eastAsianTypeface="Microsoft YaHei">
                <a:solidFill>
                  <a:srgbClr val="5F6978"/>
                </a:solidFill>
                <a:latin typeface="Microsoft YaHei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1115568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289304"/>
            <a:ext cx="109362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问题明细 / Detail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572768"/>
          <a:ext cx="11155677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324"/>
                <a:gridCol w="2624865"/>
                <a:gridCol w="5085677"/>
                <a:gridCol w="1476487"/>
                <a:gridCol w="984324"/>
              </a:tblGrid>
              <a:tr h="24003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日期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供应商 / 产品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问题描述（原文）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判责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Value $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07-05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Sysco Corporation（罐装）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Opened the can in the morning, found discolored object inside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Supplier · 食安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$2.26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07-07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Casa solana（罐装）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Can dented along seam not suitable for consumption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Supplier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$2.26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07-11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S&amp;D Coffee（咖啡豆）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Broken bag when unboxing, beans scattered all over the inside of the box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Supplier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$13.61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07-11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S&amp;D Coffee（咖啡豆）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A bag was ripped completely opened with half the beans in the box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Supplier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$13.61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07-28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Luckin Medium Roast（咖啡豆）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The bag itself is already ripped inside of the box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Supplier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$13.61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07-09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Pet bottle universal（杯具）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No wellness label on the cup package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Supplier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$0.52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07-22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US-16oz ice cup NBJ（杯具）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The cup has no brand logo, just an empty plain cup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Supplier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$0.07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3657600"/>
            <a:ext cx="548640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3712463"/>
            <a:ext cx="5266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问题分析 / Root Cause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968496"/>
            <a:ext cx="54864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4087368"/>
            <a:ext cx="5193792" cy="1865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咖啡豆袋（3 起）：开箱即见袋体破裂散豆，为封口强度或装箱挤压问题，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S&amp;D Coffee 与瑞幸自有中焙豆均出现，指向共用包材或装箱工艺。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罐体（2 起）：7/5 罐内异物变色为本月唯一食安风险；7/7 罐体接缝凹陷。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杯具（2 起）：无品牌标识 / 无 wellness 标签，属规格不符，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与 6 月 HEC 4L 冷水壶无刻度线为同类「规格与采购标准不一致」问题。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657600"/>
            <a:ext cx="548640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1928" y="3712463"/>
            <a:ext cx="5266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纠正措施 / Corrective Action（P2）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968496"/>
            <a:ext cx="54864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8504" y="4087368"/>
            <a:ext cx="5193792" cy="1865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① 咖啡豆袋：要求供应商提升封口强度并复核装箱缓冲，连续跟踪 8 月到货。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② 罐装产品：7/5 异物件已留样，要求 Sysco 追溯批次并书面回复根因。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③ 杯具规格：入库增加规格抽检（品牌标识、标签、容量、材质），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延续 6 月冷水壶抽检机制，避免规格不符流入门店。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126479"/>
            <a:ext cx="11155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a:eastAsianTypeface="Microsoft YaHei">
                <a:solidFill>
                  <a:srgbClr val="5F6978"/>
                </a:solidFill>
                <a:latin typeface="Microsoft YaHei"/>
              </a:rPr>
              <a:t>※ 本页对应的现场实拍附件存于对象存储（工单 attachment_url 仅存路径），未纳入本次数据拉取；如需配图请从 SRM / 稽核系统导出后插入。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06831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24927" y="2359152"/>
            <a:ext cx="47640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a:eastAsianTypeface="Microsoft YaHei">
                <a:solidFill>
                  <a:srgbClr val="1F3864"/>
                </a:solidFill>
                <a:latin typeface="Microsoft YaHe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24927" y="2834640"/>
            <a:ext cx="4764024" cy="1572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 a:eastAsianTypeface="Microsoft YaHei">
                <a:solidFill>
                  <a:srgbClr val="1E2D41"/>
                </a:solidFill>
                <a:latin typeface="Microsoft YaHei"/>
              </a:rPr>
              <a:t>Store Audit Performance</a:t>
            </a:r>
          </a:p>
          <a:p>
            <a:pPr algn="l">
              <a:lnSpc>
                <a:spcPct val="118000"/>
              </a:lnSpc>
            </a:pPr>
            <a:r>
              <a:rPr sz="3200" b="1" a:eastAsianTypeface="Microsoft YaHei">
                <a:solidFill>
                  <a:srgbClr val="1E2D41"/>
                </a:solidFill>
                <a:latin typeface="Microsoft YaHei"/>
              </a:rPr>
              <a:t>门店稽核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a:eastAsianTypeface="Microsoft YaHei">
                <a:solidFill>
                  <a:srgbClr val="1E2D41"/>
                </a:solidFill>
                <a:latin typeface="Microsoft YaHei"/>
              </a:rPr>
              <a:t>7 月 QA 稽核整体表现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01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a:eastAsianTypeface="Microsoft YaHei">
                <a:solidFill>
                  <a:srgbClr val="5F6978"/>
                </a:solidFill>
                <a:latin typeface="Microsoft YaHei"/>
              </a:rPr>
              <a:t>QA 食安稽核 19 次 / 18 家门店 · 分数为申诉后调整分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41908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a:eastAsianTypeface="Microsoft YaHei">
                <a:solidFill>
                  <a:srgbClr val="1F3864"/>
                </a:solidFill>
                <a:latin typeface="Microsoft YaHei"/>
              </a:rPr>
              <a:t>瑞幸咖啡 · 北美质量保障部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282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a:eastAsianTypeface="Microsoft YaHei">
                <a:solidFill>
                  <a:srgbClr val="5F6978"/>
                </a:solidFill>
                <a:latin typeface="Microsoft YaHei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265176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435607"/>
            <a:ext cx="23957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288C5A"/>
                </a:solidFill>
                <a:latin typeface="Microsoft YaHei"/>
              </a:rPr>
              <a:t>92.1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837943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QA 平均分（↑0.3 vs 6 月 91.8）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441448"/>
            <a:ext cx="23957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申诉前原始分 76.7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325880"/>
            <a:ext cx="265176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3864" y="1435607"/>
            <a:ext cx="23957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EB9119"/>
                </a:solidFill>
                <a:latin typeface="Microsoft YaHei"/>
              </a:rPr>
              <a:t>18/21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1837943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QA 稽核覆盖门店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3864" y="2441448"/>
            <a:ext cx="23957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3 家新店未纳入 QA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325880"/>
            <a:ext cx="265176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1435607"/>
            <a:ext cx="23957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288C5A"/>
                </a:solidFill>
                <a:latin typeface="Microsoft YaHei"/>
              </a:rPr>
              <a:t>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1837943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QA 稽核次数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4" y="2441448"/>
            <a:ext cx="23957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6 月 16 次，+3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0" y="1325880"/>
            <a:ext cx="265176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53144" y="1435607"/>
            <a:ext cx="23957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C82D2D"/>
                </a:solidFill>
                <a:latin typeface="Microsoft YaHei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3144" y="1837943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QA 关键项 S（重点项 M 6）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3144" y="2441448"/>
            <a:ext cx="23957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全部为水槽与管道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926080"/>
            <a:ext cx="1115568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2980944"/>
            <a:ext cx="109362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本月 QA 稽核状态总览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310128"/>
            <a:ext cx="2670048" cy="84124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310128"/>
            <a:ext cx="2670048" cy="54864"/>
          </a:xfrm>
          <a:prstGeom prst="rect">
            <a:avLst/>
          </a:prstGeom>
          <a:solidFill>
            <a:srgbClr val="EB9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" y="3438144"/>
            <a:ext cx="24140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a:eastAsianTypeface="Microsoft YaHei">
                <a:solidFill>
                  <a:srgbClr val="5F6978"/>
                </a:solidFill>
                <a:latin typeface="Microsoft YaHei"/>
              </a:rPr>
              <a:t>QA 覆盖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" y="3675887"/>
            <a:ext cx="24140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a:eastAsianTypeface="Microsoft YaHei">
                <a:solidFill>
                  <a:srgbClr val="EB9119"/>
                </a:solidFill>
                <a:latin typeface="Microsoft YaHei"/>
              </a:rPr>
              <a:t>18/21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28415" y="3310128"/>
            <a:ext cx="2670048" cy="84124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28415" y="3310128"/>
            <a:ext cx="2670048" cy="54864"/>
          </a:xfrm>
          <a:prstGeom prst="rect">
            <a:avLst/>
          </a:prstGeom>
          <a:solidFill>
            <a:srgbClr val="28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56432" y="3438144"/>
            <a:ext cx="24140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a:eastAsianTypeface="Microsoft YaHei">
                <a:solidFill>
                  <a:srgbClr val="5F6978"/>
                </a:solidFill>
                <a:latin typeface="Microsoft YaHei"/>
              </a:rPr>
              <a:t>平均分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56432" y="3675887"/>
            <a:ext cx="24140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a:eastAsianTypeface="Microsoft YaHei">
                <a:solidFill>
                  <a:srgbClr val="288C5A"/>
                </a:solidFill>
                <a:latin typeface="Microsoft YaHei"/>
              </a:rPr>
              <a:t>92.1（+0.3 vs 6 月）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53912" y="3310128"/>
            <a:ext cx="2670048" cy="84124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53912" y="3310128"/>
            <a:ext cx="2670048" cy="54864"/>
          </a:xfrm>
          <a:prstGeom prst="rect">
            <a:avLst/>
          </a:prstGeom>
          <a:solidFill>
            <a:srgbClr val="C8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7" y="3438144"/>
            <a:ext cx="24140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a:eastAsianTypeface="Microsoft YaHei">
                <a:solidFill>
                  <a:srgbClr val="5F6978"/>
                </a:solidFill>
                <a:latin typeface="Microsoft YaHei"/>
              </a:rPr>
              <a:t>关键项短板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7" y="3675887"/>
            <a:ext cx="24140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a:eastAsianTypeface="Microsoft YaHei">
                <a:solidFill>
                  <a:srgbClr val="C82D2D"/>
                </a:solidFill>
                <a:latin typeface="Microsoft YaHei"/>
              </a:rPr>
              <a:t>水槽与管道 / 气隙 Air Gap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79408" y="3310128"/>
            <a:ext cx="2670048" cy="84124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979408" y="3310128"/>
            <a:ext cx="2670048" cy="54864"/>
          </a:xfrm>
          <a:prstGeom prst="rect">
            <a:avLst/>
          </a:prstGeom>
          <a:solidFill>
            <a:srgbClr val="C8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07424" y="3438144"/>
            <a:ext cx="24140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a:eastAsianTypeface="Microsoft YaHei">
                <a:solidFill>
                  <a:srgbClr val="5F6978"/>
                </a:solidFill>
                <a:latin typeface="Microsoft YaHei"/>
              </a:rPr>
              <a:t>跨月异动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07424" y="3675887"/>
            <a:ext cx="24140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a:eastAsianTypeface="Microsoft YaHei">
                <a:solidFill>
                  <a:srgbClr val="C82D2D"/>
                </a:solidFill>
                <a:latin typeface="Microsoft YaHei"/>
              </a:rPr>
              <a:t>9 家连续两月复现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4352544"/>
            <a:ext cx="1115568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" y="4407407"/>
            <a:ext cx="109362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摘要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4663440"/>
            <a:ext cx="111556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" y="4782312"/>
            <a:ext cx="10863072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a:eastAsianTypeface="Microsoft YaHei">
                <a:solidFill>
                  <a:srgbClr val="222222"/>
                </a:solidFill>
                <a:latin typeface="Microsoft YaHei"/>
              </a:rPr>
              <a:t>7 月 QA 稽核 19 次、覆盖 18 家门店；申诉后平均分 92.1，较 6 月 91.8 提升 0.3 分，达标率维持 100%。</a:t>
            </a:r>
          </a:p>
          <a:p>
            <a:pPr algn="l">
              <a:lnSpc>
                <a:spcPct val="125000"/>
              </a:lnSpc>
            </a:pPr>
            <a:r>
              <a:rPr sz="1000" b="0" a:eastAsianTypeface="Microsoft YaHei">
                <a:solidFill>
                  <a:srgbClr val="222222"/>
                </a:solidFill>
                <a:latin typeface="Microsoft YaHei"/>
              </a:rPr>
              <a:t>⚠ 但申诉前原始均分仅 76.7（6 月 78.4），QA 现场发现的问题不降反增——分数改善来自申诉获批而非现场改善。</a:t>
            </a:r>
          </a:p>
          <a:p>
            <a:pPr algn="l">
              <a:lnSpc>
                <a:spcPct val="125000"/>
              </a:lnSpc>
            </a:pPr>
            <a:r>
              <a:rPr sz="1000" b="0" a:eastAsianTypeface="Microsoft YaHei">
                <a:solidFill>
                  <a:srgbClr val="222222"/>
                </a:solidFill>
                <a:latin typeface="Microsoft YaHei"/>
              </a:rPr>
              <a:t>最大系统性短板仍为设施 — Sinks and Pipes / air gap：QA 主巡检 10 个关键项全部为此类，且全部申诉获批扣分归零；</a:t>
            </a:r>
          </a:p>
          <a:p>
            <a:pPr algn="l">
              <a:lnSpc>
                <a:spcPct val="125000"/>
              </a:lnSpc>
            </a:pPr>
            <a:r>
              <a:rPr sz="1000" b="0" a:eastAsianTypeface="Microsoft YaHei">
                <a:solidFill>
                  <a:srgbClr val="222222"/>
                </a:solidFill>
                <a:latin typeface="Microsoft YaHei"/>
              </a:rPr>
              <a:t>9 家门店连续两月复现同类问题，6 月 P0（BD 整改清单）未见成效，需升级为 BD 专项工程。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a:eastAsianTypeface="Microsoft YaHei">
                <a:solidFill>
                  <a:srgbClr val="1E2D41"/>
                </a:solidFill>
                <a:latin typeface="Microsoft YaHei"/>
              </a:rPr>
              <a:t>三类稽核体系对比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01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a:eastAsianTypeface="Microsoft YaHei">
                <a:solidFill>
                  <a:srgbClr val="5F6978"/>
                </a:solidFill>
                <a:latin typeface="Microsoft YaHei"/>
              </a:rPr>
              <a:t>门店自检 + QA 稽核 + 区经检查 · 本月三类齐全且全部活跃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41908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a:eastAsianTypeface="Microsoft YaHei">
                <a:solidFill>
                  <a:srgbClr val="1F3864"/>
                </a:solidFill>
                <a:latin typeface="Microsoft YaHei"/>
              </a:rPr>
              <a:t>瑞幸咖啡 · 北美质量保障部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282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a:eastAsianTypeface="Microsoft YaHei">
                <a:solidFill>
                  <a:srgbClr val="5F6978"/>
                </a:solidFill>
                <a:latin typeface="Microsoft YaHei"/>
              </a:rP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97280" y="1371600"/>
          <a:ext cx="996695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7719"/>
                <a:gridCol w="1343859"/>
                <a:gridCol w="1567836"/>
                <a:gridCol w="1455848"/>
                <a:gridCol w="1455848"/>
                <a:gridCol w="1455848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稽核类型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次数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覆盖门店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平均分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关键项 S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重点项 M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Microsoft YaHei"/>
                        </a:rPr>
                        <a:t>门店自检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Microsoft YaHei"/>
                        </a:rPr>
                        <a:t>54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Microsoft YaHei"/>
                        </a:rPr>
                        <a:t>21/21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Microsoft YaHei"/>
                        </a:rPr>
                        <a:t>80.5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Microsoft YaHei"/>
                        </a:rPr>
                        <a:t>15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Microsoft YaHei"/>
                        </a:rPr>
                        <a:t>30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Microsoft YaHei"/>
                        </a:rPr>
                        <a:t>QA 稽核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Microsoft YaHei"/>
                        </a:rPr>
                        <a:t>19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Microsoft YaHei"/>
                        </a:rPr>
                        <a:t>18/21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Microsoft YaHei"/>
                        </a:rPr>
                        <a:t>92.1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Microsoft YaHei"/>
                        </a:rPr>
                        <a:t>10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Microsoft YaHei"/>
                        </a:rPr>
                        <a:t>6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Microsoft YaHei"/>
                        </a:rPr>
                        <a:t>区经检查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Microsoft YaHei"/>
                        </a:rPr>
                        <a:t>21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Microsoft YaHei"/>
                        </a:rPr>
                        <a:t>21/21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Microsoft YaHei"/>
                        </a:rPr>
                        <a:t>78.9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Microsoft YaHei"/>
                        </a:rPr>
                        <a:t>23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097280" y="3429000"/>
            <a:ext cx="996696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7" y="3483864"/>
            <a:ext cx="9747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体系表现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739896"/>
            <a:ext cx="99669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3584" y="3858768"/>
            <a:ext cx="9674352" cy="2093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a:eastAsianTypeface="Microsoft YaHei">
                <a:solidFill>
                  <a:srgbClr val="222222"/>
                </a:solidFill>
                <a:latin typeface="Microsoft YaHei"/>
              </a:rPr>
              <a:t>7 月共 94 次有效巡检（自检 54 / QA 19 / 区经 21），较 6 月 85 次 +9 次，为有记录以来最高；</a:t>
            </a:r>
          </a:p>
          <a:p>
            <a:pPr algn="l">
              <a:lnSpc>
                <a:spcPct val="125000"/>
              </a:lnSpc>
            </a:pPr>
            <a:r>
              <a:rPr sz="1000" b="0" a:eastAsianTypeface="Microsoft YaHei">
                <a:solidFill>
                  <a:srgbClr val="222222"/>
                </a:solidFill>
                <a:latin typeface="Microsoft YaHei"/>
              </a:rPr>
              <a:t>21 家在营门店 100% 覆盖，含 3 家新开业门店首检落地。</a:t>
            </a:r>
          </a:p>
          <a:p>
            <a:pPr algn="l">
              <a:lnSpc>
                <a:spcPct val="125000"/>
              </a:lnSpc>
            </a:pPr>
            <a:r>
              <a:rPr sz="100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000" b="0" a:eastAsianTypeface="Microsoft YaHei">
                <a:solidFill>
                  <a:srgbClr val="222222"/>
                </a:solidFill>
                <a:latin typeface="Microsoft YaHei"/>
              </a:rPr>
              <a:t>QA 稽核平均分最高（92.1），10 个 S 项全部集中在 Sinks and Pipes / air gap，说明设施类问题仍未根治。</a:t>
            </a:r>
          </a:p>
          <a:p>
            <a:pPr algn="l">
              <a:lnSpc>
                <a:spcPct val="125000"/>
              </a:lnSpc>
            </a:pPr>
            <a:r>
              <a:rPr sz="100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000" b="0" a:eastAsianTypeface="Microsoft YaHei">
                <a:solidFill>
                  <a:srgbClr val="222222"/>
                </a:solidFill>
                <a:latin typeface="Microsoft YaHei"/>
              </a:rPr>
              <a:t>⚠ 尺度分化加剧：区经均分由 6 月 84.3 降至 78.9，QA（逐店口径）由 6 月 91.8 升至 92.1，两者差距 13.2 分为历史最大；9 家门店出现 ≥20 分跨类型评分背离（6 月仅 4 家），需开展区经 / QA 尺度对齐校准。</a:t>
            </a:r>
          </a:p>
          <a:p>
            <a:pPr algn="l">
              <a:lnSpc>
                <a:spcPct val="125000"/>
              </a:lnSpc>
            </a:pPr>
            <a:r>
              <a:rPr sz="1000" b="0" a:eastAsianTypeface="Microsoft YaHei">
                <a:solidFill>
                  <a:srgbClr val="222222"/>
                </a:solidFill>
                <a:latin typeface="Microsoft YaHei"/>
              </a:rPr>
              <a:t>※ 表中 QA 平均分为「每店最近一次 QA 稽核」口径（沿用 6 月 PPT 惯例）；自检 / 区经为全部单据均分。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a:eastAsianTypeface="Microsoft YaHei">
                <a:solidFill>
                  <a:srgbClr val="1E2D41"/>
                </a:solidFill>
                <a:latin typeface="Microsoft YaHei"/>
              </a:rPr>
              <a:t>QA 门店得分排名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01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a:eastAsianTypeface="Microsoft YaHei">
                <a:solidFill>
                  <a:srgbClr val="5F6978"/>
                </a:solidFill>
                <a:latin typeface="Microsoft YaHei"/>
              </a:rPr>
              <a:t>18 家自营门店（申诉后分）· 80 分为达标线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41908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a:eastAsianTypeface="Microsoft YaHei">
                <a:solidFill>
                  <a:srgbClr val="1F3864"/>
                </a:solidFill>
                <a:latin typeface="Microsoft YaHei"/>
              </a:rPr>
              <a:t>瑞幸咖啡 · 北美质量保障部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282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a:eastAsianTypeface="Microsoft YaHei">
                <a:solidFill>
                  <a:srgbClr val="5F6978"/>
                </a:solidFill>
                <a:latin typeface="Microsoft YaHei"/>
              </a:rPr>
              <a:t>13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325880"/>
          <a:ext cx="1124712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5029200"/>
            <a:ext cx="1124712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5084064"/>
            <a:ext cx="110276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分档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340096"/>
            <a:ext cx="112471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458968"/>
            <a:ext cx="10954512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>A+ 档 ≥94（8 家）：29th &amp; 3rd 98、154 Bleecker 95、8th &amp; Broadway 94、28th &amp; 6th 94、41st &amp; Lexington 94、40th &amp; 10th 94、21st &amp; 3rd 94、221 Grand 94</a:t>
            </a:r>
          </a:p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>全部 QA 稽核门店均 ≥84 分，无 &lt;80 门店。最低分为 54th &amp; 8th 84、100 Maiden Ln 85。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a:eastAsianTypeface="Microsoft YaHei">
                <a:solidFill>
                  <a:srgbClr val="1E2D41"/>
                </a:solidFill>
                <a:latin typeface="Microsoft YaHei"/>
              </a:rPr>
              <a:t>QA 稽核分级结果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01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a:eastAsianTypeface="Microsoft YaHei">
                <a:solidFill>
                  <a:srgbClr val="5F6978"/>
                </a:solidFill>
                <a:latin typeface="Microsoft YaHei"/>
              </a:rPr>
              <a:t>自营 18 家 · 申诉后调整分（A+ ≥94 / A 87–93 / B 80–86 / C &lt;80）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41908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a:eastAsianTypeface="Microsoft YaHei">
                <a:solidFill>
                  <a:srgbClr val="1F3864"/>
                </a:solidFill>
                <a:latin typeface="Microsoft YaHei"/>
              </a:rPr>
              <a:t>瑞幸咖啡 · 北美质量保障部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282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a:eastAsianTypeface="Microsoft YaHei">
                <a:solidFill>
                  <a:srgbClr val="5F6978"/>
                </a:solidFill>
                <a:latin typeface="Microsoft YaHei"/>
              </a:rPr>
              <a:t>14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371600"/>
          <a:ext cx="6126480" cy="2103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6858000" y="1371600"/>
            <a:ext cx="2286000" cy="100584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4304" y="1481328"/>
            <a:ext cx="202996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a:eastAsianTypeface="Microsoft YaHei">
                <a:solidFill>
                  <a:srgbClr val="288C5A"/>
                </a:solidFill>
                <a:latin typeface="Microsoft YaHei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4304" y="1883664"/>
            <a:ext cx="202996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达标率（A+/A/B，≥80 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72600" y="1371600"/>
            <a:ext cx="2286000" cy="100584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18904" y="1481328"/>
            <a:ext cx="202996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a:eastAsianTypeface="Microsoft YaHei">
                <a:solidFill>
                  <a:srgbClr val="288C5A"/>
                </a:solidFill>
                <a:latin typeface="Microsoft YaHei"/>
              </a:rPr>
              <a:t>88.9%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18904" y="1883664"/>
            <a:ext cx="202996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A 级以上占比（A+/A）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858000" y="2606040"/>
          <a:ext cx="4800599" cy="86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2186"/>
                <a:gridCol w="854901"/>
                <a:gridCol w="723378"/>
                <a:gridCol w="723378"/>
                <a:gridCol w="723378"/>
                <a:gridCol w="723378"/>
              </a:tblGrid>
              <a:tr h="28956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类型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稽核店数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A+ 级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A 级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B 级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C 级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Microsoft YaHei"/>
                        </a:rPr>
                        <a:t>QA 稽核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Microsoft YaHei"/>
                        </a:rPr>
                        <a:t>18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Microsoft YaHei"/>
                        </a:rPr>
                        <a:t>44.4%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Microsoft YaHei"/>
                        </a:rPr>
                        <a:t>44.4%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Microsoft YaHei"/>
                        </a:rPr>
                        <a:t>11.1%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Microsoft YaHei"/>
                        </a:rPr>
                        <a:t>0.0%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Microsoft YaHei"/>
                        </a:rPr>
                        <a:t>家数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Microsoft YaHei"/>
                        </a:rPr>
                        <a:t>18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502920" y="3794760"/>
            <a:ext cx="1115568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849624"/>
            <a:ext cx="109362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总结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105656"/>
            <a:ext cx="111556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4224528"/>
            <a:ext cx="10863072" cy="1773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a:eastAsianTypeface="Microsoft YaHei">
                <a:solidFill>
                  <a:srgbClr val="222222"/>
                </a:solidFill>
                <a:latin typeface="Microsoft YaHei"/>
              </a:rPr>
              <a:t>QA 达标率 100%（18/18），A 级以上占比 88.9%（16/18），其中 A+ 门店 8 家（6 月 6 家）。</a:t>
            </a:r>
          </a:p>
          <a:p>
            <a:pPr algn="l">
              <a:lnSpc>
                <a:spcPct val="125000"/>
              </a:lnSpc>
            </a:pPr>
            <a:r>
              <a:rPr sz="100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000" b="0" a:eastAsianTypeface="Microsoft YaHei">
                <a:solidFill>
                  <a:srgbClr val="222222"/>
                </a:solidFill>
                <a:latin typeface="Microsoft YaHei"/>
              </a:rPr>
              <a:t>本月无 C 级不合格门店。北美门店全部为自营。</a:t>
            </a:r>
          </a:p>
          <a:p>
            <a:pPr algn="l">
              <a:lnSpc>
                <a:spcPct val="125000"/>
              </a:lnSpc>
            </a:pPr>
            <a:r>
              <a:rPr sz="100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000" b="0" a:eastAsianTypeface="Microsoft YaHei">
                <a:solidFill>
                  <a:srgbClr val="222222"/>
                </a:solidFill>
                <a:latin typeface="Microsoft YaHei"/>
              </a:rPr>
              <a:t>⚠ 需注意：上述分级基于申诉后调整分。若按申诉前原始分分级，C 级门店达 10 家（55.6%），达标率仅 44.4%，详见下页。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a:eastAsianTypeface="Microsoft YaHei">
                <a:solidFill>
                  <a:srgbClr val="1E2D41"/>
                </a:solidFill>
                <a:latin typeface="Microsoft YaHei"/>
              </a:rPr>
              <a:t>申诉前 vs 申诉后 分数对比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01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a:eastAsianTypeface="Microsoft YaHei">
                <a:solidFill>
                  <a:srgbClr val="5F6978"/>
                </a:solidFill>
                <a:latin typeface="Microsoft YaHei"/>
              </a:rPr>
              <a:t>QA 稽核 · 申诉机制对评分结果的影响（申诉前 = 原始分，申诉后 = 调整分）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41908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a:eastAsianTypeface="Microsoft YaHei">
                <a:solidFill>
                  <a:srgbClr val="1F3864"/>
                </a:solidFill>
                <a:latin typeface="Microsoft YaHei"/>
              </a:rPr>
              <a:t>瑞幸咖啡 · 北美质量保障部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282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a:eastAsianTypeface="Microsoft YaHei">
                <a:solidFill>
                  <a:srgbClr val="5F6978"/>
                </a:solidFill>
                <a:latin typeface="Microsoft YaHei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2651760" cy="100584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435607"/>
            <a:ext cx="23957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C82D2D"/>
                </a:solidFill>
                <a:latin typeface="Microsoft YaHei"/>
              </a:rPr>
              <a:t>76.7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837943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QA 平均分（申诉前）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325880"/>
            <a:ext cx="2651760" cy="100584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83864" y="1435607"/>
            <a:ext cx="23957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288C5A"/>
                </a:solidFill>
                <a:latin typeface="Microsoft YaHei"/>
              </a:rPr>
              <a:t>92.1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3864" y="1837943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QA 平均分（申诉后，+15.4）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280160"/>
            <a:ext cx="5394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a:eastAsianTypeface="Microsoft YaHei">
                <a:solidFill>
                  <a:srgbClr val="5F6978"/>
                </a:solidFill>
                <a:latin typeface="Microsoft YaHei"/>
              </a:rPr>
              <a:t>分级结构：申诉前 vs 申诉后（家数）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6172200" y="1536192"/>
          <a:ext cx="548640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Rectangle 14"/>
          <p:cNvSpPr/>
          <p:nvPr/>
        </p:nvSpPr>
        <p:spPr>
          <a:xfrm>
            <a:off x="502920" y="2487168"/>
            <a:ext cx="548640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2542032"/>
            <a:ext cx="5266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申诉调整门店（申诉前 → 申诉后）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02920" y="2825496"/>
          <a:ext cx="548639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1835"/>
                <a:gridCol w="968188"/>
                <a:gridCol w="968188"/>
                <a:gridCol w="968188"/>
              </a:tblGrid>
              <a:tr h="19594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门店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申诉前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申诉后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变动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221 Grand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63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94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82D2D"/>
                          </a:solidFill>
                          <a:latin typeface="Microsoft YaHei"/>
                        </a:rPr>
                        <a:t>+31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102 Fulton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64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91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82D2D"/>
                          </a:solidFill>
                          <a:latin typeface="Microsoft YaHei"/>
                        </a:rPr>
                        <a:t>+27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154 Bleecker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68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95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82D2D"/>
                          </a:solidFill>
                          <a:latin typeface="Microsoft YaHei"/>
                        </a:rPr>
                        <a:t>+27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40th &amp; 10th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67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94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82D2D"/>
                          </a:solidFill>
                          <a:latin typeface="Microsoft YaHei"/>
                        </a:rPr>
                        <a:t>+27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21st &amp; 3rd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67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94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82D2D"/>
                          </a:solidFill>
                          <a:latin typeface="Microsoft YaHei"/>
                        </a:rPr>
                        <a:t>+27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52nd &amp; Madison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63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90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82D2D"/>
                          </a:solidFill>
                          <a:latin typeface="Microsoft YaHei"/>
                        </a:rPr>
                        <a:t>+27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54th &amp; 8th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59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84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82D2D"/>
                          </a:solidFill>
                          <a:latin typeface="Microsoft YaHei"/>
                        </a:rPr>
                        <a:t>+25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33rd &amp; 10th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67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92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82D2D"/>
                          </a:solidFill>
                          <a:latin typeface="Microsoft YaHei"/>
                        </a:rPr>
                        <a:t>+25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29th &amp; 3rd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73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98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82D2D"/>
                          </a:solidFill>
                          <a:latin typeface="Microsoft YaHei"/>
                        </a:rPr>
                        <a:t>+25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15th &amp; 3rd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66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91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82D2D"/>
                          </a:solidFill>
                          <a:latin typeface="Microsoft YaHei"/>
                        </a:rPr>
                        <a:t>+25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41st &amp; Lexington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88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94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+6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8th &amp; Broadway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92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94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+2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  <a:tr h="19595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28th &amp; 6th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92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94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+2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6172200" y="3977639"/>
            <a:ext cx="54864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18504" y="4096511"/>
            <a:ext cx="5193792" cy="1865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>申诉调整使 QA 平均分由 76.7 提升至 92.1（+15.4），达标率由 44.4% 升至 100%，A 级以上由 38.9% 升至 88.9%。</a:t>
            </a:r>
          </a:p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>本月共 13 家门店经申诉调整，全部为系统获批（6 月为 7 起系统获批 + 4 起 QA 手动更新）。</a:t>
            </a:r>
          </a:p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>其中 10 起为 air gap / 管道 S 项撤销，单笔提分 +25 至 +31（S 项撤销同时解除 −20 惩罚项）。</a:t>
            </a:r>
          </a:p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>⚠ 连续两月已决申诉 0 驳回（累计 23 获批）。建议引入第二审核人、S 项申诉强制附整改证据、获批后 14 天内实物复检。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a:eastAsianTypeface="Microsoft YaHei">
                <a:solidFill>
                  <a:srgbClr val="1E2D41"/>
                </a:solidFill>
                <a:latin typeface="Microsoft YaHei"/>
              </a:rPr>
              <a:t>QA 稽核 7 月 vs 6 月 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01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0" y="641908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a:eastAsianTypeface="Microsoft YaHei">
                <a:solidFill>
                  <a:srgbClr val="1F3864"/>
                </a:solidFill>
                <a:latin typeface="Microsoft YaHei"/>
              </a:rPr>
              <a:t>瑞幸咖啡 · 北美质量保障部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282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a:eastAsianTypeface="Microsoft YaHei">
                <a:solidFill>
                  <a:srgbClr val="5F6978"/>
                </a:solidFill>
                <a:latin typeface="Microsoft YaHei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3566160" cy="100584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1481328"/>
            <a:ext cx="33101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a:eastAsianTypeface="Microsoft YaHei">
                <a:solidFill>
                  <a:srgbClr val="288C5A"/>
                </a:solidFill>
                <a:latin typeface="Microsoft YaHei"/>
              </a:rPr>
              <a:t>91.8 → 92.1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1883664"/>
            <a:ext cx="33101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QA 平均分 6月→7月（+0.3）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371600"/>
            <a:ext cx="3566160" cy="100584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98264" y="1481328"/>
            <a:ext cx="33101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a:eastAsianTypeface="Microsoft YaHei">
                <a:solidFill>
                  <a:srgbClr val="288C5A"/>
                </a:solidFill>
                <a:latin typeface="Microsoft YaHei"/>
              </a:rPr>
              <a:t>16 →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8264" y="1883664"/>
            <a:ext cx="33101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QA 稽核次数 6月→7月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371600"/>
            <a:ext cx="3657600" cy="100584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47304" y="1481328"/>
            <a:ext cx="340156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a:eastAsianTypeface="Microsoft YaHei">
                <a:solidFill>
                  <a:srgbClr val="C82D2D"/>
                </a:solidFill>
                <a:latin typeface="Microsoft YaHei"/>
              </a:rPr>
              <a:t>78.4 → 76.7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7304" y="188366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申诉前均分 6月→7月（−1.7）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60604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a:eastAsianTypeface="Microsoft YaHei">
                <a:solidFill>
                  <a:srgbClr val="5F6978"/>
                </a:solidFill>
                <a:latin typeface="Microsoft YaHei"/>
              </a:rPr>
              <a:t>分级结构对比（家数）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457200" y="2834640"/>
          <a:ext cx="640080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Rectangle 16"/>
          <p:cNvSpPr/>
          <p:nvPr/>
        </p:nvSpPr>
        <p:spPr>
          <a:xfrm>
            <a:off x="7132320" y="2834640"/>
            <a:ext cx="457200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42048" y="2889504"/>
            <a:ext cx="43525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要点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3145536"/>
            <a:ext cx="4572000" cy="2157984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78624" y="3264408"/>
            <a:ext cx="4279392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达标结构维持高位：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· A+ 门店由 6 家增至 8 家；C 级维持 0 家。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· QA 覆盖由 16 家增至 18 家（+2），3 家新店仍未纳入。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· S 项由 8 项增至 10 项，仍全部集中在设施 / 管道。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⚠ 申诉前均分由 78.4 降至 76.7，现场问题实际增多。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a:eastAsianTypeface="Microsoft YaHei">
                <a:solidFill>
                  <a:srgbClr val="1E2D41"/>
                </a:solidFill>
                <a:latin typeface="Microsoft YaHei"/>
              </a:rPr>
              <a:t>2026 年 YTD 概览（1–7 月）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01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0" y="641908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a:eastAsianTypeface="Microsoft YaHei">
                <a:solidFill>
                  <a:srgbClr val="1F3864"/>
                </a:solidFill>
                <a:latin typeface="Microsoft YaHei"/>
              </a:rPr>
              <a:t>瑞幸咖啡 · 北美质量保障部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282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a:eastAsianTypeface="Microsoft YaHei">
                <a:solidFill>
                  <a:srgbClr val="5F6978"/>
                </a:solidFill>
                <a:latin typeface="Microsoft YaHei"/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743200" cy="100584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1481328"/>
            <a:ext cx="248716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005EB8"/>
                </a:solidFill>
                <a:latin typeface="Microsoft YaHei"/>
              </a:rPr>
              <a:t>360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1883664"/>
            <a:ext cx="24871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YTD 稽核总次数（1–7 月）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371600"/>
            <a:ext cx="2743200" cy="100584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75304" y="1481328"/>
            <a:ext cx="248716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005EB8"/>
                </a:solidFill>
                <a:latin typeface="Microsoft YaHei"/>
              </a:rPr>
              <a:t>71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5304" y="1883664"/>
            <a:ext cx="24871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YTD QA 稽核次数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371600"/>
            <a:ext cx="2743200" cy="100584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1384" y="1481328"/>
            <a:ext cx="248716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C82D2D"/>
                </a:solidFill>
                <a:latin typeface="Microsoft YaHei"/>
              </a:rPr>
              <a:t>117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1384" y="1883664"/>
            <a:ext cx="24871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YTD 关键项 S 累计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81160" y="1371600"/>
            <a:ext cx="2377440" cy="100584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27464" y="1481328"/>
            <a:ext cx="21214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288C5A"/>
                </a:solidFill>
                <a:latin typeface="Microsoft YaHei"/>
              </a:rPr>
              <a:t>21 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27464" y="1883664"/>
            <a:ext cx="21214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YTD 已覆盖自营门店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60604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a:eastAsianTypeface="Microsoft YaHei">
                <a:solidFill>
                  <a:srgbClr val="5F6978"/>
                </a:solidFill>
                <a:latin typeface="Microsoft YaHei"/>
              </a:rPr>
              <a:t>稽核量月度趋势（按类型，次）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457200" y="2834640"/>
          <a:ext cx="676656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Rectangle 19"/>
          <p:cNvSpPr/>
          <p:nvPr/>
        </p:nvSpPr>
        <p:spPr>
          <a:xfrm>
            <a:off x="7498079" y="2834640"/>
            <a:ext cx="420624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7807" y="2889504"/>
            <a:ext cx="398678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YTD 要点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79" y="3145536"/>
            <a:ext cx="4206240" cy="2249424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44383" y="3264408"/>
            <a:ext cx="3913631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1–7 月共 360 次有效巡检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（自检 211 / QA 71 / 区经 78）。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7 月巡检体系创历史新高：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自检 54、QA 19、区经 21。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门店数由 1 月 13 家扩至 7 月 21 家，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覆盖率连续 4 个月保持 100%。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a:eastAsianTypeface="Microsoft YaHei">
                <a:solidFill>
                  <a:srgbClr val="1E2D41"/>
                </a:solidFill>
                <a:latin typeface="Microsoft YaHei"/>
              </a:rPr>
              <a:t>门店稳定性分析（6 月 → 7 月 主巡检）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01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a:eastAsianTypeface="Microsoft YaHei">
                <a:solidFill>
                  <a:srgbClr val="5F6978"/>
                </a:solidFill>
                <a:latin typeface="Microsoft YaHei"/>
              </a:rPr>
              <a:t>逐店对比 · 识别下滑 / 稳定 / 改善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41908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a:eastAsianTypeface="Microsoft YaHei">
                <a:solidFill>
                  <a:srgbClr val="1F3864"/>
                </a:solidFill>
                <a:latin typeface="Microsoft YaHei"/>
              </a:rPr>
              <a:t>瑞幸咖啡 · 北美质量保障部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282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a:eastAsianTypeface="Microsoft YaHei">
                <a:solidFill>
                  <a:srgbClr val="5F6978"/>
                </a:solidFill>
                <a:latin typeface="Microsoft YaHei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2670048" cy="384048"/>
          </a:xfrm>
          <a:prstGeom prst="rect">
            <a:avLst/>
          </a:prstGeom>
          <a:solidFill>
            <a:srgbClr val="C8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453896"/>
            <a:ext cx="24505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a:eastAsianTypeface="Microsoft YaHei">
                <a:solidFill>
                  <a:srgbClr val="FFFFFF"/>
                </a:solidFill>
                <a:latin typeface="Microsoft YaHei"/>
              </a:rPr>
              <a:t>下滑（≥5 分）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55648"/>
            <a:ext cx="2670048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883664"/>
            <a:ext cx="2414016" cy="278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a:eastAsianTypeface="Microsoft YaHei">
                <a:solidFill>
                  <a:srgbClr val="222222"/>
                </a:solidFill>
                <a:latin typeface="Microsoft YaHei"/>
              </a:rPr>
              <a:t>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28415" y="1371600"/>
            <a:ext cx="2670048" cy="3840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38144" y="1453896"/>
            <a:ext cx="24505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a:eastAsianTypeface="Microsoft YaHei">
                <a:solidFill>
                  <a:srgbClr val="FFFFFF"/>
                </a:solidFill>
                <a:latin typeface="Microsoft YaHei"/>
              </a:rPr>
              <a:t>稳定（±4 分内）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28415" y="1755648"/>
            <a:ext cx="2670048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6432" y="1883664"/>
            <a:ext cx="2414016" cy="278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a:eastAsianTypeface="Microsoft YaHei">
                <a:solidFill>
                  <a:srgbClr val="222222"/>
                </a:solidFill>
                <a:latin typeface="Microsoft YaHei"/>
              </a:rPr>
              <a:t>37th &amp; Broadway 89→93（+4）</a:t>
            </a:r>
          </a:p>
          <a:p>
            <a:pPr algn="l">
              <a:lnSpc>
                <a:spcPct val="130000"/>
              </a:lnSpc>
            </a:pPr>
            <a:r>
              <a:rPr sz="850" b="0" a:eastAsianTypeface="Microsoft YaHei">
                <a:solidFill>
                  <a:srgbClr val="222222"/>
                </a:solidFill>
                <a:latin typeface="Microsoft YaHei"/>
              </a:rPr>
              <a:t>29th &amp; 3rd 94→98（+4）</a:t>
            </a:r>
          </a:p>
          <a:p>
            <a:pPr algn="l">
              <a:lnSpc>
                <a:spcPct val="130000"/>
              </a:lnSpc>
            </a:pPr>
            <a:r>
              <a:rPr sz="850" b="0" a:eastAsianTypeface="Microsoft YaHei">
                <a:solidFill>
                  <a:srgbClr val="222222"/>
                </a:solidFill>
                <a:latin typeface="Microsoft YaHei"/>
              </a:rPr>
              <a:t>154 Bleecker 92→95（+3）</a:t>
            </a:r>
          </a:p>
          <a:p>
            <a:pPr algn="l">
              <a:lnSpc>
                <a:spcPct val="130000"/>
              </a:lnSpc>
            </a:pPr>
            <a:r>
              <a:rPr sz="850" b="0" a:eastAsianTypeface="Microsoft YaHei">
                <a:solidFill>
                  <a:srgbClr val="222222"/>
                </a:solidFill>
                <a:latin typeface="Microsoft YaHei"/>
              </a:rPr>
              <a:t>40th &amp; 10th 91→94（+3）</a:t>
            </a:r>
          </a:p>
          <a:p>
            <a:pPr algn="l">
              <a:lnSpc>
                <a:spcPct val="130000"/>
              </a:lnSpc>
            </a:pPr>
            <a:r>
              <a:rPr sz="850" b="0" a:eastAsianTypeface="Microsoft YaHei">
                <a:solidFill>
                  <a:srgbClr val="222222"/>
                </a:solidFill>
                <a:latin typeface="Microsoft YaHei"/>
              </a:rPr>
              <a:t>15th &amp; 3rd 88→91（+3）</a:t>
            </a:r>
          </a:p>
          <a:p>
            <a:pPr algn="l">
              <a:lnSpc>
                <a:spcPct val="130000"/>
              </a:lnSpc>
            </a:pPr>
            <a:r>
              <a:rPr sz="850" b="0" a:eastAsianTypeface="Microsoft YaHei">
                <a:solidFill>
                  <a:srgbClr val="222222"/>
                </a:solidFill>
                <a:latin typeface="Microsoft YaHei"/>
              </a:rPr>
              <a:t>16th &amp; 6th 91→93（+2）</a:t>
            </a:r>
          </a:p>
          <a:p>
            <a:pPr algn="l">
              <a:lnSpc>
                <a:spcPct val="130000"/>
              </a:lnSpc>
            </a:pPr>
            <a:r>
              <a:rPr sz="850" b="0" a:eastAsianTypeface="Microsoft YaHei">
                <a:solidFill>
                  <a:srgbClr val="222222"/>
                </a:solidFill>
                <a:latin typeface="Microsoft YaHei"/>
              </a:rPr>
              <a:t>221 Grand 94→94（+0）</a:t>
            </a:r>
          </a:p>
          <a:p>
            <a:pPr algn="l">
              <a:lnSpc>
                <a:spcPct val="130000"/>
              </a:lnSpc>
            </a:pPr>
            <a:r>
              <a:rPr sz="850" b="0" a:eastAsianTypeface="Microsoft YaHei">
                <a:solidFill>
                  <a:srgbClr val="222222"/>
                </a:solidFill>
                <a:latin typeface="Microsoft YaHei"/>
              </a:rPr>
              <a:t>21st &amp; 3rd 97→94（-3）</a:t>
            </a:r>
          </a:p>
          <a:p>
            <a:pPr algn="l">
              <a:lnSpc>
                <a:spcPct val="130000"/>
              </a:lnSpc>
            </a:pPr>
            <a:r>
              <a:rPr sz="850" b="0" a:eastAsianTypeface="Microsoft YaHei">
                <a:solidFill>
                  <a:srgbClr val="222222"/>
                </a:solidFill>
                <a:latin typeface="Microsoft YaHei"/>
              </a:rPr>
              <a:t>102 Fulton 93→91（-2）</a:t>
            </a:r>
          </a:p>
          <a:p>
            <a:pPr algn="l">
              <a:lnSpc>
                <a:spcPct val="130000"/>
              </a:lnSpc>
            </a:pPr>
            <a:r>
              <a:rPr sz="850" b="0" a:eastAsianTypeface="Microsoft YaHei">
                <a:solidFill>
                  <a:srgbClr val="222222"/>
                </a:solidFill>
                <a:latin typeface="Microsoft YaHei"/>
              </a:rPr>
              <a:t>108th &amp; Broadway 91→89（-2）</a:t>
            </a:r>
          </a:p>
          <a:p>
            <a:pPr algn="l">
              <a:lnSpc>
                <a:spcPct val="130000"/>
              </a:lnSpc>
            </a:pPr>
            <a:r>
              <a:rPr sz="850" b="0" a:eastAsianTypeface="Microsoft YaHei">
                <a:solidFill>
                  <a:srgbClr val="222222"/>
                </a:solidFill>
                <a:latin typeface="Microsoft YaHei"/>
              </a:rPr>
              <a:t>33rd &amp; 10th 94→92（-2）</a:t>
            </a:r>
          </a:p>
          <a:p>
            <a:pPr algn="l">
              <a:lnSpc>
                <a:spcPct val="130000"/>
              </a:lnSpc>
            </a:pPr>
            <a:r>
              <a:rPr sz="850" b="0" a:eastAsianTypeface="Microsoft YaHei">
                <a:solidFill>
                  <a:srgbClr val="222222"/>
                </a:solidFill>
                <a:latin typeface="Microsoft YaHei"/>
              </a:rPr>
              <a:t>100 Maiden Ln 86→85（-1）</a:t>
            </a:r>
          </a:p>
          <a:p>
            <a:pPr algn="l">
              <a:lnSpc>
                <a:spcPct val="130000"/>
              </a:lnSpc>
            </a:pPr>
            <a:r>
              <a:rPr sz="850" b="0" a:eastAsianTypeface="Microsoft YaHei">
                <a:solidFill>
                  <a:srgbClr val="222222"/>
                </a:solidFill>
                <a:latin typeface="Microsoft YaHei"/>
              </a:rPr>
              <a:t>41st &amp; Lexington 95→94（-1）</a:t>
            </a:r>
          </a:p>
          <a:p>
            <a:pPr algn="l">
              <a:lnSpc>
                <a:spcPct val="130000"/>
              </a:lnSpc>
            </a:pPr>
            <a:r>
              <a:rPr sz="850" b="0" a:eastAsianTypeface="Microsoft YaHei">
                <a:solidFill>
                  <a:srgbClr val="222222"/>
                </a:solidFill>
                <a:latin typeface="Microsoft YaHei"/>
              </a:rPr>
              <a:t>23rd &amp; 8th 93→92（-1）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53912" y="1371600"/>
            <a:ext cx="2670048" cy="384048"/>
          </a:xfrm>
          <a:prstGeom prst="rect">
            <a:avLst/>
          </a:prstGeom>
          <a:solidFill>
            <a:srgbClr val="28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453896"/>
            <a:ext cx="24505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a:eastAsianTypeface="Microsoft YaHei">
                <a:solidFill>
                  <a:srgbClr val="FFFFFF"/>
                </a:solidFill>
                <a:latin typeface="Microsoft YaHei"/>
              </a:rPr>
              <a:t>改善（≥5 分）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53912" y="1755648"/>
            <a:ext cx="2670048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81927" y="1883664"/>
            <a:ext cx="2414016" cy="278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a:eastAsianTypeface="Microsoft YaHei">
                <a:solidFill>
                  <a:srgbClr val="222222"/>
                </a:solidFill>
                <a:latin typeface="Microsoft YaHei"/>
              </a:rPr>
              <a:t>52nd &amp; Madison 64→90（+26）</a:t>
            </a:r>
          </a:p>
          <a:p>
            <a:pPr algn="l">
              <a:lnSpc>
                <a:spcPct val="130000"/>
              </a:lnSpc>
            </a:pPr>
            <a:r>
              <a:rPr sz="850" b="0" a:eastAsianTypeface="Microsoft YaHei">
                <a:solidFill>
                  <a:srgbClr val="222222"/>
                </a:solidFill>
                <a:latin typeface="Microsoft YaHei"/>
              </a:rPr>
              <a:t>54th &amp; 8th 71→84（+13）</a:t>
            </a:r>
          </a:p>
          <a:p>
            <a:pPr algn="l">
              <a:lnSpc>
                <a:spcPct val="130000"/>
              </a:lnSpc>
            </a:pPr>
            <a:r>
              <a:rPr sz="850" b="0" a:eastAsianTypeface="Microsoft YaHei">
                <a:solidFill>
                  <a:srgbClr val="222222"/>
                </a:solidFill>
                <a:latin typeface="Microsoft YaHei"/>
              </a:rPr>
              <a:t>28th &amp; 6th 86→94（+8）</a:t>
            </a:r>
          </a:p>
          <a:p>
            <a:pPr algn="l">
              <a:lnSpc>
                <a:spcPct val="130000"/>
              </a:lnSpc>
            </a:pPr>
            <a:r>
              <a:rPr sz="850" b="0" a:eastAsianTypeface="Microsoft YaHei">
                <a:solidFill>
                  <a:srgbClr val="222222"/>
                </a:solidFill>
                <a:latin typeface="Microsoft YaHei"/>
              </a:rPr>
              <a:t>8th &amp; Broadway 87→94（+7）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79408" y="1371600"/>
            <a:ext cx="2670048" cy="384048"/>
          </a:xfrm>
          <a:prstGeom prst="rect">
            <a:avLst/>
          </a:prstGeom>
          <a:solidFill>
            <a:srgbClr val="EB9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89136" y="1453896"/>
            <a:ext cx="24505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a:eastAsianTypeface="Microsoft YaHei">
                <a:solidFill>
                  <a:srgbClr val="FFFFFF"/>
                </a:solidFill>
                <a:latin typeface="Microsoft YaHei"/>
              </a:rPr>
              <a:t>新店首检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79408" y="1755648"/>
            <a:ext cx="2670048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07424" y="1883664"/>
            <a:ext cx="2414016" cy="278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a:eastAsianTypeface="Microsoft YaHei">
                <a:solidFill>
                  <a:srgbClr val="222222"/>
                </a:solidFill>
                <a:latin typeface="Microsoft YaHei"/>
              </a:rPr>
              <a:t>48th &amp; 3rd 60（区经）</a:t>
            </a:r>
          </a:p>
          <a:p>
            <a:pPr algn="l">
              <a:lnSpc>
                <a:spcPct val="130000"/>
              </a:lnSpc>
            </a:pPr>
            <a:r>
              <a:rPr sz="850" b="0" a:eastAsianTypeface="Microsoft YaHei">
                <a:solidFill>
                  <a:srgbClr val="222222"/>
                </a:solidFill>
                <a:latin typeface="Microsoft YaHei"/>
              </a:rPr>
              <a:t>Grand Central Terminal 96（区经）</a:t>
            </a:r>
          </a:p>
          <a:p>
            <a:pPr algn="l">
              <a:lnSpc>
                <a:spcPct val="130000"/>
              </a:lnSpc>
            </a:pPr>
            <a:r>
              <a:rPr sz="850" b="0" a:eastAsianTypeface="Microsoft YaHei">
                <a:solidFill>
                  <a:srgbClr val="222222"/>
                </a:solidFill>
                <a:latin typeface="Microsoft YaHei"/>
              </a:rPr>
              <a:t>128 W 32nd St 64（区经）</a:t>
            </a:r>
          </a:p>
          <a:p>
            <a:pPr algn="l">
              <a:lnSpc>
                <a:spcPct val="130000"/>
              </a:lnSpc>
            </a:pPr>
            <a:r>
              <a:rPr sz="85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850" b="0" a:eastAsianTypeface="Microsoft YaHei">
                <a:solidFill>
                  <a:srgbClr val="222222"/>
                </a:solidFill>
                <a:latin typeface="Microsoft YaHei"/>
              </a:rPr>
              <a:t>三家新店本月均未纳入 QA 稽核，首检全部由区经完成。</a:t>
            </a:r>
          </a:p>
          <a:p>
            <a:pPr algn="l">
              <a:lnSpc>
                <a:spcPct val="130000"/>
              </a:lnSpc>
            </a:pPr>
            <a:r>
              <a:rPr sz="85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850" b="0" a:eastAsianTypeface="Microsoft YaHei">
                <a:solidFill>
                  <a:srgbClr val="222222"/>
                </a:solidFill>
                <a:latin typeface="Microsoft YaHei"/>
              </a:rPr>
              <a:t>US00021 于 7/16 开业、7/28 完成首检。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956048"/>
            <a:ext cx="1115568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5010912"/>
            <a:ext cx="109362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总结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266944"/>
            <a:ext cx="11155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" y="5385816"/>
            <a:ext cx="10863072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a:eastAsianTypeface="Microsoft YaHei">
                <a:solidFill>
                  <a:srgbClr val="222222"/>
                </a:solidFill>
                <a:latin typeface="Microsoft YaHei"/>
              </a:rPr>
              <a:t>重点观察：本月无 ≥5 分下滑门店，最大跌幅仅 −3（21st &amp; 3rd 97→94），门店表现整体趋稳。</a:t>
            </a:r>
          </a:p>
          <a:p>
            <a:pPr algn="l">
              <a:lnSpc>
                <a:spcPct val="125000"/>
              </a:lnSpc>
            </a:pPr>
            <a:r>
              <a:rPr sz="1000" b="0" a:eastAsianTypeface="Microsoft YaHei">
                <a:solidFill>
                  <a:srgbClr val="222222"/>
                </a:solidFill>
                <a:latin typeface="Microsoft YaHei"/>
              </a:rPr>
              <a:t>52nd &amp; Madison 由 6 月最低分（64）回升至 90（+26），54th &amp; 8th 71→84（+13）结束连续两月 &lt;80；两家 6 月 &lt;80 门店全部脱困。新增关注对象转为 3 家新店中的 48th &amp; 3rd（60）与 128 W 32nd St（64）。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a:eastAsianTypeface="Microsoft YaHei">
                <a:solidFill>
                  <a:srgbClr val="1E2D41"/>
                </a:solidFill>
                <a:latin typeface="Microsoft YaHei"/>
              </a:rPr>
              <a:t>稽核问题点分析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01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a:eastAsianTypeface="Microsoft YaHei">
                <a:solidFill>
                  <a:srgbClr val="5F6978"/>
                </a:solidFill>
                <a:latin typeface="Microsoft YaHei"/>
              </a:rPr>
              <a:t>自营门店关键项 / 重点项 / 一般项 / 轻微项趋势 · 6 月 → 7 月（主巡检口径，店均）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41908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a:eastAsianTypeface="Microsoft YaHei">
                <a:solidFill>
                  <a:srgbClr val="1F3864"/>
                </a:solidFill>
                <a:latin typeface="Microsoft YaHei"/>
              </a:rPr>
              <a:t>瑞幸咖啡 · 北美质量保障部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282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a:eastAsianTypeface="Microsoft YaHei">
                <a:solidFill>
                  <a:srgbClr val="5F6978"/>
                </a:solidFill>
                <a:latin typeface="Microsoft YaHei"/>
              </a:rPr>
              <a:t>19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417320"/>
          <a:ext cx="5943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6720840" y="1417320"/>
            <a:ext cx="493776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30568" y="1472184"/>
            <a:ext cx="47183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关键变化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728216"/>
            <a:ext cx="4937760" cy="3803904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67144" y="1847088"/>
            <a:ext cx="4645152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>店均关键项 S 上升：0.44 → 0.62</a:t>
            </a:r>
          </a:p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>7 月主巡检 13 个 S 项中 10 个为 Sinks and Pipes / air gap，另 3 个来自新店（交叉污染 2、洗手规范 1），设施类短板仍未根治。</a:t>
            </a:r>
          </a:p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>店均重点项 M 持平：0.33 → 0.33</a:t>
            </a:r>
          </a:p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>7 起 M 项中 5 起为开封后效期标签缺失，集中度极高，属可运营闭环项。</a:t>
            </a:r>
          </a:p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>店均一般项 G 上升：3.22 → 3.43</a:t>
            </a:r>
          </a:p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>主要为清洁卫生类（49 项），冰箱顶积尘、器具残留、消毒残留为最高频描述。</a:t>
            </a:r>
          </a:p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>店均轻微项 L 下降：0.89 → 0.71</a:t>
            </a:r>
          </a:p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>※ 口径：均以当月主巡检门店数为分母（6 月 18 家 / 7 月 21 家）。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a:eastAsianTypeface="Microsoft YaHei">
                <a:solidFill>
                  <a:srgbClr val="1E2D41"/>
                </a:solidFill>
                <a:latin typeface="Microsoft YaHei"/>
              </a:rPr>
              <a:t>稽核模块风险分析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01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a:eastAsianTypeface="Microsoft YaHei">
                <a:solidFill>
                  <a:srgbClr val="5F6978"/>
                </a:solidFill>
                <a:latin typeface="Microsoft YaHei"/>
              </a:rPr>
              <a:t>主巡检 8 模块扣分排名（21 家门店）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41908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a:eastAsianTypeface="Microsoft YaHei">
                <a:solidFill>
                  <a:srgbClr val="1F3864"/>
                </a:solidFill>
                <a:latin typeface="Microsoft YaHei"/>
              </a:rPr>
              <a:t>瑞幸咖啡 · 北美质量保障部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282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a:eastAsianTypeface="Microsoft YaHei">
                <a:solidFill>
                  <a:srgbClr val="5F6978"/>
                </a:solidFill>
                <a:latin typeface="Microsoft YaHei"/>
              </a:rPr>
              <a:t>20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371600"/>
          <a:ext cx="676656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498079" y="1371600"/>
            <a:ext cx="416052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07807" y="1426464"/>
            <a:ext cx="39410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风险分层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682496"/>
            <a:ext cx="4160520" cy="4169663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44383" y="1801368"/>
            <a:ext cx="3867911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系统性问题（≥50% 门店）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清洁卫生（100%，-118）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设施（57.1%，-56，含 10 个关键项）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中等覆盖面（30–49%）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本月无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低覆盖面问题（&lt;30%）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温控有效期 -25（全部为 M 项 · 效期标签）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过程控制 -24（含 2 个新店关键项）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虫害防控 -11（本月新增进入主巡检）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职业安全 -10、员工健康卫生 -9、设备维护 -6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证照 / 供应链 本月主巡检无扣分。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a:eastAsianTypeface="Microsoft YaHei">
                <a:solidFill>
                  <a:srgbClr val="1E2D41"/>
                </a:solidFill>
                <a:latin typeface="Microsoft YaHei"/>
              </a:rPr>
              <a:t>稽核关键项 S &amp; 重点项 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01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a:eastAsianTypeface="Microsoft YaHei">
                <a:solidFill>
                  <a:srgbClr val="5F6978"/>
                </a:solidFill>
                <a:latin typeface="Microsoft YaHei"/>
              </a:rPr>
              <a:t>主巡检关键项 13 项 / 重点项 7 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41908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a:eastAsianTypeface="Microsoft YaHei">
                <a:solidFill>
                  <a:srgbClr val="1F3864"/>
                </a:solidFill>
                <a:latin typeface="Microsoft YaHei"/>
              </a:rPr>
              <a:t>瑞幸咖啡 · 北美质量保障部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282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a:eastAsianTypeface="Microsoft YaHei">
                <a:solidFill>
                  <a:srgbClr val="5F6978"/>
                </a:solidFill>
                <a:latin typeface="Microsoft YaHei"/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548640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335024"/>
            <a:ext cx="5266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关键项（S）明细 — 共 13 项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18488"/>
          <a:ext cx="5486399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241"/>
                <a:gridCol w="945931"/>
                <a:gridCol w="2774731"/>
                <a:gridCol w="504496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门店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子类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问题描述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扣分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54th &amp; 8th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水槽与管道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Plumbing fixtures behind milk machine not to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-5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102 Fulton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水槽与管道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Airgap compliance breached on following drai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-5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33rd &amp; 10th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水槽与管道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Airgap not within standard.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-5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48th &amp; 3rd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洗手规范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No paper towel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-5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48th &amp; 3rd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交叉污染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A spoiled milk isn’t disposed and not marked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-5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154 Bleecker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水槽与管道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Handwashing / 3 compartment sink continues t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-5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40th &amp; 10th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水槽与管道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Piping too close to filter / Wrapping coming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-5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29th &amp; 3rd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水槽与管道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Faulty Pipe wrapping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-5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21st &amp; 3rd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水槽与管道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Grease trap piping touching filter.   Airgap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-5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6817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a:eastAsianTypeface="Microsoft YaHei">
                <a:solidFill>
                  <a:srgbClr val="5F6978"/>
                </a:solidFill>
                <a:latin typeface="Microsoft YaHei"/>
              </a:rPr>
              <a:t>※ 列示前 9 项，其余 4 项见月度分析报告 docx §3.2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280160"/>
            <a:ext cx="548640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1335024"/>
            <a:ext cx="5266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重点项（M）明细 — 共 7 项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172200" y="1618488"/>
          <a:ext cx="548639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241"/>
                <a:gridCol w="945931"/>
                <a:gridCol w="2774731"/>
                <a:gridCol w="504496"/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门店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模块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问题描述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扣分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100 Maiden Ln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温控有效期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Missing date.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-5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54th &amp; 8th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温控有效期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Missing expiration label.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-5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54th &amp; 8th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清洁卫生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Sanitizer reading below standard.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-5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102 Fulton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温控有效期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Missing expiration date on syrup bottle.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-5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16th &amp; 6th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温控有效期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Missing expiration tag on syrup bottle.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-5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128 W 32nd St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温控有效期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No label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-5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15th &amp; 3rd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虫害防控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Live cockroach found running across floo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222222"/>
                          </a:solidFill>
                          <a:latin typeface="Microsoft YaHei"/>
                        </a:rPr>
                        <a:t>-5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502920" y="4983480"/>
            <a:ext cx="111556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" y="5102352"/>
            <a:ext cx="10863072" cy="1042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关键项 S 高度集中：13 个主巡检 S 项中 10 个为「水槽与管道 / 气隙」（54th &amp; 8th、102 Fulton、33rd &amp; 10th、154 Bleecker、40th &amp; 10th、29th &amp; 3rd、21st &amp; 3rd、15th &amp; 3rd、221 Grand、52nd &amp; Madison）；另 3 个来自新店区经检查。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⚠ 10 个 air gap 关键项已全部经申诉获批、扣分归零，但物理问题未整改（详见下页跨月台账）。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重点项 M：效期管理 5 项、清洁与消毒 1 项、虫害防控 1 项（15th &amp; 3rd 发现活蟑螂，需 7 天内闭环）。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a:eastAsianTypeface="Microsoft YaHei">
                <a:solidFill>
                  <a:srgbClr val="1E2D41"/>
                </a:solidFill>
                <a:latin typeface="Microsoft YaHei"/>
              </a:rPr>
              <a:t>典型案例 — 水槽与管道 / 气隙（关键项 S）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01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a:eastAsianTypeface="Microsoft YaHei">
                <a:solidFill>
                  <a:srgbClr val="5F6978"/>
                </a:solidFill>
                <a:latin typeface="Microsoft YaHei"/>
              </a:rPr>
              <a:t>设施模块 · 主巡检 10 个关键项属此类 · 全月 17 起、跨 11 家门店 · 连续第三个月未根治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41908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a:eastAsianTypeface="Microsoft YaHei">
                <a:solidFill>
                  <a:srgbClr val="1F3864"/>
                </a:solidFill>
                <a:latin typeface="Microsoft YaHei"/>
              </a:rPr>
              <a:t>瑞幸咖啡 · 北美质量保障部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282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a:eastAsianTypeface="Microsoft YaHei">
                <a:solidFill>
                  <a:srgbClr val="5F6978"/>
                </a:solidFill>
                <a:latin typeface="Microsoft YaHei"/>
              </a:rP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2651760" cy="91440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389888"/>
            <a:ext cx="23957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a:eastAsianTypeface="Microsoft YaHei">
                <a:solidFill>
                  <a:srgbClr val="C82D2D"/>
                </a:solidFill>
                <a:latin typeface="Microsoft YaHei"/>
              </a:rPr>
              <a:t>10 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792224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主巡检关键项（水槽与管道）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280160"/>
            <a:ext cx="2651760" cy="91440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83864" y="1389888"/>
            <a:ext cx="23957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a:eastAsianTypeface="Microsoft YaHei">
                <a:solidFill>
                  <a:srgbClr val="C82D2D"/>
                </a:solidFill>
                <a:latin typeface="Microsoft YaHei"/>
              </a:rPr>
              <a:t>17 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3864" y="1792224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全月（含自检 / 区经）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1938528"/>
            <a:ext cx="23957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6 月 13 起，+4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280160"/>
            <a:ext cx="2651760" cy="91440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8504" y="1389888"/>
            <a:ext cx="23957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a:eastAsianTypeface="Microsoft YaHei">
                <a:solidFill>
                  <a:srgbClr val="C82D2D"/>
                </a:solidFill>
                <a:latin typeface="Microsoft YaHei"/>
              </a:rPr>
              <a:t>11 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4" y="1792224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涉及门店（全月）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1938528"/>
            <a:ext cx="23957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6 月 10 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6840" y="1280160"/>
            <a:ext cx="2651760" cy="91440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53144" y="1389888"/>
            <a:ext cx="23957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a:eastAsianTypeface="Microsoft YaHei">
                <a:solidFill>
                  <a:srgbClr val="C82D2D"/>
                </a:solidFill>
                <a:latin typeface="Microsoft YaHei"/>
              </a:rPr>
              <a:t>连续 3 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3144" y="1792224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相同问题未解决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3144" y="1938528"/>
            <a:ext cx="23957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9 家两月复现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377440"/>
            <a:ext cx="1115568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2432304"/>
            <a:ext cx="109362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问题描述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688336"/>
            <a:ext cx="111556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" y="2807208"/>
            <a:ext cx="10863072" cy="1042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54th &amp; 8th：milk machine 后方管道装置不符标准。　102 Fulton：冰机与滴滤机下方地漏 air gap 不合规。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154 Bleecker：洗手池 / 三槽池排水持续外溢，滴滤机下方地漏 backflow。　40th &amp; 10th：管道距滤芯过近、包覆层脱落。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21st &amp; 3rd：油脂阱管道触碰滤芯、咖啡机下方 air gap 不合规。　221 Grand：滴滤机下方管道触碰滤芯。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33rd &amp; 10th / 15th &amp; 3rd / 52nd &amp; Madison：air gap 不符标准（含三槽池）。　29th &amp; 3rd：管道包覆异常。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114800"/>
            <a:ext cx="548640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4169663"/>
            <a:ext cx="5266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问题分析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425696"/>
            <a:ext cx="54864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" y="4544568"/>
            <a:ext cx="5193792" cy="1545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属设施 / 管道结构性问题，非门店日常操作可闭环，需 BD / 营建介入。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4–6 月已连续识别同类 air gap 短板，7 月仍跨 11 家门店出现且起数上升，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说明「整改工单 + 申诉调分」的现行机制未能推动实物整改。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4114800"/>
            <a:ext cx="548640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81928" y="4169663"/>
            <a:ext cx="5266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整改建议（P0）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4425696"/>
            <a:ext cx="54864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18504" y="4544568"/>
            <a:ext cx="5193792" cy="1545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① 由「整改工单」升级为「BD 专项工程」，逐店出具管道 / air gap 改造方案与完工验收单。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② QA 复检以实物验收为准，不接受仅申诉调分。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③ 对连续两月复现门店设定 8 月底前完工时限，未闭环纳入门店考核。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a:eastAsianTypeface="Microsoft YaHei">
                <a:solidFill>
                  <a:srgbClr val="1E2D41"/>
                </a:solidFill>
                <a:latin typeface="Microsoft YaHei"/>
              </a:rPr>
              <a:t>Air Gap 跨月追踪台账（6 月 → 7 月）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01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a:eastAsianTypeface="Microsoft YaHei">
                <a:solidFill>
                  <a:srgbClr val="5F6978"/>
                </a:solidFill>
                <a:latin typeface="Microsoft YaHei"/>
              </a:rPr>
              <a:t>落实 6 月报告 P0 要求建立的跨月关键项台账 · 逐店记录复现状态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41908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a:eastAsianTypeface="Microsoft YaHei">
                <a:solidFill>
                  <a:srgbClr val="1F3864"/>
                </a:solidFill>
                <a:latin typeface="Microsoft YaHei"/>
              </a:rPr>
              <a:t>瑞幸咖啡 · 北美质量保障部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282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a:eastAsianTypeface="Microsoft YaHei">
                <a:solidFill>
                  <a:srgbClr val="5F6978"/>
                </a:solidFill>
                <a:latin typeface="Microsoft YaHei"/>
              </a:rPr>
              <a:t>23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25880"/>
          <a:ext cx="5577837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6108"/>
                <a:gridCol w="1014152"/>
                <a:gridCol w="579515"/>
                <a:gridCol w="579515"/>
                <a:gridCol w="1738547"/>
              </a:tblGrid>
              <a:tr h="302455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门店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6 月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7 月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跨月状态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28th &amp; 6th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US00002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EB9119"/>
                          </a:solidFill>
                          <a:latin typeface="Microsoft YaHei"/>
                        </a:rPr>
                        <a:t>7 月新增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54th &amp; 8th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US00005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82D2D"/>
                          </a:solidFill>
                          <a:latin typeface="Microsoft YaHei"/>
                        </a:rPr>
                        <a:t>连续两月复现（未根治）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102 Fulton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US00006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82D2D"/>
                          </a:solidFill>
                          <a:latin typeface="Microsoft YaHei"/>
                        </a:rPr>
                        <a:t>连续两月复现（未根治）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33rd &amp; 10th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US00008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82D2D"/>
                          </a:solidFill>
                          <a:latin typeface="Microsoft YaHei"/>
                        </a:rPr>
                        <a:t>连续两月复现（未根治）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154 Bleecker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US00010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82D2D"/>
                          </a:solidFill>
                          <a:latin typeface="Microsoft YaHei"/>
                        </a:rPr>
                        <a:t>连续两月复现（未根治）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16th &amp; 6th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US00012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288C5A"/>
                          </a:solidFill>
                          <a:latin typeface="Microsoft YaHei"/>
                        </a:rPr>
                        <a:t>7 月已消除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40th &amp; 10th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US00018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EB9119"/>
                          </a:solidFill>
                          <a:latin typeface="Microsoft YaHei"/>
                        </a:rPr>
                        <a:t>7 月新增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29th &amp; 3rd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US00019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82D2D"/>
                          </a:solidFill>
                          <a:latin typeface="Microsoft YaHei"/>
                        </a:rPr>
                        <a:t>连续两月复现（未根治）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21st &amp; 3rd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US00020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82D2D"/>
                          </a:solidFill>
                          <a:latin typeface="Microsoft YaHei"/>
                        </a:rPr>
                        <a:t>连续两月复现（未根治）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15th &amp; 3rd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US00024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82D2D"/>
                          </a:solidFill>
                          <a:latin typeface="Microsoft YaHei"/>
                        </a:rPr>
                        <a:t>连续两月复现（未根治）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221 Grand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US00025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82D2D"/>
                          </a:solidFill>
                          <a:latin typeface="Microsoft YaHei"/>
                        </a:rPr>
                        <a:t>连续两月复现（未根治）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30246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52nd &amp; Madison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US00027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82D2D"/>
                          </a:solidFill>
                          <a:latin typeface="Microsoft YaHei"/>
                        </a:rPr>
                        <a:t>连续两月复现（未根治）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309360" y="1325880"/>
            <a:ext cx="1691640" cy="91440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435607"/>
            <a:ext cx="14356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C82D2D"/>
                </a:solidFill>
                <a:latin typeface="Microsoft YaHei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5664" y="1837943"/>
            <a:ext cx="14356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连续两月复现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325880"/>
            <a:ext cx="1691640" cy="91440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4464" y="1435607"/>
            <a:ext cx="14356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EB9119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4464" y="1837943"/>
            <a:ext cx="14356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7 月新增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66960" y="1325880"/>
            <a:ext cx="1691640" cy="91440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13264" y="1435607"/>
            <a:ext cx="14356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288C5A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13264" y="1837943"/>
            <a:ext cx="14356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7 月已消除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468880"/>
            <a:ext cx="534924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2523744"/>
            <a:ext cx="512978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台账结论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779776"/>
            <a:ext cx="534924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5664" y="2898648"/>
            <a:ext cx="5056631" cy="22311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6 月 10 家 → 7 月 11 家；连续两月复现 9 家、新增 2 家（28th &amp; 6th、40th &amp; 10th）、已消除 1 家（16th &amp; 6th）。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结论：6 月 P0（48 小时闭环 + BD 整改清单）执行未见成效——9/10 的 6 月问题门店在 7 月再次命中同类关键项，且全月起数由 13 升至 17。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这些门店的 QA 分数已通过申诉恢复至 90+，但物理管道问题仍在，形成「分数已修复、风险未消除」的错配，是本月最需管理层介入的事项。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a:eastAsianTypeface="Microsoft YaHei">
                <a:solidFill>
                  <a:srgbClr val="1E2D41"/>
                </a:solidFill>
                <a:latin typeface="Microsoft YaHei"/>
              </a:rPr>
              <a:t>典型案例 — 效期标签与消毒管理（重点项 M）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01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a:eastAsianTypeface="Microsoft YaHei">
                <a:solidFill>
                  <a:srgbClr val="5F6978"/>
                </a:solidFill>
                <a:latin typeface="Microsoft YaHei"/>
              </a:rPr>
              <a:t>开封后效期标签缺失为本月最集中重点项（5/7）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41908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a:eastAsianTypeface="Microsoft YaHei">
                <a:solidFill>
                  <a:srgbClr val="1F3864"/>
                </a:solidFill>
                <a:latin typeface="Microsoft YaHei"/>
              </a:rPr>
              <a:t>瑞幸咖啡 · 北美质量保障部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282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a:eastAsianTypeface="Microsoft YaHei">
                <a:solidFill>
                  <a:srgbClr val="5F6978"/>
                </a:solidFill>
                <a:latin typeface="Microsoft YaHei"/>
              </a:rP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1115568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335024"/>
            <a:ext cx="109362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问题描述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91056"/>
            <a:ext cx="11155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709928"/>
            <a:ext cx="10863072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100 Maiden Ln：产品缺少效期日期。　54th &amp; 8th：缺少效期标签；消毒液读数低于标准。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102 Fulton：糖浆瓶缺少效期日期。　16th &amp; 6th：糖浆瓶缺少效期标签。　128 W 32nd St（新店）：无标签。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15th &amp; 3rd：楼下发现活蟑螂爬行，捕虫器已满（虫害防控 M 项，需 7 天内闭环并复检）。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063240"/>
            <a:ext cx="548640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3118104"/>
            <a:ext cx="5266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问题分析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374136"/>
            <a:ext cx="548640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3493008"/>
            <a:ext cx="5193792" cy="2414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效期标签缺失 5 起中，3 起为糖浆瓶——集中于同一物料类型，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指向吧台开封后贴标环节的执行断点，而非普遍性 SOP 缺失。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该类问题属门店日常 SOP 执行与班次检查不到位，可完全运营闭环。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与供应链侧 8 起「奶类效期标签缺失」形成呼应：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门店端与供应商端同时存在效期标识管理薄弱。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063240"/>
            <a:ext cx="548640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3118104"/>
            <a:ext cx="5266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整改建议（P1）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3374136"/>
            <a:ext cx="548640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4" y="3493008"/>
            <a:ext cx="5193792" cy="2414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① 开封后效期标签纳入每日开店清单必检项，糖浆瓶为重点。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② 建议标签打印机点位前置到吧台，减少贴标动线断点。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③ 消毒液浓度（PPM）每班次校准并留痕。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④ 15th &amp; 3rd 立即启动灭治并于 7 日内复检；全店排查虫控服务报告归档完整性（23rd &amp; 8th 6 月服务报告缺失）。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a:eastAsianTypeface="Microsoft YaHei">
                <a:solidFill>
                  <a:srgbClr val="1E2D41"/>
                </a:solidFill>
                <a:latin typeface="Microsoft YaHei"/>
              </a:rPr>
              <a:t>新增风险面 — 虫害防控（Pest Control）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01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a:eastAsianTypeface="Microsoft YaHei">
                <a:solidFill>
                  <a:srgbClr val="5F6978"/>
                </a:solidFill>
                <a:latin typeface="Microsoft YaHei"/>
              </a:rPr>
              <a:t>本月首次进入主巡检 · 6 月主巡检 0 项 → 7 月 4 项 / 3 家门店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41908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a:eastAsianTypeface="Microsoft YaHei">
                <a:solidFill>
                  <a:srgbClr val="1F3864"/>
                </a:solidFill>
                <a:latin typeface="Microsoft YaHei"/>
              </a:rPr>
              <a:t>瑞幸咖啡 · 北美质量保障部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282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a:eastAsianTypeface="Microsoft YaHei">
                <a:solidFill>
                  <a:srgbClr val="5F6978"/>
                </a:solidFill>
                <a:latin typeface="Microsoft YaHei"/>
              </a:rPr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2651760" cy="100584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435607"/>
            <a:ext cx="23957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C82D2D"/>
                </a:solidFill>
                <a:latin typeface="Microsoft YaHei"/>
              </a:rPr>
              <a:t>4 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837943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主巡检虫害防控扣分项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075687"/>
            <a:ext cx="23957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6 月 0 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325880"/>
            <a:ext cx="2651760" cy="100584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3864" y="1435607"/>
            <a:ext cx="23957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EB9119"/>
                </a:solidFill>
                <a:latin typeface="Microsoft YaHei"/>
              </a:rPr>
              <a:t>3 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1837943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涉及门店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3864" y="2075687"/>
            <a:ext cx="23957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覆盖率 14.3%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325880"/>
            <a:ext cx="2651760" cy="100584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1435607"/>
            <a:ext cx="23957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C82D2D"/>
                </a:solidFill>
                <a:latin typeface="Microsoft YaHe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1837943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重点项 M（活蟑螂）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4" y="2075687"/>
            <a:ext cx="23957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15th &amp; 3rd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0" y="1325880"/>
            <a:ext cx="2651760" cy="100584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53144" y="1435607"/>
            <a:ext cx="23957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EB9119"/>
                </a:solidFill>
                <a:latin typeface="Microsoft YaHei"/>
              </a:rPr>
              <a:t>-11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3144" y="1837943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主巡检扣分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3144" y="2075687"/>
            <a:ext cx="23957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全月 15 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514600"/>
            <a:ext cx="1115568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2569464"/>
            <a:ext cx="109362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问题明细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02920" y="2852928"/>
          <a:ext cx="111556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424"/>
                <a:gridCol w="2231136"/>
                <a:gridCol w="836676"/>
                <a:gridCol w="5856732"/>
                <a:gridCol w="743712"/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门店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子项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严重度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问题描述（原文）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扣分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15th &amp; 3rd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No Sign of Insect Pests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Live cockroach found running across floor. (Downstairs) / Traps filled with bugs.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-5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21st &amp; 3rd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No Sign of Insect Pests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Flies seen on drainage system.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-2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21st &amp; 3rd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Prevent pests from outside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Air curtain out of commission.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-2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23rd &amp; 8th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Pest control devices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Service report for June missing.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-2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502920" y="4572000"/>
            <a:ext cx="548640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4626864"/>
            <a:ext cx="5266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问题分析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882896"/>
            <a:ext cx="54864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" y="5001768"/>
            <a:ext cx="5193792" cy="1179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三家门店问题互不相同但同指虫控体系薄弱：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实体虫害（活蟑螂 / 蝇）、物理屏障失效（风幕机停用）、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以及服务记录缺失（6 月虫控报告未归档）。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该模块 6 月主巡检为 0，属新出现风险面，需即时干预。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⚠ 但主巡检并非全貌：第三方服务商 Orkin 7 月在 8 家门店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发现虫害痕迹，与本页仅重合 1 家 —— 详见下页。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4572000"/>
            <a:ext cx="548640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81928" y="4626864"/>
            <a:ext cx="5266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整改建议（P1）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4882896"/>
            <a:ext cx="54864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18504" y="5001768"/>
            <a:ext cx="5193792" cy="1179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① 15th &amp; 3rd 立即启动灭治并 7 日内复检，捕虫器更换周期改为每周。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② 21st &amp; 3rd 风幕机立即报修；排水系统清理消杀。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③ 全店排查虫控服务报告归档完整性，服务改为月度双向签认——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   7 月 21 家门店服务报告已全部到齐（见下页），归档缺口已补上。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a:eastAsianTypeface="Microsoft YaHei">
                <a:solidFill>
                  <a:srgbClr val="1E2D41"/>
                </a:solidFill>
                <a:latin typeface="Microsoft YaHei"/>
              </a:rPr>
              <a:t>虫害防控 — 第三方服务商视角（Orkin）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01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a:eastAsianTypeface="Microsoft YaHei">
                <a:solidFill>
                  <a:srgbClr val="5F6978"/>
                </a:solidFill>
                <a:latin typeface="Microsoft YaHei"/>
              </a:rPr>
              <a:t>21 家门店月度例行消杀 · 07/08/2026 ~ 07/30/2026 · 数据源：July Service Report（逐店 PDF 服务报告）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41908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a:eastAsianTypeface="Microsoft YaHei">
                <a:solidFill>
                  <a:srgbClr val="1F3864"/>
                </a:solidFill>
                <a:latin typeface="Microsoft YaHei"/>
              </a:rPr>
              <a:t>瑞幸咖啡 · 北美质量保障部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282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a:eastAsianTypeface="Microsoft YaHei">
                <a:solidFill>
                  <a:srgbClr val="5F6978"/>
                </a:solidFill>
                <a:latin typeface="Microsoft YaHei"/>
              </a:rPr>
              <a:t>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2651760" cy="100584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435607"/>
            <a:ext cx="23957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288C5A"/>
                </a:solidFill>
                <a:latin typeface="Microsoft YaHei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837943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服务门店 / 覆盖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075687"/>
            <a:ext cx="23957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每店 1 次月度例行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325880"/>
            <a:ext cx="2651760" cy="100584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3864" y="1435607"/>
            <a:ext cx="23957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C82D2D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1837943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活体发现 / Live activity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3864" y="2075687"/>
            <a:ext cx="23957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3 家门店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325880"/>
            <a:ext cx="2651760" cy="100584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1435607"/>
            <a:ext cx="23957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C82D2D"/>
                </a:solidFill>
                <a:latin typeface="Microsoft YaHei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1837943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有虫害痕迹门店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4" y="2075687"/>
            <a:ext cx="23957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活体 + 死体，主巡检仅点名 3 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0" y="1325880"/>
            <a:ext cx="2651760" cy="100584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53144" y="1435607"/>
            <a:ext cx="23957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005EB8"/>
                </a:solidFill>
                <a:latin typeface="Microsoft YaHei"/>
              </a:rPr>
              <a:t>$2,559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3144" y="1837943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本月服务费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3144" y="2075687"/>
            <a:ext cx="23957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21 次 × $97.99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487168"/>
            <a:ext cx="676656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2542032"/>
            <a:ext cx="65471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虫害痕迹明细 / Activity found by Orkin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02920" y="2825496"/>
          <a:ext cx="6766558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0673"/>
                <a:gridCol w="979370"/>
                <a:gridCol w="1691640"/>
                <a:gridCol w="2314875"/>
              </a:tblGrid>
              <a:tr h="23876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门店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活体/死体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虫种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33rd &amp; 10th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活体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Flies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Drains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48th &amp; 3rd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活体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Fruit Flies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Common Area(s)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52nd &amp; Madison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活体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House Flies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Drains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102 Fulton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死体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American Cockroaches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Basement Level, Storage Ro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108th &amp; Broadway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死体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American Cockroaches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Basement Level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15th &amp; 3rd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死体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American Cockroaches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221 Grand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死体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Occasional Invaders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Common Area(s)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54th &amp; 8th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死体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Centipedes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Dishwashing Area(s)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7498079" y="2487168"/>
            <a:ext cx="416052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7807" y="2542032"/>
            <a:ext cx="39410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与主巡检的交叉核对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79" y="2825496"/>
            <a:ext cx="41605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44383" y="2944368"/>
            <a:ext cx="3867911" cy="191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>主巡检点名 3 家（上页）：15th &amp; 3rd、21st &amp; 3rd、23rd &amp; 8th</a:t>
            </a:r>
          </a:p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>Orkin 发现痕迹 8 家。</a:t>
            </a:r>
          </a:p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>「两者仅重合 1 家（15th &amp; 3rd）」，合并口径下本月有虫害信号的门店为 「10 家」——</a:t>
            </a:r>
          </a:p>
          <a:p>
            <a:pPr algn="l">
              <a:lnSpc>
                <a:spcPct val="125000"/>
              </a:lnSpc>
            </a:pPr>
            <a:r>
              <a:rPr sz="900" b="0" a:eastAsianTypeface="Microsoft YaHei">
                <a:solidFill>
                  <a:srgbClr val="222222"/>
                </a:solidFill>
                <a:latin typeface="Microsoft YaHei"/>
              </a:rPr>
              <a:t>是主巡检单一视角的 3.3 倍。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102352"/>
            <a:ext cx="548640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" y="5157216"/>
            <a:ext cx="5266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问题分析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413248"/>
            <a:ext cx="54864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" y="5532120"/>
            <a:ext cx="519379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a:eastAsianTypeface="Microsoft YaHei">
                <a:solidFill>
                  <a:srgbClr val="222222"/>
                </a:solidFill>
                <a:latin typeface="Microsoft YaHei"/>
              </a:rPr>
              <a:t>· 活体 3 起中 2 起在地漏/排水（33rd &amp; 10th、52nd &amp; Madison），</a:t>
            </a:r>
          </a:p>
          <a:p>
            <a:pPr algn="l">
              <a:lnSpc>
                <a:spcPct val="125000"/>
              </a:lnSpc>
            </a:pPr>
            <a:r>
              <a:rPr sz="850" b="0" a:eastAsianTypeface="Microsoft YaHei">
                <a:solidFill>
                  <a:srgbClr val="222222"/>
                </a:solidFill>
                <a:latin typeface="Microsoft YaHei"/>
              </a:rPr>
              <a:t>  与主巡检 21st &amp; 3rd「蝇集中于排水系统」同源；</a:t>
            </a:r>
          </a:p>
          <a:p>
            <a:pPr algn="l">
              <a:lnSpc>
                <a:spcPct val="125000"/>
              </a:lnSpc>
            </a:pPr>
            <a:r>
              <a:rPr sz="850" b="0" a:eastAsianTypeface="Microsoft YaHei">
                <a:solidFill>
                  <a:srgbClr val="222222"/>
                </a:solidFill>
                <a:latin typeface="Microsoft YaHei"/>
              </a:rPr>
              <a:t>· 死体以地下室/储藏区美洲蟑螂为主（102 Fulton、108th &amp; Broadway、15th &amp; 3rd）；</a:t>
            </a:r>
          </a:p>
          <a:p>
            <a:pPr algn="l">
              <a:lnSpc>
                <a:spcPct val="125000"/>
              </a:lnSpc>
            </a:pPr>
            <a:r>
              <a:rPr sz="850" b="0" a:eastAsianTypeface="Microsoft YaHei">
                <a:solidFill>
                  <a:srgbClr val="222222"/>
                </a:solidFill>
                <a:latin typeface="Microsoft YaHei"/>
              </a:rPr>
              <a:t>· 6 月遗留 4 项预防处理仍未闭环（含 21st &amp; 3rd）。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5102352"/>
            <a:ext cx="548640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5157216"/>
            <a:ext cx="5266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整改建议（P1）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5413248"/>
            <a:ext cx="54864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18504" y="5532120"/>
            <a:ext cx="519379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a:eastAsianTypeface="Microsoft YaHei">
                <a:solidFill>
                  <a:srgbClr val="222222"/>
                </a:solidFill>
                <a:latin typeface="Microsoft YaHei"/>
              </a:rPr>
              <a:t>① 排水/地漏专项：清理消杀 + 加装防虫网，按周复检至连续两次无蝇。</a:t>
            </a:r>
          </a:p>
          <a:p>
            <a:pPr algn="l">
              <a:lnSpc>
                <a:spcPct val="125000"/>
              </a:lnSpc>
            </a:pPr>
            <a:r>
              <a:rPr sz="850" b="0" a:eastAsianTypeface="Microsoft YaHei">
                <a:solidFill>
                  <a:srgbClr val="222222"/>
                </a:solidFill>
                <a:latin typeface="Microsoft YaHei"/>
              </a:rPr>
              <a:t>② 地下室/储藏区：美洲蟑螂重点布控，捕虫器改周更换并记录数量趋势。</a:t>
            </a:r>
          </a:p>
          <a:p>
            <a:pPr algn="l">
              <a:lnSpc>
                <a:spcPct val="125000"/>
              </a:lnSpc>
            </a:pPr>
            <a:r>
              <a:rPr sz="850" b="0" a:eastAsianTypeface="Microsoft YaHei">
                <a:solidFill>
                  <a:srgbClr val="222222"/>
                </a:solidFill>
                <a:latin typeface="Microsoft YaHei"/>
              </a:rPr>
              <a:t>③ 将 Orkin 服务报告纳入月度稽核输入，避免「主巡检没发现 = 没问题」</a:t>
            </a:r>
          </a:p>
          <a:p>
            <a:pPr algn="l">
              <a:lnSpc>
                <a:spcPct val="125000"/>
              </a:lnSpc>
            </a:pPr>
            <a:r>
              <a:rPr sz="850" b="0" a:eastAsianTypeface="Microsoft YaHei">
                <a:solidFill>
                  <a:srgbClr val="222222"/>
                </a:solidFill>
                <a:latin typeface="Microsoft YaHei"/>
              </a:rPr>
              <a:t>  的盲区。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a:eastAsianTypeface="Microsoft YaHei">
                <a:solidFill>
                  <a:srgbClr val="1E2D41"/>
                </a:solidFill>
                <a:latin typeface="Microsoft YaHei"/>
              </a:rPr>
              <a:t>设施（BD / 营建）扣分归因分析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01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a:eastAsianTypeface="Microsoft YaHei">
                <a:solidFill>
                  <a:srgbClr val="5F6978"/>
                </a:solidFill>
                <a:latin typeface="Microsoft YaHei"/>
              </a:rPr>
              <a:t>综合 QA、门店自检、区经三类巡检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41908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a:eastAsianTypeface="Microsoft YaHei">
                <a:solidFill>
                  <a:srgbClr val="1F3864"/>
                </a:solidFill>
                <a:latin typeface="Microsoft YaHei"/>
              </a:rPr>
              <a:t>瑞幸咖啡 · 北美质量保障部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282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a:eastAsianTypeface="Microsoft YaHei">
                <a:solidFill>
                  <a:srgbClr val="5F6978"/>
                </a:solidFill>
                <a:latin typeface="Microsoft YaHei"/>
              </a:rPr>
              <a:t>27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2651760" cy="100584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435607"/>
            <a:ext cx="23957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C82D2D"/>
                </a:solidFill>
                <a:latin typeface="Microsoft YaHei"/>
              </a:rPr>
              <a:t>-56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837943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设施扣分（21 家口径）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075687"/>
            <a:ext cx="23957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主巡检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325880"/>
            <a:ext cx="2651760" cy="100584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3864" y="1435607"/>
            <a:ext cx="23957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a:eastAsianTypeface="Microsoft YaHei">
                <a:solidFill>
                  <a:srgbClr val="C82D2D"/>
                </a:solidFill>
                <a:latin typeface="Microsoft YaHei"/>
              </a:rPr>
              <a:t>10 / 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1837943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主巡检设施关键项 / 占关键项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3864" y="2075687"/>
            <a:ext cx="23957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77%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325880"/>
            <a:ext cx="2651760" cy="100584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1435607"/>
            <a:ext cx="23957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C82D2D"/>
                </a:solidFill>
                <a:latin typeface="Microsoft YaHei"/>
              </a:rPr>
              <a:t>17 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1837943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全月 Sinks and Pipes S 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4" y="2075687"/>
            <a:ext cx="23957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6 月 13 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0" y="1325880"/>
            <a:ext cx="2651760" cy="100584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53144" y="1435607"/>
            <a:ext cx="23957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C82D2D"/>
                </a:solidFill>
                <a:latin typeface="Microsoft YaHei"/>
              </a:rPr>
              <a:t>11 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3144" y="1837943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全月涉及门店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3144" y="2075687"/>
            <a:ext cx="23957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6 月 10 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514600"/>
            <a:ext cx="1115568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2569464"/>
            <a:ext cx="109362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问题类型与责任归因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825496"/>
            <a:ext cx="111556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" y="2944368"/>
            <a:ext cx="10863072" cy="1453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问题类型：air gap 间距不足 / 不合规（最高频）、管道包覆层脱落或缺失、管道与滤芯间距过近、排水 backflow 与外溢、油脂阱管道异常、地漏连接不当。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设施模块主巡检扣分 -56 分、覆盖 12/21 家（57.1%），且包含 10 个关键项（占全部关键项 77%）。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分数虽因申诉整体回升，但该类风险仍为 P0——本月 10 个 air gap 关键项 100% 申诉获批，扣分归零，实物整改状态无系统记录。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663440"/>
            <a:ext cx="1115568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" y="4718303"/>
            <a:ext cx="109362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整改建议（P0 · BD / 营建）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974336"/>
            <a:ext cx="111556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" y="5093208"/>
            <a:ext cx="10863072" cy="10881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① BD 整改清单按门店逐项派单，明确 owner、预计完成日、复查人，8 月底前完工。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② 对 9 家连续两月复现门店（54th &amp; 8th、102 Fulton、33rd &amp; 10th、154 Bleecker、29th &amp; 3rd、21st &amp; 3rd 等）优先排期。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③ 申诉获批与整改工单双向绑定：以「整改后复核」为由获批的，须留存完工验收单与整改前后照片。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a:eastAsianTypeface="Microsoft YaHei">
                <a:solidFill>
                  <a:srgbClr val="1E2D41"/>
                </a:solidFill>
                <a:latin typeface="Microsoft YaHei"/>
              </a:rPr>
              <a:t>设备（Equipment）扣分项分析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01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a:eastAsianTypeface="Microsoft YaHei">
                <a:solidFill>
                  <a:srgbClr val="5F6978"/>
                </a:solidFill>
                <a:latin typeface="Microsoft YaHei"/>
              </a:rPr>
              <a:t>综合 QA、门店自检、区经三类巡检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41908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a:eastAsianTypeface="Microsoft YaHei">
                <a:solidFill>
                  <a:srgbClr val="1F3864"/>
                </a:solidFill>
                <a:latin typeface="Microsoft YaHei"/>
              </a:rPr>
              <a:t>瑞幸咖啡 · 北美质量保障部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282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a:eastAsianTypeface="Microsoft YaHei">
                <a:solidFill>
                  <a:srgbClr val="5F6978"/>
                </a:solidFill>
                <a:latin typeface="Microsoft YaHei"/>
              </a:rPr>
              <a:t>28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2651760" cy="100584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435607"/>
            <a:ext cx="23957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EB9119"/>
                </a:solidFill>
                <a:latin typeface="Microsoft YaHei"/>
              </a:rPr>
              <a:t>3 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837943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主巡检设备扣分项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075687"/>
            <a:ext cx="23957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6 月 0 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325880"/>
            <a:ext cx="2651760" cy="100584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3864" y="1435607"/>
            <a:ext cx="23957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EB9119"/>
                </a:solidFill>
                <a:latin typeface="Microsoft YaHei"/>
              </a:rPr>
              <a:t>-6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1837943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设备扣分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325880"/>
            <a:ext cx="2651760" cy="100584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8504" y="1435607"/>
            <a:ext cx="23957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EB9119"/>
                </a:solidFill>
                <a:latin typeface="Microsoft YaHei"/>
              </a:rPr>
              <a:t>3 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4" y="1837943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主巡检涉及门店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2075687"/>
            <a:ext cx="23957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覆盖率 14.3%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6840" y="1325880"/>
            <a:ext cx="2651760" cy="100584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53144" y="1435607"/>
            <a:ext cx="23957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288C5A"/>
                </a:solidFill>
                <a:latin typeface="Microsoft YaHei"/>
              </a:rPr>
              <a:t>G 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3144" y="1837943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严重度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3144" y="2075687"/>
            <a:ext cx="23957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全月 9 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514600"/>
            <a:ext cx="694944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2569464"/>
            <a:ext cx="672998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主巡检设备扣分项明细（共 3 项）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02920" y="2852928"/>
          <a:ext cx="6949438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7815"/>
                <a:gridCol w="4153688"/>
                <a:gridCol w="718907"/>
                <a:gridCol w="639028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门店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问题描述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严重度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扣分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100 Maiden Ln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Dishwasher leaking when in use.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-2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41st &amp; Lexington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Dishwasher down.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-2</a:t>
                      </a:r>
                    </a:p>
                  </a:txBody>
                  <a:tcPr marL="45720" marR="45720" marT="13716" marB="13716"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40th &amp; 10th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Dish washer leaking.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22222"/>
                          </a:solidFill>
                          <a:latin typeface="Microsoft YaHei"/>
                        </a:rPr>
                        <a:t>-2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7680960" y="2514600"/>
            <a:ext cx="3977639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90688" y="2569464"/>
            <a:ext cx="375818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分析与建议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2825496"/>
            <a:ext cx="3977639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27264" y="2944368"/>
            <a:ext cx="3685031" cy="3054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设备维护本月出现 3 项主巡检扣分（6 月为 0），均为 G 项、扣分 -6 分。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⚠ 高度集中：3 项全部为洗碗机故障（漏水 2、停机 1），涉及 100 Maiden Ln、41st &amp; Lexington、40th &amp; 10th，提示该机型或维保周期存在共性问题，建议按机型批次排查。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⚠ 但需与供应链侧联动看待：7/28 共 7 起后厨冰箱异常除霜导致物料报废（货值 $241.34，见 Case C），该损失记录在 PQNC 而非稽核扣分中。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建议：① 冷藏 / 冷冻设备加装温度记录仪并纳入日检；② 建立设备故障与 PQNC 损失的关联台账，避免设备问题分散在两套系统中而低估真实风险。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"/>
            <a:ext cx="8074152" cy="68488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43416" y="1984248"/>
            <a:ext cx="2670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a:eastAsianTypeface="Microsoft YaHei">
                <a:solidFill>
                  <a:srgbClr val="1F3864"/>
                </a:solidFill>
                <a:latin typeface="Microsoft YaHe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43416" y="2459736"/>
            <a:ext cx="2670048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 a:eastAsianTypeface="Microsoft YaHei">
                <a:solidFill>
                  <a:srgbClr val="1E2D41"/>
                </a:solidFill>
                <a:latin typeface="Microsoft YaHei"/>
              </a:rPr>
              <a:t>Customer</a:t>
            </a:r>
          </a:p>
          <a:p>
            <a:pPr algn="l">
              <a:lnSpc>
                <a:spcPct val="118000"/>
              </a:lnSpc>
            </a:pPr>
            <a:r>
              <a:rPr sz="3200" b="1" a:eastAsianTypeface="Microsoft YaHei">
                <a:solidFill>
                  <a:srgbClr val="1E2D41"/>
                </a:solidFill>
                <a:latin typeface="Microsoft YaHei"/>
              </a:rPr>
              <a:t>Complaint</a:t>
            </a:r>
          </a:p>
          <a:p>
            <a:pPr algn="l">
              <a:lnSpc>
                <a:spcPct val="118000"/>
              </a:lnSpc>
            </a:pPr>
            <a:r>
              <a:rPr sz="3200" b="1" a:eastAsianTypeface="Microsoft YaHei">
                <a:solidFill>
                  <a:srgbClr val="1E2D41"/>
                </a:solidFill>
                <a:latin typeface="Microsoft YaHei"/>
              </a:rPr>
              <a:t>客户投诉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a:eastAsianTypeface="Microsoft YaHei">
                <a:solidFill>
                  <a:srgbClr val="1E2D41"/>
                </a:solidFill>
                <a:latin typeface="Microsoft YaHei"/>
              </a:rPr>
              <a:t>04  Customer Complaint / 客户投诉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01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0" y="641908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a:eastAsianTypeface="Microsoft YaHei">
                <a:solidFill>
                  <a:srgbClr val="1F3864"/>
                </a:solidFill>
                <a:latin typeface="Microsoft YaHei"/>
              </a:rPr>
              <a:t>瑞幸咖啡 · 北美质量保障部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282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a:eastAsianTypeface="Microsoft YaHei">
                <a:solidFill>
                  <a:srgbClr val="5F6978"/>
                </a:solidFill>
                <a:latin typeface="Microsoft YaHei"/>
              </a:rPr>
              <a:t>29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2651760" cy="105156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1389888"/>
            <a:ext cx="23957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EB9119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1792224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7 月食安类客诉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075687"/>
            <a:ext cx="23957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6 月 1 起，持平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280160"/>
            <a:ext cx="2651760" cy="105156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83864" y="1389888"/>
            <a:ext cx="23957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005EB8"/>
                </a:solidFill>
                <a:latin typeface="Microsoft YaHe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3864" y="1792224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2026 YTD 累计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2075687"/>
            <a:ext cx="23957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1–6 月 3 起 + 7 月 1 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280160"/>
            <a:ext cx="2651760" cy="105156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8504" y="1389888"/>
            <a:ext cx="23957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a:eastAsianTypeface="Microsoft YaHei">
                <a:solidFill>
                  <a:srgbClr val="C82D2D"/>
                </a:solidFill>
                <a:latin typeface="Microsoft YaHei"/>
              </a:rPr>
              <a:t>异物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4" y="1792224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本月投诉性质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2075687"/>
            <a:ext cx="23957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食品中发现塑料碎片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6840" y="1280160"/>
            <a:ext cx="2651760" cy="105156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53144" y="1389888"/>
            <a:ext cx="23957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a:eastAsianTypeface="Microsoft YaHei">
                <a:solidFill>
                  <a:srgbClr val="C82D2D"/>
                </a:solidFill>
                <a:latin typeface="Microsoft YaHei"/>
              </a:rPr>
              <a:t>221 Grand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3144" y="1792224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涉及门店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3144" y="2075687"/>
            <a:ext cx="23957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2026-07-27 12:46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514600"/>
            <a:ext cx="1115568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2569464"/>
            <a:ext cx="109362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事件详情 / Complaint Detail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02920" y="2852928"/>
          <a:ext cx="1115567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268"/>
                <a:gridCol w="1349477"/>
                <a:gridCol w="2698954"/>
                <a:gridCol w="3958467"/>
                <a:gridCol w="1259512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日期时间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门店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产品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客诉原文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性质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Microsoft YaHei"/>
                        </a:rPr>
                        <a:t>07/27/2026 12:46pm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Microsoft YaHei"/>
                        </a:rPr>
                        <a:t>221 Grand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Microsoft YaHei"/>
                        </a:rPr>
                        <a:t>Sausage Egg &amp; Cheese Croissant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Microsoft YaHei"/>
                        </a:rPr>
                        <a:t>"There was a piece of plastic in my food"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  <a:latin typeface="Microsoft YaHei"/>
                        </a:rPr>
                        <a:t>异物 · 食安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502920" y="3794760"/>
            <a:ext cx="548640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" y="3849624"/>
            <a:ext cx="5266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分析 / Analysis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105656"/>
            <a:ext cx="54864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" y="4224528"/>
            <a:ext cx="5193792" cy="1773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本月唯一食安类客诉，为「成品中发现塑料异物」，风险等级高于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6 月（疑似食源性疾病、监控未见异常、判定个案）。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涉事产品为轻食类（可颂），非门店现制饮品——异物可能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来自供应商包装、解冻/加热环节或门店操作，需三段排查。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⚠ 同月同店：221 Grand 亦有 1 起 PQNC（Cream-O-Land 脱脂奶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变质集群，见 Case B），该店本月出现两类独立食安信号。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3794760"/>
            <a:ext cx="548640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81928" y="3849624"/>
            <a:ext cx="5266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纠正措施 / Corrective Action（P1）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4105656"/>
            <a:ext cx="54864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18504" y="4224528"/>
            <a:ext cx="5193792" cy="1773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① 追溯该批次可颂供应商与生产日期，要求书面回函说明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   异物来源与包装完整性控制。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② 门店端复核轻食解冻 / 加热 / 出餐流程，检查操作台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   周边塑料件（包材、铲勺、封膜）是否有破损脱落。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③ 保留客诉实物与照片；若供应商无法排除，则将该 SKU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   纳入到货加严抽检。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④ 建议将客诉纳入 PQNC 体系联动，避免客诉与 PQNC 两套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   记录各自独立、无法交叉验证。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296"/>
            <a:ext cx="5230368" cy="6775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22592" y="2313432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a:eastAsianTypeface="Microsoft YaHei">
                <a:solidFill>
                  <a:srgbClr val="1F3864"/>
                </a:solidFill>
                <a:latin typeface="Microsoft YaHe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22592" y="2788920"/>
            <a:ext cx="4206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 a:eastAsianTypeface="Microsoft YaHei">
                <a:solidFill>
                  <a:srgbClr val="1E2D41"/>
                </a:solidFill>
                <a:latin typeface="Microsoft YaHei"/>
              </a:rPr>
              <a:t>EHS</a:t>
            </a:r>
          </a:p>
          <a:p>
            <a:pPr algn="l">
              <a:lnSpc>
                <a:spcPct val="118000"/>
              </a:lnSpc>
            </a:pPr>
            <a:r>
              <a:rPr sz="3200" b="1" a:eastAsianTypeface="Microsoft YaHei">
                <a:solidFill>
                  <a:srgbClr val="1E2D41"/>
                </a:solidFill>
                <a:latin typeface="Microsoft YaHei"/>
              </a:rPr>
              <a:t>环境健康安全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a:eastAsianTypeface="Microsoft YaHei">
                <a:solidFill>
                  <a:srgbClr val="1E2D41"/>
                </a:solidFill>
                <a:latin typeface="Microsoft YaHei"/>
              </a:rPr>
              <a:t>2026 EHS 安全事故月度分析 / Monthly Safety Incident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01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5953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a:eastAsianTypeface="Microsoft YaHei">
                <a:solidFill>
                  <a:srgbClr val="5F6978"/>
                </a:solidFill>
                <a:latin typeface="Microsoft YaHei"/>
              </a:rPr>
              <a:t>工伤事故 Workplace Injury · YTD（截至 2026 年 7 月 / through July）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641908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a:eastAsianTypeface="Microsoft YaHei">
                <a:solidFill>
                  <a:srgbClr val="1F3864"/>
                </a:solidFill>
                <a:latin typeface="Microsoft YaHei"/>
              </a:rPr>
              <a:t>瑞幸咖啡 · 北美质量保障部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282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a:eastAsianTypeface="Microsoft YaHei">
                <a:solidFill>
                  <a:srgbClr val="5F6978"/>
                </a:solidFill>
                <a:latin typeface="Microsoft YaHei"/>
              </a:rPr>
              <a:t>30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3566160" cy="109728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389888"/>
            <a:ext cx="33101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288C5A"/>
                </a:solidFill>
                <a:latin typeface="Microsoft YaHe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792224"/>
            <a:ext cx="33101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7 月工伤事故 / Injuries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121407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无工伤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280160"/>
            <a:ext cx="3566160" cy="109728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8264" y="1389888"/>
            <a:ext cx="33101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005EB8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8264" y="1792224"/>
            <a:ext cx="33101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2026 YTD 累计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8264" y="2121407"/>
            <a:ext cx="3310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仅 5 月 1 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1280160"/>
            <a:ext cx="3657600" cy="1097280"/>
          </a:xfrm>
          <a:prstGeom prst="rect">
            <a:avLst/>
          </a:prstGeom>
          <a:solidFill>
            <a:srgbClr val="F5F7FA"/>
          </a:solidFill>
          <a:ln w="952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7304" y="1389888"/>
            <a:ext cx="340156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stAsianTypeface="Microsoft YaHei">
                <a:solidFill>
                  <a:srgbClr val="288C5A"/>
                </a:solidFill>
                <a:latin typeface="Microsoft YaHei"/>
              </a:rPr>
              <a:t>连续 2 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179222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80" b="1" a:eastAsianTypeface="Microsoft YaHei">
                <a:solidFill>
                  <a:srgbClr val="1E2D41"/>
                </a:solidFill>
                <a:latin typeface="Microsoft YaHei"/>
              </a:rPr>
              <a:t>零工伤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47304" y="2121407"/>
            <a:ext cx="34015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a:eastAsianTypeface="Microsoft YaHei">
                <a:solidFill>
                  <a:srgbClr val="5F6978"/>
                </a:solidFill>
                <a:latin typeface="Microsoft YaHei"/>
              </a:rPr>
              <a:t>6 月 0 / 7 月 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69748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a:eastAsianTypeface="Microsoft YaHei">
                <a:solidFill>
                  <a:srgbClr val="5F6978"/>
                </a:solidFill>
                <a:latin typeface="Microsoft YaHei"/>
              </a:rPr>
              <a:t>月度事故趋势（起）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457200" y="2926080"/>
          <a:ext cx="676656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Rectangle 20"/>
          <p:cNvSpPr/>
          <p:nvPr/>
        </p:nvSpPr>
        <p:spPr>
          <a:xfrm>
            <a:off x="7498079" y="2926080"/>
            <a:ext cx="416052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7807" y="2980944"/>
            <a:ext cx="39410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3236976"/>
            <a:ext cx="4160520" cy="2432304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44383" y="3355848"/>
            <a:ext cx="3867911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7 月无工伤事故（0 起），6 月同为 0，连续两月保持零工伤。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2026 YTD 累计 1 起，发生于 5 月。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本月门店数由 18 家增至 21 家、巡检 94 次为历史最高，在业务扩张的同时保持零工伤。</a:t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950" b="0" a:eastAsianTypeface="Microsoft YaHei">
                <a:solidFill>
                  <a:srgbClr val="222222"/>
                </a:solidFill>
                <a:latin typeface="Microsoft YaHei"/>
              </a:rPr>
              <a:t>建议在月报中固化「事故起数 / 损工日数 / 高危作业检查次数」三项指标，便于跨月比较。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a:eastAsianTypeface="Microsoft YaHei">
                <a:solidFill>
                  <a:srgbClr val="1E2D41"/>
                </a:solidFill>
                <a:latin typeface="Microsoft YaHei"/>
              </a:rPr>
              <a:t>EHS 体系目前进程 / Current EHS System Progress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155680" cy="201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0" y="641908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a:eastAsianTypeface="Microsoft YaHei">
                <a:solidFill>
                  <a:srgbClr val="1F3864"/>
                </a:solidFill>
                <a:latin typeface="Microsoft YaHei"/>
              </a:rPr>
              <a:t>瑞幸咖啡 · 北美质量保障部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28232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a:eastAsianTypeface="Microsoft YaHei">
                <a:solidFill>
                  <a:srgbClr val="5F6978"/>
                </a:solidFill>
                <a:latin typeface="Microsoft YaHei"/>
              </a:rPr>
              <a:t>31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11155680" cy="1463040"/>
          </a:xfrm>
          <a:prstGeom prst="rect">
            <a:avLst/>
          </a:prstGeom>
          <a:solidFill>
            <a:srgbClr val="FFF8E8"/>
          </a:solidFill>
          <a:ln w="15875">
            <a:solidFill>
              <a:srgbClr val="EB91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81328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a:eastAsianTypeface="Microsoft YaHei">
                <a:solidFill>
                  <a:srgbClr val="9A6B00"/>
                </a:solidFill>
                <a:latin typeface="Microsoft YaHei"/>
              </a:rPr>
              <a:t>⚠ EHS 体系进度待 EHS 团队更新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a:eastAsianTypeface="Microsoft YaHei">
                <a:solidFill>
                  <a:srgbClr val="222222"/>
                </a:solidFill>
                <a:latin typeface="Microsoft YaHei"/>
              </a:rPr>
              <a:t>以下为 6 月 PPT 的进度状态，7 月进展需 EHS 团队确认。</a:t>
            </a:r>
          </a:p>
          <a:p>
            <a:pPr algn="l">
              <a:lnSpc>
                <a:spcPct val="135000"/>
              </a:lnSpc>
            </a:pPr>
            <a:r>
              <a:rPr sz="105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50" b="0" a:eastAsianTypeface="Microsoft YaHei">
                <a:solidFill>
                  <a:srgbClr val="222222"/>
                </a:solidFill>
                <a:latin typeface="Microsoft YaHei"/>
              </a:rPr>
              <a:t>特别是「4 家新店疏散图」——本月门店数已达 21 家，疏散图覆盖范围需同步更新。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971800"/>
            <a:ext cx="548640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3026664"/>
            <a:ext cx="5266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已完成 / Completed（6 月状态）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310128"/>
            <a:ext cx="548640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3429000"/>
            <a:ext cx="5193792" cy="2551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a:eastAsianTypeface="Microsoft YaHei">
                <a:solidFill>
                  <a:srgbClr val="222222"/>
                </a:solidFill>
                <a:latin typeface="Microsoft YaHei"/>
              </a:rPr>
              <a:t>· 门店设备安全操作 SOP</a:t>
            </a:r>
          </a:p>
          <a:p>
            <a:pPr algn="l">
              <a:lnSpc>
                <a:spcPct val="125000"/>
              </a:lnSpc>
            </a:pPr>
            <a:r>
              <a:rPr sz="1000" b="0" a:eastAsianTypeface="Microsoft YaHei">
                <a:solidFill>
                  <a:srgbClr val="222222"/>
                </a:solidFill>
                <a:latin typeface="Microsoft YaHei"/>
              </a:rPr>
              <a:t>  SOP for safe operation of store equipment</a:t>
            </a:r>
          </a:p>
          <a:p>
            <a:pPr algn="l">
              <a:lnSpc>
                <a:spcPct val="125000"/>
              </a:lnSpc>
            </a:pPr>
            <a:r>
              <a:rPr sz="100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000" b="0" a:eastAsianTypeface="Microsoft YaHei">
                <a:solidFill>
                  <a:srgbClr val="222222"/>
                </a:solidFill>
                <a:latin typeface="Microsoft YaHei"/>
              </a:rPr>
              <a:t>· 安全手册 Safety Manual</a:t>
            </a:r>
          </a:p>
          <a:p>
            <a:pPr algn="l">
              <a:lnSpc>
                <a:spcPct val="125000"/>
              </a:lnSpc>
            </a:pPr>
            <a:r>
              <a:rPr sz="100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000" b="0" a:eastAsianTypeface="Microsoft YaHei">
                <a:solidFill>
                  <a:srgbClr val="222222"/>
                </a:solidFill>
                <a:latin typeface="Microsoft YaHei"/>
              </a:rPr>
              <a:t>· 基础安全培训 Basic Safety Training</a:t>
            </a:r>
          </a:p>
          <a:p>
            <a:pPr algn="l">
              <a:lnSpc>
                <a:spcPct val="125000"/>
              </a:lnSpc>
            </a:pPr>
            <a:r>
              <a:rPr sz="100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000" b="0" a:eastAsianTypeface="Microsoft YaHei">
                <a:solidFill>
                  <a:srgbClr val="222222"/>
                </a:solidFill>
                <a:latin typeface="Microsoft YaHei"/>
              </a:rPr>
              <a:t>· 16 家门店疏散图 Evacuation plans for 16 stores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971800"/>
            <a:ext cx="5486400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3026664"/>
            <a:ext cx="5266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a:eastAsianTypeface="Microsoft YaHei">
                <a:solidFill>
                  <a:srgbClr val="FFFFFF"/>
                </a:solidFill>
                <a:latin typeface="Microsoft YaHei"/>
              </a:rPr>
              <a:t>进行中 / In Progress（待更新）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310128"/>
            <a:ext cx="548640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3429000"/>
            <a:ext cx="5193792" cy="2551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a:eastAsianTypeface="Microsoft YaHei">
                <a:solidFill>
                  <a:srgbClr val="222222"/>
                </a:solidFill>
                <a:latin typeface="Microsoft YaHei"/>
              </a:rPr>
              <a:t>· 新店疏散图 Evacuation plans for new stores</a:t>
            </a:r>
          </a:p>
          <a:p>
            <a:pPr algn="l">
              <a:lnSpc>
                <a:spcPct val="125000"/>
              </a:lnSpc>
            </a:pPr>
            <a:r>
              <a:rPr sz="1000" b="0" a:eastAsianTypeface="Microsoft YaHei">
                <a:solidFill>
                  <a:srgbClr val="222222"/>
                </a:solidFill>
                <a:latin typeface="Microsoft YaHei"/>
              </a:rPr>
              <a:t>  ⚠ 6 月记录为「4 家新店」；截至 7 月底门店总数已达 21 家，</a:t>
            </a:r>
          </a:p>
          <a:p>
            <a:pPr algn="l">
              <a:lnSpc>
                <a:spcPct val="125000"/>
              </a:lnSpc>
            </a:pPr>
            <a:r>
              <a:rPr sz="1000" b="0" a:eastAsianTypeface="Microsoft YaHei">
                <a:solidFill>
                  <a:srgbClr val="222222"/>
                </a:solidFill>
                <a:latin typeface="Microsoft YaHei"/>
              </a:rPr>
              <a:t>  需确认疏散图覆盖缺口（21 − 16 = 5 家待完成）</a:t>
            </a:r>
          </a:p>
          <a:p>
            <a:pPr algn="l">
              <a:lnSpc>
                <a:spcPct val="125000"/>
              </a:lnSpc>
            </a:pPr>
            <a:r>
              <a:rPr sz="100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000" b="0" a:eastAsianTypeface="Microsoft YaHei">
                <a:solidFill>
                  <a:srgbClr val="222222"/>
                </a:solidFill>
                <a:latin typeface="Microsoft YaHei"/>
              </a:rPr>
              <a:t>· 整体安全手册升级 Upgrade of the overall Safety Manual</a:t>
            </a:r>
          </a:p>
          <a:p>
            <a:pPr algn="l">
              <a:lnSpc>
                <a:spcPct val="125000"/>
              </a:lnSpc>
            </a:pPr>
            <a:r>
              <a:rPr sz="1000" b="0" a:eastAsianTypeface="Microsoft YaHei">
                <a:solidFill>
                  <a:srgbClr val="222222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000" b="0" a:eastAsianTypeface="Microsoft YaHei">
                <a:solidFill>
                  <a:srgbClr val="222222"/>
                </a:solidFill>
                <a:latin typeface="Microsoft YaHei"/>
              </a:rPr>
              <a:t>· 7 月新增进展：待填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han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001000" cy="67939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03920" y="251460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a:eastAsianTypeface="Microsoft YaHei">
                <a:solidFill>
                  <a:srgbClr val="223263"/>
                </a:solidFill>
                <a:latin typeface="Microsoft YaHei"/>
              </a:rPr>
              <a:t>Thank You！</a:t>
            </a:r>
          </a:p>
          <a:p>
            <a:pPr algn="l">
              <a:lnSpc>
                <a:spcPct val="120000"/>
              </a:lnSpc>
            </a:pPr>
            <a:r>
              <a:rPr sz="3200" b="1" a:eastAsianTypeface="Microsoft YaHei">
                <a:solidFill>
                  <a:srgbClr val="223263"/>
                </a:solidFill>
                <a:latin typeface="Microsoft YaHei"/>
              </a:rP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2208" y="4160520"/>
            <a:ext cx="3291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a:eastAsianTypeface="Microsoft YaHei">
                <a:solidFill>
                  <a:srgbClr val="5F6978"/>
                </a:solidFill>
                <a:latin typeface="Microsoft YaHei"/>
              </a:rPr>
              <a:t>北美质量管理部</a:t>
            </a:r>
          </a:p>
          <a:p>
            <a:pPr algn="l">
              <a:lnSpc>
                <a:spcPct val="135000"/>
              </a:lnSpc>
            </a:pPr>
            <a:r>
              <a:rPr sz="1200" b="0" a:eastAsianTypeface="Microsoft YaHei">
                <a:solidFill>
                  <a:srgbClr val="5F6978"/>
                </a:solidFill>
                <a:latin typeface="Microsoft YaHei"/>
              </a:rPr>
              <a:t>2026 年 7 月</a:t>
            </a:r>
          </a:p>
          <a:p>
            <a:pPr algn="l">
              <a:lnSpc>
                <a:spcPct val="135000"/>
              </a:lnSpc>
            </a:pPr>
            <a:r>
              <a:rPr sz="1200" b="0" a:eastAsianTypeface="Microsoft YaHei">
                <a:solidFill>
                  <a:srgbClr val="5F6978"/>
                </a:solidFill>
                <a:latin typeface="Microsoft YaHe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00" b="0" a:eastAsianTypeface="Microsoft YaHei">
                <a:solidFill>
                  <a:srgbClr val="5F6978"/>
                </a:solidFill>
                <a:latin typeface="Microsoft YaHei"/>
              </a:rPr>
              <a:t>编制：曾翔宇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