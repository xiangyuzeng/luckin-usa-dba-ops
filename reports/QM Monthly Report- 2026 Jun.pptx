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1.xml" ContentType="application/vnd.openxmlformats-officedocument.drawingml.chart+xml"/>
  <Override PartName="/ppt/notesSlides/notesSlide16.xml" ContentType="application/vnd.openxmlformats-officedocument.presentationml.notesSlide+xml"/>
  <Override PartName="/ppt/charts/chart1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5.xml" ContentType="application/vnd.openxmlformats-officedocument.presentationml.notesSlide+xml"/>
  <Override PartName="/ppt/charts/chart1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1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11093045" r:id="rId2"/>
    <p:sldId id="276" r:id="rId3"/>
    <p:sldId id="11093010" r:id="rId4"/>
    <p:sldId id="277" r:id="rId5"/>
    <p:sldId id="11092997" r:id="rId6"/>
    <p:sldId id="256" r:id="rId7"/>
    <p:sldId id="258" r:id="rId8"/>
    <p:sldId id="11093051" r:id="rId9"/>
    <p:sldId id="11093038" r:id="rId10"/>
    <p:sldId id="11093019" r:id="rId11"/>
    <p:sldId id="11093044" r:id="rId12"/>
    <p:sldId id="11093037" r:id="rId13"/>
    <p:sldId id="11093017" r:id="rId14"/>
    <p:sldId id="278" r:id="rId15"/>
    <p:sldId id="265" r:id="rId16"/>
    <p:sldId id="261" r:id="rId17"/>
    <p:sldId id="262" r:id="rId18"/>
    <p:sldId id="263" r:id="rId19"/>
    <p:sldId id="264" r:id="rId20"/>
    <p:sldId id="266" r:id="rId21"/>
    <p:sldId id="268" r:id="rId22"/>
    <p:sldId id="269" r:id="rId23"/>
    <p:sldId id="270" r:id="rId24"/>
    <p:sldId id="11092999" r:id="rId25"/>
    <p:sldId id="274" r:id="rId26"/>
    <p:sldId id="11093016" r:id="rId27"/>
    <p:sldId id="11093049" r:id="rId28"/>
    <p:sldId id="275" r:id="rId29"/>
    <p:sldId id="272" r:id="rId30"/>
    <p:sldId id="273" r:id="rId31"/>
    <p:sldId id="11093011" r:id="rId32"/>
    <p:sldId id="284" r:id="rId33"/>
    <p:sldId id="11093008" r:id="rId34"/>
    <p:sldId id="11093050" r:id="rId35"/>
    <p:sldId id="11093009" r:id="rId36"/>
    <p:sldId id="295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0C05CA-E2F5-4A47-BD74-54924D195DE1}" v="94" dt="2026-07-04T20:42:13.915"/>
    <p1510:client id="{463E2245-7E84-4C6A-A54A-6796FB9DC052}" v="4" dt="2026-07-04T20:49:34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45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ca Jiang" userId="7852802d-9012-4a53-ad40-a14329b05d3c" providerId="ADAL" clId="{B0C2C26C-6650-42B4-AE01-6849E865C92E}"/>
    <pc:docChg chg="modSld">
      <pc:chgData name="Monica Jiang" userId="7852802d-9012-4a53-ad40-a14329b05d3c" providerId="ADAL" clId="{B0C2C26C-6650-42B4-AE01-6849E865C92E}" dt="2026-07-04T20:49:34.512" v="14"/>
      <pc:docMkLst>
        <pc:docMk/>
      </pc:docMkLst>
      <pc:sldChg chg="modSp mod">
        <pc:chgData name="Monica Jiang" userId="7852802d-9012-4a53-ad40-a14329b05d3c" providerId="ADAL" clId="{B0C2C26C-6650-42B4-AE01-6849E865C92E}" dt="2026-07-04T20:49:03.843" v="8" actId="2711"/>
        <pc:sldMkLst>
          <pc:docMk/>
          <pc:sldMk cId="0" sldId="256"/>
        </pc:sldMkLst>
        <pc:spChg chg="mod">
          <ac:chgData name="Monica Jiang" userId="7852802d-9012-4a53-ad40-a14329b05d3c" providerId="ADAL" clId="{B0C2C26C-6650-42B4-AE01-6849E865C92E}" dt="2026-07-04T20:49:03.843" v="8" actId="2711"/>
          <ac:spMkLst>
            <pc:docMk/>
            <pc:sldMk cId="0" sldId="256"/>
            <ac:spMk id="27" creationId="{00000000-0000-0000-0000-000000000000}"/>
          </ac:spMkLst>
        </pc:spChg>
      </pc:sldChg>
      <pc:sldChg chg="modSp mod">
        <pc:chgData name="Monica Jiang" userId="7852802d-9012-4a53-ad40-a14329b05d3c" providerId="ADAL" clId="{B0C2C26C-6650-42B4-AE01-6849E865C92E}" dt="2026-07-04T20:48:22.694" v="4" actId="20577"/>
        <pc:sldMkLst>
          <pc:docMk/>
          <pc:sldMk cId="0" sldId="276"/>
        </pc:sldMkLst>
        <pc:spChg chg="mod">
          <ac:chgData name="Monica Jiang" userId="7852802d-9012-4a53-ad40-a14329b05d3c" providerId="ADAL" clId="{B0C2C26C-6650-42B4-AE01-6849E865C92E}" dt="2026-07-04T20:48:22.694" v="4" actId="20577"/>
          <ac:spMkLst>
            <pc:docMk/>
            <pc:sldMk cId="0" sldId="276"/>
            <ac:spMk id="27" creationId="{00000000-0000-0000-0000-000000000000}"/>
          </ac:spMkLst>
        </pc:spChg>
      </pc:sldChg>
      <pc:sldChg chg="modSp mod">
        <pc:chgData name="Monica Jiang" userId="7852802d-9012-4a53-ad40-a14329b05d3c" providerId="ADAL" clId="{B0C2C26C-6650-42B4-AE01-6849E865C92E}" dt="2026-07-04T20:49:34.512" v="14"/>
        <pc:sldMkLst>
          <pc:docMk/>
          <pc:sldMk cId="0" sldId="284"/>
        </pc:sldMkLst>
        <pc:spChg chg="mod">
          <ac:chgData name="Monica Jiang" userId="7852802d-9012-4a53-ad40-a14329b05d3c" providerId="ADAL" clId="{B0C2C26C-6650-42B4-AE01-6849E865C92E}" dt="2026-07-04T20:49:34.512" v="14"/>
          <ac:spMkLst>
            <pc:docMk/>
            <pc:sldMk cId="0" sldId="284"/>
            <ac:spMk id="73" creationId="{00000000-0000-0000-0000-000000000000}"/>
          </ac:spMkLst>
        </pc:spChg>
      </pc:sldChg>
      <pc:sldChg chg="modSp mod">
        <pc:chgData name="Monica Jiang" userId="7852802d-9012-4a53-ad40-a14329b05d3c" providerId="ADAL" clId="{B0C2C26C-6650-42B4-AE01-6849E865C92E}" dt="2026-07-04T20:48:13.768" v="3" actId="20577"/>
        <pc:sldMkLst>
          <pc:docMk/>
          <pc:sldMk cId="0" sldId="11093045"/>
        </pc:sldMkLst>
        <pc:spChg chg="mod">
          <ac:chgData name="Monica Jiang" userId="7852802d-9012-4a53-ad40-a14329b05d3c" providerId="ADAL" clId="{B0C2C26C-6650-42B4-AE01-6849E865C92E}" dt="2026-07-04T20:48:13.768" v="3" actId="20577"/>
          <ac:spMkLst>
            <pc:docMk/>
            <pc:sldMk cId="0" sldId="11093045"/>
            <ac:spMk id="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/>
            </a:pPr>
            <a:r>
              <a:rPr lang="en-US" sz="1000"/>
              <a:t>Monthly PQNC Reported / </a:t>
            </a:r>
            <a:r>
              <a:rPr lang="zh-CN" altLang="en-US" sz="1000"/>
              <a:t>月度</a:t>
            </a:r>
            <a:r>
              <a:rPr lang="en-US" sz="1000"/>
              <a:t>PQNC</a:t>
            </a:r>
            <a:r>
              <a:rPr lang="zh-CN" altLang="en-US" sz="1000"/>
              <a:t>上报数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PQNC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101</c:v>
                </c:pt>
                <c:pt idx="1">
                  <c:v>81</c:v>
                </c:pt>
                <c:pt idx="2">
                  <c:v>33</c:v>
                </c:pt>
                <c:pt idx="3">
                  <c:v>72</c:v>
                </c:pt>
                <c:pt idx="4">
                  <c:v>52</c:v>
                </c:pt>
                <c:pt idx="5">
                  <c:v>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51-43ED-9849-8343D036E1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/>
            </a:pPr>
            <a:r>
              <a:rPr lang="en-US" sz="1000"/>
              <a:t>June Responsibility Split / 6</a:t>
            </a:r>
            <a:r>
              <a:rPr lang="zh-CN" altLang="en-US" sz="1000"/>
              <a:t>月判责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Warehouse</c:v>
                </c:pt>
                <c:pt idx="1">
                  <c:v>Supplier</c:v>
                </c:pt>
                <c:pt idx="2">
                  <c:v>Joint</c:v>
                </c:pt>
                <c:pt idx="3">
                  <c:v>Unknown/Reject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18</c:v>
                </c:pt>
                <c:pt idx="2">
                  <c:v>3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E7-445C-AA16-05AD15D6CE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700"/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/>
            </a:pPr>
            <a:r>
              <a:rPr lang="en-US" sz="1000"/>
              <a:t>Supplier-responsibility Cases by Supplier / </a:t>
            </a:r>
            <a:r>
              <a:rPr lang="zh-CN" altLang="en-US" sz="1000"/>
              <a:t>按供应商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SYSCO</c:v>
                </c:pt>
                <c:pt idx="1">
                  <c:v>FreeNow</c:v>
                </c:pt>
                <c:pt idx="2">
                  <c:v>HEC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7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46-457F-B529-D2FD710FE1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/>
            </a:pPr>
            <a:r>
              <a:rPr lang="en-US" sz="1000"/>
              <a:t>Supplier-responsibility Cases by Month / </a:t>
            </a:r>
            <a:r>
              <a:rPr lang="zh-CN" altLang="en-US" sz="1000"/>
              <a:t>月度趋势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Supplier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</c:v>
                </c:pt>
                <c:pt idx="1">
                  <c:v>65</c:v>
                </c:pt>
                <c:pt idx="2">
                  <c:v>30</c:v>
                </c:pt>
                <c:pt idx="3">
                  <c:v>49</c:v>
                </c:pt>
                <c:pt idx="4">
                  <c:v>40</c:v>
                </c:pt>
                <c:pt idx="5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0B-4B01-A3A2-AB485DBCA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/>
            </a:pPr>
            <a:r>
              <a:rPr lang="en-US" sz="1000"/>
              <a:t>Warehouse/Joint Issue Buckets / </a:t>
            </a:r>
            <a:r>
              <a:rPr lang="zh-CN" altLang="en-US" sz="1000"/>
              <a:t>仓储与共担问题类型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Expired / short shelf life</c:v>
                </c:pt>
                <c:pt idx="1">
                  <c:v>Out-of-temp / wrong temp zone</c:v>
                </c:pt>
                <c:pt idx="2">
                  <c:v>Leaking / damaged / dented</c:v>
                </c:pt>
                <c:pt idx="3">
                  <c:v>Spoilage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A4-4EAA-A0C9-C884B0DB63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QA 得分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21st &amp; 3rd</c:v>
                </c:pt>
                <c:pt idx="1">
                  <c:v>54th &amp; 8th</c:v>
                </c:pt>
                <c:pt idx="2">
                  <c:v>41st &amp; Lexington</c:v>
                </c:pt>
                <c:pt idx="3">
                  <c:v>33rd &amp; 10th</c:v>
                </c:pt>
                <c:pt idx="4">
                  <c:v>29th &amp; 3rd</c:v>
                </c:pt>
                <c:pt idx="5">
                  <c:v>221 Grand</c:v>
                </c:pt>
                <c:pt idx="6">
                  <c:v>102 Fulton</c:v>
                </c:pt>
                <c:pt idx="7">
                  <c:v>154 Bleecker</c:v>
                </c:pt>
                <c:pt idx="8">
                  <c:v>8th &amp; Broadway</c:v>
                </c:pt>
                <c:pt idx="9">
                  <c:v>108th &amp; Broadway</c:v>
                </c:pt>
                <c:pt idx="10">
                  <c:v>16th &amp; 6th</c:v>
                </c:pt>
                <c:pt idx="11">
                  <c:v>15th &amp; 3rd</c:v>
                </c:pt>
                <c:pt idx="12">
                  <c:v>37th &amp; Broadway</c:v>
                </c:pt>
                <c:pt idx="13">
                  <c:v>52nd &amp; Madison</c:v>
                </c:pt>
                <c:pt idx="14">
                  <c:v>28th &amp; 6th</c:v>
                </c:pt>
                <c:pt idx="15">
                  <c:v>100 Maiden Ln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97</c:v>
                </c:pt>
                <c:pt idx="1">
                  <c:v>96</c:v>
                </c:pt>
                <c:pt idx="2">
                  <c:v>95</c:v>
                </c:pt>
                <c:pt idx="3">
                  <c:v>94</c:v>
                </c:pt>
                <c:pt idx="4">
                  <c:v>94</c:v>
                </c:pt>
                <c:pt idx="5">
                  <c:v>94</c:v>
                </c:pt>
                <c:pt idx="6">
                  <c:v>93</c:v>
                </c:pt>
                <c:pt idx="7">
                  <c:v>92</c:v>
                </c:pt>
                <c:pt idx="8">
                  <c:v>92</c:v>
                </c:pt>
                <c:pt idx="9">
                  <c:v>91</c:v>
                </c:pt>
                <c:pt idx="10">
                  <c:v>91</c:v>
                </c:pt>
                <c:pt idx="11">
                  <c:v>90</c:v>
                </c:pt>
                <c:pt idx="12">
                  <c:v>89</c:v>
                </c:pt>
                <c:pt idx="13">
                  <c:v>89</c:v>
                </c:pt>
                <c:pt idx="14">
                  <c:v>86</c:v>
                </c:pt>
                <c:pt idx="15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DE-4094-860D-71A06FB984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达标线（80分）</c:v>
                </c:pt>
              </c:strCache>
            </c:strRef>
          </c:tx>
          <c:spPr>
            <a:ln w="19050" cap="flat">
              <a:solidFill>
                <a:srgbClr val="CE2026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21st &amp; 3rd</c:v>
                </c:pt>
                <c:pt idx="1">
                  <c:v>54th &amp; 8th</c:v>
                </c:pt>
                <c:pt idx="2">
                  <c:v>41st &amp; Lexington</c:v>
                </c:pt>
                <c:pt idx="3">
                  <c:v>33rd &amp; 10th</c:v>
                </c:pt>
                <c:pt idx="4">
                  <c:v>29th &amp; 3rd</c:v>
                </c:pt>
                <c:pt idx="5">
                  <c:v>221 Grand</c:v>
                </c:pt>
                <c:pt idx="6">
                  <c:v>102 Fulton</c:v>
                </c:pt>
                <c:pt idx="7">
                  <c:v>154 Bleecker</c:v>
                </c:pt>
                <c:pt idx="8">
                  <c:v>8th &amp; Broadway</c:v>
                </c:pt>
                <c:pt idx="9">
                  <c:v>108th &amp; Broadway</c:v>
                </c:pt>
                <c:pt idx="10">
                  <c:v>16th &amp; 6th</c:v>
                </c:pt>
                <c:pt idx="11">
                  <c:v>15th &amp; 3rd</c:v>
                </c:pt>
                <c:pt idx="12">
                  <c:v>37th &amp; Broadway</c:v>
                </c:pt>
                <c:pt idx="13">
                  <c:v>52nd &amp; Madison</c:v>
                </c:pt>
                <c:pt idx="14">
                  <c:v>28th &amp; 6th</c:v>
                </c:pt>
                <c:pt idx="15">
                  <c:v>100 Maiden Ln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  <c:pt idx="6">
                  <c:v>80</c:v>
                </c:pt>
                <c:pt idx="7">
                  <c:v>80</c:v>
                </c:pt>
                <c:pt idx="8">
                  <c:v>80</c:v>
                </c:pt>
                <c:pt idx="9">
                  <c:v>80</c:v>
                </c:pt>
                <c:pt idx="10">
                  <c:v>80</c:v>
                </c:pt>
                <c:pt idx="11">
                  <c:v>80</c:v>
                </c:pt>
                <c:pt idx="12">
                  <c:v>80</c:v>
                </c:pt>
                <c:pt idx="13">
                  <c:v>80</c:v>
                </c:pt>
                <c:pt idx="14">
                  <c:v>80</c:v>
                </c:pt>
                <c:pt idx="15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DE-4094-860D-71A06FB984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400000"/>
          <a:lstStyle/>
          <a:p>
            <a:pPr>
              <a:defRPr sz="900" b="0" i="0" u="none" strike="noStrike">
                <a:solidFill>
                  <a:srgbClr val="5A5A5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A5A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A5A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A+ 级</c:v>
                </c:pt>
              </c:strCache>
            </c:strRef>
          </c:tx>
          <c:spPr>
            <a:solidFill>
              <a:srgbClr val="1F4E9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222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QA 巡检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0B-4FBD-804B-6E1C7F8D9B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 级</c:v>
                </c:pt>
              </c:strCache>
            </c:strRef>
          </c:tx>
          <c:spPr>
            <a:solidFill>
              <a:srgbClr val="9DC3E6"/>
            </a:solidFill>
            <a:effectLst/>
          </c:spPr>
          <c:invertIfNegative val="0"/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22222"/>
                      </a:solidFill>
                      <a:latin typeface="Microsoft YaHei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A30B-4FBD-804B-6E1C7F8D9B51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222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QA 巡检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0B-4FBD-804B-6E1C7F8D9B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 级</c:v>
                </c:pt>
              </c:strCache>
            </c:strRef>
          </c:tx>
          <c:spPr>
            <a:solidFill>
              <a:srgbClr val="FFC000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222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QA 巡检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0B-4FBD-804B-6E1C7F8D9B5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 级</c:v>
                </c:pt>
              </c:strCache>
            </c:strRef>
          </c:tx>
          <c:spPr>
            <a:solidFill>
              <a:srgbClr val="FF2A2A"/>
            </a:solidFill>
            <a:effectLst/>
          </c:spPr>
          <c:invertIfNegative val="0"/>
          <c:dLbls>
            <c:dLbl>
              <c:idx val="0"/>
              <c:layout>
                <c:manualLayout>
                  <c:x val="7.4626865671641784E-2"/>
                  <c:y val="5.555555555555504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85D-4B47-B668-560453D3AD00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222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QA 巡检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0B-4FBD-804B-6E1C7F8D9B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A5A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申诉前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A+</c:v>
                </c:pt>
                <c:pt idx="1">
                  <c:v>A</c:v>
                </c:pt>
                <c:pt idx="2">
                  <c:v>B</c:v>
                </c:pt>
                <c:pt idx="3">
                  <c:v>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37.5</c:v>
                </c:pt>
                <c:pt idx="2">
                  <c:v>12.5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87-4B17-9906-57ABA5FAD7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申诉后</c:v>
                </c:pt>
              </c:strCache>
            </c:strRef>
          </c:tx>
          <c:spPr>
            <a:solidFill>
              <a:srgbClr val="2E9F46"/>
            </a:solidFill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A+</c:v>
                </c:pt>
                <c:pt idx="1">
                  <c:v>A</c:v>
                </c:pt>
                <c:pt idx="2">
                  <c:v>B</c:v>
                </c:pt>
                <c:pt idx="3">
                  <c:v>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37.5</c:v>
                </c:pt>
                <c:pt idx="1">
                  <c:v>50</c:v>
                </c:pt>
                <c:pt idx="2">
                  <c:v>12.5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87-4B17-9906-57ABA5FAD7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A5A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 月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A+</c:v>
                </c:pt>
                <c:pt idx="1">
                  <c:v>A</c:v>
                </c:pt>
                <c:pt idx="2">
                  <c:v>B</c:v>
                </c:pt>
                <c:pt idx="3">
                  <c:v>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62.5</c:v>
                </c:pt>
                <c:pt idx="2">
                  <c:v>25</c:v>
                </c:pt>
                <c:pt idx="3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87-4896-B086-2F7D8B3B25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 月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A+</c:v>
                </c:pt>
                <c:pt idx="1">
                  <c:v>A</c:v>
                </c:pt>
                <c:pt idx="2">
                  <c:v>B</c:v>
                </c:pt>
                <c:pt idx="3">
                  <c:v>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37.5</c:v>
                </c:pt>
                <c:pt idx="1">
                  <c:v>50</c:v>
                </c:pt>
                <c:pt idx="2">
                  <c:v>12.5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87-4896-B086-2F7D8B3B25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A5A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门店自检</c:v>
                </c:pt>
              </c:strCache>
            </c:strRef>
          </c:tx>
          <c:spPr>
            <a:solidFill>
              <a:srgbClr val="9DC3E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5</c:v>
                </c:pt>
                <c:pt idx="2">
                  <c:v>13</c:v>
                </c:pt>
                <c:pt idx="3">
                  <c:v>32</c:v>
                </c:pt>
                <c:pt idx="4">
                  <c:v>49</c:v>
                </c:pt>
                <c:pt idx="5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D1-4479-ADD1-18B82E7DA8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QA 审计</c:v>
                </c:pt>
              </c:strCache>
            </c:strRef>
          </c:tx>
          <c:spPr>
            <a:solidFill>
              <a:srgbClr val="C0531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2</c:v>
                </c:pt>
                <c:pt idx="2">
                  <c:v>1</c:v>
                </c:pt>
                <c:pt idx="3">
                  <c:v>12</c:v>
                </c:pt>
                <c:pt idx="4">
                  <c:v>16</c:v>
                </c:pt>
                <c:pt idx="5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D1-4479-ADD1-18B82E7DA8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区经检查</c:v>
                </c:pt>
              </c:strCache>
            </c:strRef>
          </c:tx>
          <c:spPr>
            <a:solidFill>
              <a:srgbClr val="2E9F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</c:v>
                </c:pt>
                <c:pt idx="1">
                  <c:v>0</c:v>
                </c:pt>
                <c:pt idx="2">
                  <c:v>0</c:v>
                </c:pt>
                <c:pt idx="3">
                  <c:v>14</c:v>
                </c:pt>
                <c:pt idx="4">
                  <c:v>21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D1-4479-ADD1-18B82E7DA8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A5A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店均轻微项(L)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5月</c:v>
                </c:pt>
                <c:pt idx="1">
                  <c:v>6月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0.69</c:v>
                </c:pt>
                <c:pt idx="1">
                  <c:v>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A8-4949-A6AD-C89054422B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店均一般项(G)</c:v>
                </c:pt>
              </c:strCache>
            </c:strRef>
          </c:tx>
          <c:spPr>
            <a:solidFill>
              <a:srgbClr val="9DC3E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5月</c:v>
                </c:pt>
                <c:pt idx="1">
                  <c:v>6月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5.12</c:v>
                </c:pt>
                <c:pt idx="1">
                  <c:v>3.31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A8-4949-A6AD-C89054422B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店均重点项(M)</c:v>
                </c:pt>
              </c:strCache>
            </c:strRef>
          </c:tx>
          <c:spPr>
            <a:solidFill>
              <a:srgbClr val="FFC00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5月</c:v>
                </c:pt>
                <c:pt idx="1">
                  <c:v>6月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0.31</c:v>
                </c:pt>
                <c:pt idx="1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A8-4949-A6AD-C89054422BD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店均关键项(S)</c:v>
                </c:pt>
              </c:strCache>
            </c:strRef>
          </c:tx>
          <c:spPr>
            <a:solidFill>
              <a:srgbClr val="CE202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5月</c:v>
                </c:pt>
                <c:pt idx="1">
                  <c:v>6月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0.31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3A8-4949-A6AD-C89054422B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A5A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扣分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清洁卫生</c:v>
                </c:pt>
                <c:pt idx="1">
                  <c:v>设施</c:v>
                </c:pt>
                <c:pt idx="2">
                  <c:v>过程控制</c:v>
                </c:pt>
                <c:pt idx="3">
                  <c:v>温控有效期</c:v>
                </c:pt>
                <c:pt idx="4">
                  <c:v>员工健康卫生</c:v>
                </c:pt>
                <c:pt idx="5">
                  <c:v>证照</c:v>
                </c:pt>
                <c:pt idx="6">
                  <c:v>职业安全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108</c:v>
                </c:pt>
                <c:pt idx="1">
                  <c:v>53</c:v>
                </c:pt>
                <c:pt idx="2">
                  <c:v>18</c:v>
                </c:pt>
                <c:pt idx="3">
                  <c:v>10</c:v>
                </c:pt>
                <c:pt idx="4">
                  <c:v>6</c:v>
                </c:pt>
                <c:pt idx="5">
                  <c:v>5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EC-49A1-B70A-F0E7F5B771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400" dirty="0">
                <a:ea typeface="Microsoft YaHei"/>
              </a:rPr>
              <a:t>Food Safety Complaints / 食品安全类客诉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mmm\-yy</c:formatCode>
                <c:ptCount val="6"/>
                <c:pt idx="0">
                  <c:v>46048</c:v>
                </c:pt>
                <c:pt idx="1">
                  <c:v>46079</c:v>
                </c:pt>
                <c:pt idx="2">
                  <c:v>46107</c:v>
                </c:pt>
                <c:pt idx="3">
                  <c:v>46138</c:v>
                </c:pt>
                <c:pt idx="4">
                  <c:v>46168</c:v>
                </c:pt>
                <c:pt idx="5">
                  <c:v>46199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C4-48CB-9A95-2F76C5470E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6512496"/>
        <c:axId val="106521616"/>
      </c:barChart>
      <c:dateAx>
        <c:axId val="106512496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521616"/>
        <c:crosses val="autoZero"/>
        <c:auto val="1"/>
        <c:lblOffset val="100"/>
        <c:baseTimeUnit val="months"/>
      </c:dateAx>
      <c:valAx>
        <c:axId val="106521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512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zh-CN" altLang="en-US" sz="1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月度事故趋势 </a:t>
            </a:r>
            <a:r>
              <a:rPr lang="en-US" sz="13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Monthly Incident Trend (2026)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事故起数 Incidents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2653-4F96-9D40-801A6B3DC94A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2653-4F96-9D40-801A6B3DC94A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2653-4F96-9D40-801A6B3DC94A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2653-4F96-9D40-801A6B3DC94A}"/>
              </c:ext>
            </c:extLst>
          </c:dPt>
          <c:dPt>
            <c:idx val="4"/>
            <c:invertIfNegative val="1"/>
            <c:bubble3D val="0"/>
            <c:spPr>
              <a:solidFill>
                <a:srgbClr val="E89A00"/>
              </a:solidFill>
            </c:spPr>
            <c:extLst>
              <c:ext xmlns:c16="http://schemas.microsoft.com/office/drawing/2014/chart" uri="{C3380CC4-5D6E-409C-BE32-E72D297353CC}">
                <c16:uniqueId val="{00000009-2653-4F96-9D40-801A6B3DC94A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latin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 1月</c:v>
                </c:pt>
                <c:pt idx="1">
                  <c:v>Feb 2月</c:v>
                </c:pt>
                <c:pt idx="2">
                  <c:v>Mar 3月</c:v>
                </c:pt>
                <c:pt idx="3">
                  <c:v>Apr 4月</c:v>
                </c:pt>
                <c:pt idx="4">
                  <c:v>May 5月</c:v>
                </c:pt>
                <c:pt idx="5">
                  <c:v>Jun 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2653-4F96-9D40-801A6B3DC94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823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728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CC3E7-10E0-8636-E6DA-D348BEF9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1E694-91F5-55E0-0455-66E3F8AA2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98B6E-90DC-16F4-8B33-2AB5EDAC4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87119-1437-6600-B484-92934255B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808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30C5F-F97B-7DD0-C848-CDBCDF22A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CF81C-8C11-AD6E-2D90-EA723DC9F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E49C6-CFD2-B186-72E6-0692B6B5F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8040E-2399-F33C-23EB-8223D7AAF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022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688D1-3B86-7F94-825C-58338200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DB268-1169-D0AA-136B-4FCA05C2F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A0E3BF-1516-8B6D-6D7A-31E98D6E3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E22C0-8F64-E54B-8E96-A36658FE9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14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10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32817-CF8F-2CFF-C98A-06C97C21E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FE2071-089C-6F47-2F2E-21CDC3C6D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4F2F2E-FE1E-345C-6E00-0B601D440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SG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E64373-396D-F1F3-0DDD-2E928AAED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8F5AA-9C31-4ED1-824B-C860FDEFBFC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180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48BB9-4112-B651-6AC4-5821D0134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43FA3E-6CD1-EDE1-DE0F-AB41B8D33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FE33CC-BAB3-95DE-58F9-997EE923B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SG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44C7A8-17C9-D1E9-5A04-92687ACEA2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8F5AA-9C31-4ED1-824B-C860FDEFBFC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1448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B3C86-03F7-1307-6A28-FC073B21F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20A1A2-31D8-852E-1EEF-20A0C4AE4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335BC9-13F0-3C21-459B-4E113853F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SG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2EFEAB-29E0-E697-57D8-84B17731F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8F5AA-9C31-4ED1-824B-C860FDEFBFC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1313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425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55E32A-23E1-40B3-B434-148655B1CBE9}" type="datetimeFigureOut">
              <a:rPr lang="zh-CN" altLang="en-US" smtClean="0"/>
              <a:t>2026/7/4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8BEFBF-5B5F-4BD2-A74A-61A97BF120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55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  <p:pic>
        <p:nvPicPr>
          <p:cNvPr id="5" name="图片 4" descr="logoes-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995" y="199390"/>
            <a:ext cx="1623378" cy="44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1476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17.xml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27.xml"/><Relationship Id="rId10" Type="http://schemas.openxmlformats.org/officeDocument/2006/relationships/tags" Target="../tags/tag32.xml"/><Relationship Id="rId4" Type="http://schemas.openxmlformats.org/officeDocument/2006/relationships/tags" Target="../tags/tag26.xml"/><Relationship Id="rId9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10" Type="http://schemas.openxmlformats.org/officeDocument/2006/relationships/chart" Target="../charts/chart13.xml"/><Relationship Id="rId4" Type="http://schemas.openxmlformats.org/officeDocument/2006/relationships/tags" Target="../tags/tag37.xml"/><Relationship Id="rId9" Type="http://schemas.openxmlformats.org/officeDocument/2006/relationships/notesSlide" Target="../notesSlides/notesSlide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007895" y="2473325"/>
            <a:ext cx="50577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ym typeface="+mn-ea"/>
              </a:rPr>
              <a:t>US Quality Management</a:t>
            </a:r>
          </a:p>
          <a:p>
            <a:pPr algn="ctr"/>
            <a:r>
              <a:rPr lang="zh-CN" altLang="en-US" sz="3200" b="1" dirty="0">
                <a:sym typeface="+mn-ea"/>
              </a:rPr>
              <a:t>北美质量管理部</a:t>
            </a:r>
            <a:endParaRPr lang="en-US" altLang="zh-CN" sz="3200" b="1" dirty="0">
              <a:sym typeface="+mn-ea"/>
            </a:endParaRPr>
          </a:p>
          <a:p>
            <a:endParaRPr lang="en-US" altLang="zh-CN" sz="3200" b="1" dirty="0">
              <a:sym typeface="+mn-ea"/>
            </a:endParaRPr>
          </a:p>
          <a:p>
            <a:endParaRPr lang="en-US" altLang="zh-CN" sz="3200" b="1" dirty="0">
              <a:sym typeface="+mn-ea"/>
            </a:endParaRPr>
          </a:p>
          <a:p>
            <a:endParaRPr lang="en-US" altLang="zh-CN" sz="3200" b="1" dirty="0">
              <a:sym typeface="+mn-ea"/>
            </a:endParaRPr>
          </a:p>
          <a:p>
            <a:pPr algn="r"/>
            <a:r>
              <a:rPr lang="en-US" altLang="zh-CN" sz="3200" b="1" dirty="0">
                <a:sym typeface="+mn-ea"/>
              </a:rPr>
              <a:t>Jun 2026 </a:t>
            </a:r>
            <a:endParaRPr lang="zh-CN" alt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6187C-782C-533F-1705-400228C28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289"/>
            <a:ext cx="4564381" cy="685189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53"/>
          <p:cNvSpPr/>
          <p:nvPr>
            <p:custDataLst>
              <p:tags r:id="rId1"/>
            </p:custDataLst>
          </p:nvPr>
        </p:nvSpPr>
        <p:spPr>
          <a:xfrm>
            <a:off x="4634760" y="1985784"/>
            <a:ext cx="719113" cy="719974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rgbClr val="00B05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4000" tIns="324000" rIns="0" bIns="47486" rtlCol="0" anchor="ctr">
            <a:noAutofit/>
          </a:bodyPr>
          <a:lstStyle/>
          <a:p>
            <a:pPr algn="ctr"/>
            <a:r>
              <a:rPr lang="en-US" altLang="zh-CN" sz="2800" b="1" dirty="0">
                <a:solidFill>
                  <a:srgbClr val="FFFFFF"/>
                </a:solidFill>
                <a:latin typeface="+mj-ea"/>
                <a:ea typeface="+mj-ea"/>
              </a:rPr>
              <a:t>01</a:t>
            </a:r>
          </a:p>
        </p:txBody>
      </p:sp>
      <p:sp>
        <p:nvSpPr>
          <p:cNvPr id="15" name="任意多边形: 形状 56"/>
          <p:cNvSpPr/>
          <p:nvPr>
            <p:custDataLst>
              <p:tags r:id="rId2"/>
            </p:custDataLst>
          </p:nvPr>
        </p:nvSpPr>
        <p:spPr>
          <a:xfrm>
            <a:off x="962109" y="1476260"/>
            <a:ext cx="4426550" cy="1238395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 Black" panose="020B0A04020102020204" charset="0"/>
              </a:rPr>
              <a:t>Supplier &amp; Materials Performance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 Black" panose="020B0A04020102020204" charset="0"/>
              </a:rPr>
              <a:t>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 Black" panose="020B0A04020102020204" charset="0"/>
              </a:rPr>
              <a:t>供应链</a:t>
            </a:r>
            <a:endParaRPr lang="zh-CN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Arial Black" panose="020B0A04020102020204" charset="0"/>
            </a:endParaRPr>
          </a:p>
        </p:txBody>
      </p:sp>
      <p:sp>
        <p:nvSpPr>
          <p:cNvPr id="16" name="任意多边形: 形状 61"/>
          <p:cNvSpPr/>
          <p:nvPr>
            <p:custDataLst>
              <p:tags r:id="rId3"/>
            </p:custDataLst>
          </p:nvPr>
        </p:nvSpPr>
        <p:spPr>
          <a:xfrm>
            <a:off x="4634760" y="3341087"/>
            <a:ext cx="719114" cy="719974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4000" tIns="324000" rIns="0" bIns="47486" rtlCol="0" anchor="ctr">
            <a:noAutofit/>
          </a:bodyPr>
          <a:lstStyle/>
          <a:p>
            <a:pPr algn="ctr"/>
            <a:r>
              <a:rPr lang="en-US" altLang="zh-CN" sz="2800" b="1" dirty="0">
                <a:solidFill>
                  <a:srgbClr val="FFFFFF"/>
                </a:solidFill>
                <a:latin typeface="+mj-ea"/>
                <a:ea typeface="+mj-ea"/>
              </a:rPr>
              <a:t>03</a:t>
            </a:r>
          </a:p>
        </p:txBody>
      </p:sp>
      <p:sp>
        <p:nvSpPr>
          <p:cNvPr id="17" name="任意多边形: 形状 64"/>
          <p:cNvSpPr/>
          <p:nvPr>
            <p:custDataLst>
              <p:tags r:id="rId4"/>
            </p:custDataLst>
          </p:nvPr>
        </p:nvSpPr>
        <p:spPr>
          <a:xfrm>
            <a:off x="962109" y="2822823"/>
            <a:ext cx="4426550" cy="1238395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rgbClr val="00B05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 Black" panose="020B0A04020102020204" charset="0"/>
              </a:rPr>
              <a:t>Store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 Black" panose="020B0A04020102020204" charset="0"/>
              </a:rPr>
              <a:t>Audit</a:t>
            </a:r>
            <a:r>
              <a:rPr lang="zh-CN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 Black" panose="020B0A04020102020204" charset="0"/>
              </a:rPr>
              <a:t> Performance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 Black" panose="020B0A04020102020204" charset="0"/>
              </a:rPr>
              <a:t>门店稽核</a:t>
            </a:r>
            <a:r>
              <a:rPr lang="zh-CN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 Black" panose="020B0A04020102020204" charset="0"/>
              </a:rPr>
              <a:t> </a:t>
            </a:r>
          </a:p>
        </p:txBody>
      </p:sp>
      <p:sp>
        <p:nvSpPr>
          <p:cNvPr id="18" name="任意多边形: 形状 65"/>
          <p:cNvSpPr/>
          <p:nvPr>
            <p:custDataLst>
              <p:tags r:id="rId5"/>
            </p:custDataLst>
          </p:nvPr>
        </p:nvSpPr>
        <p:spPr>
          <a:xfrm>
            <a:off x="4634760" y="4730513"/>
            <a:ext cx="719114" cy="719974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rgbClr val="00B05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44000" tIns="324000" rIns="0" bIns="47486" rtlCol="0" anchor="ctr">
            <a:noAutofit/>
          </a:bodyPr>
          <a:lstStyle/>
          <a:p>
            <a:pPr algn="ctr"/>
            <a:r>
              <a:rPr lang="en-US" altLang="zh-CN" sz="2800" b="1" dirty="0">
                <a:solidFill>
                  <a:srgbClr val="FFFFFF"/>
                </a:solidFill>
                <a:latin typeface="+mj-ea"/>
                <a:ea typeface="+mj-ea"/>
              </a:rPr>
              <a:t>05</a:t>
            </a:r>
          </a:p>
        </p:txBody>
      </p:sp>
      <p:sp>
        <p:nvSpPr>
          <p:cNvPr id="20" name="任意多边形: 形状 91"/>
          <p:cNvSpPr/>
          <p:nvPr>
            <p:custDataLst>
              <p:tags r:id="rId6"/>
            </p:custDataLst>
          </p:nvPr>
        </p:nvSpPr>
        <p:spPr>
          <a:xfrm flipH="1">
            <a:off x="5751497" y="1985784"/>
            <a:ext cx="719113" cy="719974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rgbClr val="00B05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324000" rIns="144000" bIns="47486" rtlCol="0" anchor="ctr">
            <a:noAutofit/>
          </a:bodyPr>
          <a:lstStyle/>
          <a:p>
            <a:pPr algn="ctr"/>
            <a:r>
              <a:rPr lang="en-US" altLang="zh-CN" sz="2800" b="1" dirty="0">
                <a:solidFill>
                  <a:srgbClr val="FFFFFF"/>
                </a:solidFill>
                <a:latin typeface="+mj-ea"/>
                <a:ea typeface="+mj-ea"/>
              </a:rPr>
              <a:t>02</a:t>
            </a:r>
          </a:p>
        </p:txBody>
      </p:sp>
      <p:sp>
        <p:nvSpPr>
          <p:cNvPr id="21" name="任意多边形: 形状 94"/>
          <p:cNvSpPr/>
          <p:nvPr>
            <p:custDataLst>
              <p:tags r:id="rId7"/>
            </p:custDataLst>
          </p:nvPr>
        </p:nvSpPr>
        <p:spPr>
          <a:xfrm flipH="1">
            <a:off x="5717047" y="1476260"/>
            <a:ext cx="4500378" cy="1238395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rgbClr val="00B05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zh-CN" sz="2000" dirty="0">
                <a:solidFill>
                  <a:schemeClr val="tx1"/>
                </a:solidFill>
                <a:latin typeface="+mj-ea"/>
                <a:ea typeface="+mj-ea"/>
                <a:cs typeface="Arial Black" panose="020B0A04020102020204" charset="0"/>
              </a:rPr>
              <a:t>Warehouse Quality Performance</a:t>
            </a:r>
            <a:r>
              <a:rPr lang="en-US" altLang="zh-CN" sz="2000" dirty="0">
                <a:solidFill>
                  <a:schemeClr val="tx1"/>
                </a:solidFill>
                <a:latin typeface="+mj-ea"/>
                <a:ea typeface="+mj-ea"/>
                <a:cs typeface="Arial Black" panose="020B0A04020102020204" charset="0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+mj-ea"/>
                <a:ea typeface="+mj-ea"/>
                <a:cs typeface="Arial Black" panose="020B0A04020102020204" charset="0"/>
              </a:rPr>
              <a:t>仓配</a:t>
            </a:r>
            <a:endParaRPr lang="zh-CN" altLang="zh-CN" sz="2000" dirty="0">
              <a:solidFill>
                <a:schemeClr val="tx1"/>
              </a:solidFill>
              <a:latin typeface="+mj-ea"/>
              <a:ea typeface="+mj-ea"/>
              <a:cs typeface="Arial Black" panose="020B0A04020102020204" charset="0"/>
            </a:endParaRPr>
          </a:p>
        </p:txBody>
      </p:sp>
      <p:sp>
        <p:nvSpPr>
          <p:cNvPr id="22" name="任意多边形: 形状 95"/>
          <p:cNvSpPr/>
          <p:nvPr>
            <p:custDataLst>
              <p:tags r:id="rId8"/>
            </p:custDataLst>
          </p:nvPr>
        </p:nvSpPr>
        <p:spPr>
          <a:xfrm flipH="1">
            <a:off x="5751497" y="3341087"/>
            <a:ext cx="719114" cy="719974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rgbClr val="00B05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324000" rIns="144000" bIns="47486" rtlCol="0" anchor="ctr">
            <a:noAutofit/>
          </a:bodyPr>
          <a:lstStyle/>
          <a:p>
            <a:pPr algn="ctr"/>
            <a:r>
              <a:rPr lang="en-US" altLang="zh-CN" sz="2800" b="1" dirty="0">
                <a:solidFill>
                  <a:srgbClr val="FFFFFF"/>
                </a:solidFill>
                <a:latin typeface="+mj-ea"/>
                <a:ea typeface="+mj-ea"/>
              </a:rPr>
              <a:t>04</a:t>
            </a:r>
          </a:p>
        </p:txBody>
      </p:sp>
      <p:sp>
        <p:nvSpPr>
          <p:cNvPr id="23" name="任意多边形: 形状 98"/>
          <p:cNvSpPr/>
          <p:nvPr>
            <p:custDataLst>
              <p:tags r:id="rId9"/>
            </p:custDataLst>
          </p:nvPr>
        </p:nvSpPr>
        <p:spPr>
          <a:xfrm flipH="1">
            <a:off x="5717046" y="2835817"/>
            <a:ext cx="4500376" cy="1238395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rgbClr val="00B05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cs typeface="Arial Black" panose="020B0A04020102020204" charset="0"/>
              </a:rPr>
              <a:t>Customer Complaint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cs typeface="Arial Black" panose="020B0A0402010202020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cs typeface="Arial Black" panose="020B0A04020102020204" charset="0"/>
              </a:rPr>
              <a:t>客户投诉</a:t>
            </a:r>
            <a:endParaRPr lang="zh-CN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cs typeface="Arial Black" panose="020B0A04020102020204" charset="0"/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01095158"/>
              </p:ext>
            </p:extLst>
          </p:nvPr>
        </p:nvGraphicFramePr>
        <p:xfrm>
          <a:off x="1180465" y="5687060"/>
          <a:ext cx="8745855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5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5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5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/>
                        <a:t>Significant deviation observed/Below expectations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1200" dirty="0"/>
                        <a:t>发现重大偏差 </a:t>
                      </a:r>
                      <a:r>
                        <a:rPr lang="en-US" altLang="zh-CN" sz="1200" dirty="0"/>
                        <a:t>/ </a:t>
                      </a:r>
                      <a:r>
                        <a:rPr lang="zh-CN" altLang="en-US" sz="1200" dirty="0"/>
                        <a:t>低于预期</a:t>
                      </a:r>
                      <a:endParaRPr lang="en-US" altLang="zh-CN" sz="120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/>
                        <a:t>Performance fluctuating, requires close monitoring 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1200" dirty="0"/>
                        <a:t>表现波动，需要密切关注</a:t>
                      </a:r>
                      <a:endParaRPr lang="en-US" altLang="zh-CN" sz="12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bg1"/>
                          </a:solidFill>
                        </a:rPr>
                        <a:t>No obvious anomalies </a:t>
                      </a:r>
                    </a:p>
                    <a:p>
                      <a:pPr algn="ctr">
                        <a:buNone/>
                      </a:pPr>
                      <a:endParaRPr lang="en-US" altLang="zh-CN" sz="120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spc="5" dirty="0">
                          <a:solidFill>
                            <a:schemeClr val="bg1"/>
                          </a:solidFill>
                          <a:latin typeface="Microsoft YaHei"/>
                          <a:cs typeface="Microsoft YaHei"/>
                        </a:rPr>
                        <a:t>整体无明显</a:t>
                      </a:r>
                      <a:r>
                        <a:rPr lang="zh-CN" altLang="en-US" sz="1200" spc="-25" dirty="0">
                          <a:solidFill>
                            <a:schemeClr val="bg1"/>
                          </a:solidFill>
                          <a:latin typeface="Microsoft YaHei"/>
                          <a:cs typeface="Microsoft YaHei"/>
                        </a:rPr>
                        <a:t>异常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标题 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96000" y="394405"/>
            <a:ext cx="10800000" cy="457200"/>
          </a:xfrm>
          <a:prstGeom prst="rect">
            <a:avLst/>
          </a:prstGeom>
        </p:spPr>
        <p:txBody>
          <a:bodyPr vert="horz" wrap="square" lIns="0" tIns="0" rIns="0" bIns="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pc="-20" dirty="0">
                <a:solidFill>
                  <a:srgbClr val="6E3508"/>
                </a:solidFill>
              </a:rPr>
              <a:t>6</a:t>
            </a:r>
            <a:r>
              <a:rPr lang="zh-CN" altLang="en-US" spc="-40" dirty="0">
                <a:solidFill>
                  <a:srgbClr val="6E3508"/>
                </a:solidFill>
              </a:rPr>
              <a:t>月整体质量表现</a:t>
            </a:r>
            <a:endParaRPr lang="zh-CN" altLang="en-US" sz="2600" dirty="0"/>
          </a:p>
        </p:txBody>
      </p:sp>
      <p:sp>
        <p:nvSpPr>
          <p:cNvPr id="4" name="任意多边形: 形状 64">
            <a:extLst>
              <a:ext uri="{FF2B5EF4-FFF2-40B4-BE49-F238E27FC236}">
                <a16:creationId xmlns:a16="http://schemas.microsoft.com/office/drawing/2014/main" id="{E961C279-06BF-FF23-A0A6-1499FC88A38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962109" y="4254942"/>
            <a:ext cx="4426549" cy="1238395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rgbClr val="00B05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 Black" panose="020B0A04020102020204" charset="0"/>
              </a:rPr>
              <a:t>EHS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Arial Black" panose="020B0A04020102020204" charset="0"/>
              </a:rPr>
              <a:t>环境健康安全</a:t>
            </a:r>
            <a:endParaRPr lang="zh-CN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Arial Black" panose="020B0A04020102020204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FD846-200B-D342-FF3D-96469DFF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35F33F3-0E9D-F903-B5E0-BF384B8B9A5A}"/>
              </a:ext>
            </a:extLst>
          </p:cNvPr>
          <p:cNvSpPr txBox="1"/>
          <p:nvPr/>
        </p:nvSpPr>
        <p:spPr>
          <a:xfrm>
            <a:off x="7627620" y="2816225"/>
            <a:ext cx="421187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ym typeface="+mn-ea"/>
              </a:rPr>
              <a:t>Supplier &amp; Materials &amp; Warehouse Performance</a:t>
            </a:r>
          </a:p>
          <a:p>
            <a:r>
              <a:rPr lang="zh-CN" altLang="en-US" sz="3200" b="1" dirty="0">
                <a:sym typeface="+mn-ea"/>
              </a:rPr>
              <a:t>供应链仓配质检</a:t>
            </a:r>
            <a:endParaRPr lang="zh-CN" alt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3B94BA-8844-DDEB-D7E4-6FCB664BB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85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4341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>
            <p:custDataLst>
              <p:tags r:id="rId1"/>
            </p:custDataLst>
          </p:nvPr>
        </p:nvSpPr>
        <p:spPr>
          <a:xfrm>
            <a:off x="696000" y="2450249"/>
            <a:ext cx="10753090" cy="4348116"/>
          </a:xfrm>
          <a:prstGeom prst="roundRect">
            <a:avLst>
              <a:gd name="adj" fmla="val 5555"/>
            </a:avLst>
          </a:prstGeom>
          <a:solidFill>
            <a:schemeClr val="bg2"/>
          </a:solidFill>
          <a:ln w="6350">
            <a:noFill/>
            <a:prstDash val="solid"/>
          </a:ln>
          <a:effectLst>
            <a:outerShdw blurRad="304800" dist="38100" algn="l" rotWithShape="0">
              <a:schemeClr val="tx2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179705" tIns="36195" rIns="179705" bIns="136525" numCol="1" spcCol="0" rtlCol="0" fromWordArt="0" anchor="ctr" anchorCtr="0" forceAA="0" compatLnSpc="1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7" name="标题 1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6000" y="136264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01  Supplier &amp; Materials Performance</a:t>
            </a:r>
          </a:p>
        </p:txBody>
      </p:sp>
      <p:sp>
        <p:nvSpPr>
          <p:cNvPr id="2" name="任意多边形: 形状 424"/>
          <p:cNvSpPr/>
          <p:nvPr>
            <p:custDataLst>
              <p:tags r:id="rId3"/>
            </p:custDataLst>
          </p:nvPr>
        </p:nvSpPr>
        <p:spPr>
          <a:xfrm>
            <a:off x="696000" y="1071664"/>
            <a:ext cx="10770235" cy="1226185"/>
          </a:xfrm>
          <a:prstGeom prst="roundRect">
            <a:avLst>
              <a:gd name="adj" fmla="val 14344"/>
            </a:avLst>
          </a:prstGeom>
          <a:solidFill>
            <a:schemeClr val="bg2"/>
          </a:solidFill>
          <a:ln w="6350">
            <a:noFill/>
            <a:prstDash val="solid"/>
          </a:ln>
          <a:effectLst>
            <a:outerShdw blurRad="304800" dist="38100" algn="l" rotWithShape="0">
              <a:schemeClr val="tx2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323850" tIns="107950" rIns="323850" bIns="136525" rtlCol="0" anchor="ctr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1. </a:t>
            </a:r>
            <a:r>
              <a:rPr lang="zh-CN" altLang="en-US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Suppliers</a:t>
            </a:r>
            <a:r>
              <a:rPr lang="zh-CN" alt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admission: </a:t>
            </a:r>
            <a:r>
              <a:rPr lang="en-US" altLang="zh-CN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total applied 4  </a:t>
            </a:r>
            <a:r>
              <a:rPr lang="zh-CN" alt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 </a:t>
            </a:r>
            <a:r>
              <a:rPr lang="en-US" altLang="zh-CN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4</a:t>
            </a:r>
            <a:r>
              <a:rPr lang="zh-CN" alt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家供应商准入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573570" y="2022259"/>
            <a:ext cx="8536305" cy="634365"/>
            <a:chOff x="2720" y="7332"/>
            <a:chExt cx="13443" cy="999"/>
          </a:xfrm>
        </p:grpSpPr>
        <p:sp>
          <p:nvSpPr>
            <p:cNvPr id="11" name="椭圆 10"/>
            <p:cNvSpPr/>
            <p:nvPr>
              <p:custDataLst>
                <p:tags r:id="rId5"/>
              </p:custDataLst>
            </p:nvPr>
          </p:nvSpPr>
          <p:spPr>
            <a:xfrm>
              <a:off x="2720" y="7332"/>
              <a:ext cx="320" cy="3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101600" dist="38100" dir="16200000">
                <a:schemeClr val="accent1">
                  <a:lumMod val="50000"/>
                  <a:alpha val="38000"/>
                </a:scheme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>
              <p:custDataLst>
                <p:tags r:id="rId6"/>
              </p:custDataLst>
            </p:nvPr>
          </p:nvSpPr>
          <p:spPr>
            <a:xfrm>
              <a:off x="2720" y="8006"/>
              <a:ext cx="320" cy="3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101600" dist="38100" dir="16200000">
                <a:schemeClr val="accent1">
                  <a:lumMod val="50000"/>
                  <a:alpha val="38000"/>
                </a:scheme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5843" y="7337"/>
              <a:ext cx="320" cy="3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101600" dist="38100" dir="16200000">
                <a:schemeClr val="accent1">
                  <a:lumMod val="50000"/>
                  <a:alpha val="38000"/>
                </a:scheme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>
              <p:custDataLst>
                <p:tags r:id="rId8"/>
              </p:custDataLst>
            </p:nvPr>
          </p:nvSpPr>
          <p:spPr>
            <a:xfrm>
              <a:off x="15843" y="8011"/>
              <a:ext cx="320" cy="3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101600" dist="38100" dir="16200000">
                <a:schemeClr val="accent1">
                  <a:lumMod val="50000"/>
                  <a:alpha val="38000"/>
                </a:scheme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圆角矩形 18"/>
            <p:cNvSpPr/>
            <p:nvPr>
              <p:custDataLst>
                <p:tags r:id="rId9"/>
              </p:custDataLst>
            </p:nvPr>
          </p:nvSpPr>
          <p:spPr>
            <a:xfrm>
              <a:off x="2790" y="7464"/>
              <a:ext cx="180" cy="737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 w="6350">
              <a:solidFill>
                <a:schemeClr val="accent1">
                  <a:alpha val="1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90000"/>
                  <a:lumOff val="10000"/>
                  <a:alpha val="21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0" name="圆角矩形 19"/>
            <p:cNvSpPr/>
            <p:nvPr>
              <p:custDataLst>
                <p:tags r:id="rId10"/>
              </p:custDataLst>
            </p:nvPr>
          </p:nvSpPr>
          <p:spPr>
            <a:xfrm>
              <a:off x="15913" y="7464"/>
              <a:ext cx="180" cy="737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 w="6350">
              <a:solidFill>
                <a:schemeClr val="accent1">
                  <a:alpha val="10000"/>
                </a:schemeClr>
              </a:solidFill>
            </a:ln>
            <a:effectLst>
              <a:outerShdw blurRad="50800" dist="38100" dir="2700000" algn="tl" rotWithShape="0">
                <a:schemeClr val="tx2">
                  <a:alpha val="21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0" name="表格 9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66302920"/>
              </p:ext>
            </p:extLst>
          </p:nvPr>
        </p:nvGraphicFramePr>
        <p:xfrm>
          <a:off x="1158280" y="2659799"/>
          <a:ext cx="9573928" cy="3673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9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0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3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28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Supplier Category</a:t>
                      </a: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Approved #</a:t>
                      </a: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Total applied #</a:t>
                      </a:r>
                    </a:p>
                  </a:txBody>
                  <a:tcPr marL="177800" marR="177800" marT="66675" marB="666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151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Raw material</a:t>
                      </a:r>
                      <a:r>
                        <a:rPr lang="zh-CN" altLang="en-US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原料</a:t>
                      </a:r>
                      <a:endParaRPr lang="en-US" altLang="zh-CN" sz="1400" b="0" spc="12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</a:p>
                  </a:txBody>
                  <a:tcPr marL="177800" marR="177800" marT="66675" marB="666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453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Light food </a:t>
                      </a:r>
                      <a:r>
                        <a:rPr lang="zh-CN" altLang="en-US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轻食</a:t>
                      </a:r>
                      <a:endParaRPr lang="en-US" altLang="zh-CN" sz="1400" b="0" spc="12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32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Food contact material </a:t>
                      </a:r>
                      <a:r>
                        <a:rPr lang="zh-CN" altLang="en-US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食品接触</a:t>
                      </a:r>
                      <a:endParaRPr lang="en-US" altLang="zh-CN" sz="1400" b="0" spc="12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453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Chemicals </a:t>
                      </a:r>
                      <a:r>
                        <a:rPr lang="zh-CN" altLang="en-US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化学品</a:t>
                      </a:r>
                      <a:endParaRPr lang="en-US" altLang="zh-CN" sz="1400" b="0" spc="12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453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Other none-food </a:t>
                      </a:r>
                      <a:r>
                        <a:rPr lang="zh-CN" altLang="en-US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其他</a:t>
                      </a:r>
                      <a:endParaRPr lang="en-US" altLang="zh-CN" sz="1400" b="0" spc="12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</a:p>
                  </a:txBody>
                  <a:tcPr marL="177800" marR="177800" marT="66675" marB="66675" anchor="ctr"/>
                </a:tc>
                <a:extLst>
                  <a:ext uri="{0D108BD9-81ED-4DB2-BD59-A6C34878D82A}">
                    <a16:rowId xmlns:a16="http://schemas.microsoft.com/office/drawing/2014/main" val="32896322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37E13-36B9-8250-5744-CBC6F1C7D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extLst>
              <a:ext uri="{FF2B5EF4-FFF2-40B4-BE49-F238E27FC236}">
                <a16:creationId xmlns:a16="http://schemas.microsoft.com/office/drawing/2014/main" id="{E965D493-D154-E614-5BEF-1FC8DD75E57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96000" y="2450249"/>
            <a:ext cx="10753090" cy="4157285"/>
          </a:xfrm>
          <a:prstGeom prst="roundRect">
            <a:avLst>
              <a:gd name="adj" fmla="val 5555"/>
            </a:avLst>
          </a:prstGeom>
          <a:solidFill>
            <a:schemeClr val="bg2"/>
          </a:solidFill>
          <a:ln w="6350">
            <a:noFill/>
            <a:prstDash val="solid"/>
          </a:ln>
          <a:effectLst>
            <a:outerShdw blurRad="304800" dist="38100" algn="l" rotWithShape="0">
              <a:schemeClr val="tx2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179705" tIns="36195" rIns="179705" bIns="136525" numCol="1" spcCol="0" rtlCol="0" fromWordArt="0" anchor="ctr" anchorCtr="0" forceAA="0" compatLnSpc="1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635799BD-F23D-B92F-06E9-42B1EE5023F7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6000" y="136264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01  Supplier &amp; Materials Performance</a:t>
            </a:r>
          </a:p>
        </p:txBody>
      </p:sp>
      <p:sp>
        <p:nvSpPr>
          <p:cNvPr id="2" name="任意多边形: 形状 424">
            <a:extLst>
              <a:ext uri="{FF2B5EF4-FFF2-40B4-BE49-F238E27FC236}">
                <a16:creationId xmlns:a16="http://schemas.microsoft.com/office/drawing/2014/main" id="{F6B1AE8C-B30F-09AE-5E38-FD5CDD73346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96000" y="1071664"/>
            <a:ext cx="10770235" cy="1226185"/>
          </a:xfrm>
          <a:prstGeom prst="roundRect">
            <a:avLst>
              <a:gd name="adj" fmla="val 14344"/>
            </a:avLst>
          </a:prstGeom>
          <a:solidFill>
            <a:schemeClr val="bg2"/>
          </a:solidFill>
          <a:ln w="6350">
            <a:noFill/>
            <a:prstDash val="solid"/>
          </a:ln>
          <a:effectLst>
            <a:outerShdw blurRad="304800" dist="38100" algn="l" rotWithShape="0">
              <a:schemeClr val="tx2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323850" tIns="107950" rIns="323850" bIns="136525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2</a:t>
            </a:r>
            <a:r>
              <a:rPr lang="zh-CN" alt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. </a:t>
            </a:r>
            <a:r>
              <a:rPr lang="en-US" altLang="zh-CN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Materials</a:t>
            </a:r>
            <a:r>
              <a:rPr lang="zh-CN" alt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admission: </a:t>
            </a:r>
            <a:r>
              <a:rPr lang="en-US" altLang="zh-CN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total applied 0   </a:t>
            </a:r>
            <a:r>
              <a:rPr lang="zh-CN" alt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无新原料准入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7EF4544-EF74-76AD-DE0A-D2B43AB8C5FE}"/>
              </a:ext>
            </a:extLst>
          </p:cNvPr>
          <p:cNvGrpSpPr/>
          <p:nvPr/>
        </p:nvGrpSpPr>
        <p:grpSpPr>
          <a:xfrm>
            <a:off x="1573570" y="2022259"/>
            <a:ext cx="8536305" cy="634365"/>
            <a:chOff x="2720" y="7332"/>
            <a:chExt cx="13443" cy="999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4345203-7CEC-AAEE-CCB2-9BC8BFAF9792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720" y="7332"/>
              <a:ext cx="320" cy="3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101600" dist="38100" dir="16200000">
                <a:schemeClr val="accent1">
                  <a:lumMod val="50000"/>
                  <a:alpha val="38000"/>
                </a:scheme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6A6F786-A168-129B-4889-0C461D2FAD3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2720" y="8006"/>
              <a:ext cx="320" cy="3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101600" dist="38100" dir="16200000">
                <a:schemeClr val="accent1">
                  <a:lumMod val="50000"/>
                  <a:alpha val="38000"/>
                </a:scheme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A75C1794-A1EC-2B6E-1296-282E3D12A56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5843" y="7337"/>
              <a:ext cx="320" cy="3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101600" dist="38100" dir="16200000">
                <a:schemeClr val="accent1">
                  <a:lumMod val="50000"/>
                  <a:alpha val="38000"/>
                </a:scheme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BD72BB6-C79E-31B2-06CA-BB0EFB2007C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5843" y="8011"/>
              <a:ext cx="320" cy="3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101600" dist="38100" dir="16200000">
                <a:schemeClr val="accent1">
                  <a:lumMod val="50000"/>
                  <a:alpha val="38000"/>
                </a:schemeClr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F05BB75C-A9D3-6B21-6E54-FBDBCD7A26F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2790" y="7464"/>
              <a:ext cx="180" cy="737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 w="6350">
              <a:solidFill>
                <a:schemeClr val="accent1">
                  <a:alpha val="1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90000"/>
                  <a:lumOff val="10000"/>
                  <a:alpha val="21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0" name="圆角矩形 19">
              <a:extLst>
                <a:ext uri="{FF2B5EF4-FFF2-40B4-BE49-F238E27FC236}">
                  <a16:creationId xmlns:a16="http://schemas.microsoft.com/office/drawing/2014/main" id="{1986F8DE-9D7A-33D6-1460-7166E3C4A631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5913" y="7464"/>
              <a:ext cx="180" cy="737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 w="6350">
              <a:solidFill>
                <a:schemeClr val="accent1">
                  <a:alpha val="10000"/>
                </a:schemeClr>
              </a:solidFill>
            </a:ln>
            <a:effectLst>
              <a:outerShdw blurRad="50800" dist="38100" dir="2700000" algn="tl" rotWithShape="0">
                <a:schemeClr val="tx2">
                  <a:alpha val="21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CADE969-0305-5E02-1C31-D79B103C2002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34715548"/>
              </p:ext>
            </p:extLst>
          </p:nvPr>
        </p:nvGraphicFramePr>
        <p:xfrm>
          <a:off x="1158280" y="2659799"/>
          <a:ext cx="9573928" cy="3753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9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0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3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03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Material Category</a:t>
                      </a: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Approved #</a:t>
                      </a: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500" b="1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Total applied #</a:t>
                      </a:r>
                    </a:p>
                  </a:txBody>
                  <a:tcPr marL="177800" marR="177800" marT="66675" marB="666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151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Raw material</a:t>
                      </a:r>
                      <a:r>
                        <a:rPr lang="zh-CN" altLang="en-US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原料</a:t>
                      </a:r>
                      <a:endParaRPr lang="en-US" altLang="zh-CN" sz="1400" b="0" spc="12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453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Light food </a:t>
                      </a:r>
                      <a:r>
                        <a:rPr lang="zh-CN" altLang="en-US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轻食</a:t>
                      </a:r>
                      <a:endParaRPr lang="en-US" altLang="zh-CN" sz="1400" b="0" spc="12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708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Food contact material </a:t>
                      </a:r>
                      <a:r>
                        <a:rPr lang="zh-CN" altLang="en-US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食品接触</a:t>
                      </a:r>
                      <a:endParaRPr lang="en-US" altLang="zh-CN" sz="1400" b="0" spc="12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514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kern="1200" spc="12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Promotional items </a:t>
                      </a:r>
                      <a:r>
                        <a:rPr lang="zh-CN" altLang="en-US" sz="1400" b="0" kern="1200" spc="12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营销物料</a:t>
                      </a:r>
                      <a:endParaRPr lang="en-US" altLang="zh-CN" sz="1400" b="0" kern="1200" spc="12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extLst>
                  <a:ext uri="{0D108BD9-81ED-4DB2-BD59-A6C34878D82A}">
                    <a16:rowId xmlns:a16="http://schemas.microsoft.com/office/drawing/2014/main" val="4120969447"/>
                  </a:ext>
                </a:extLst>
              </a:tr>
              <a:tr h="489453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Chemicals </a:t>
                      </a:r>
                      <a:r>
                        <a:rPr lang="zh-CN" altLang="en-US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化学品</a:t>
                      </a:r>
                      <a:endParaRPr lang="en-US" altLang="zh-CN" sz="1400" b="0" spc="12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extLst>
                  <a:ext uri="{0D108BD9-81ED-4DB2-BD59-A6C34878D82A}">
                    <a16:rowId xmlns:a16="http://schemas.microsoft.com/office/drawing/2014/main" val="1841615323"/>
                  </a:ext>
                </a:extLst>
              </a:tr>
              <a:tr h="489453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Other none-food </a:t>
                      </a:r>
                      <a:r>
                        <a:rPr lang="zh-CN" altLang="en-US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其他</a:t>
                      </a:r>
                      <a:endParaRPr lang="en-US" altLang="zh-CN" sz="1400" b="0" spc="12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altLang="zh-CN" sz="1400" b="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</a:p>
                  </a:txBody>
                  <a:tcPr marL="177800" marR="177800" marT="66675" marB="666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45103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84124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000" b="1"/>
            </a:pPr>
            <a:r>
              <a:rPr sz="2000" b="1">
                <a:solidFill>
                  <a:srgbClr val="1E2D41"/>
                </a:solidFill>
                <a:latin typeface="Microsoft YaHei"/>
              </a:rPr>
              <a:t>Supplier &amp; Materials &amp; Warehouse Quality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80467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00"/>
            </a:pPr>
            <a:r>
              <a:rPr sz="1100" b="0">
                <a:solidFill>
                  <a:srgbClr val="5F6978"/>
                </a:solidFill>
                <a:latin typeface="Microsoft YaHei"/>
              </a:rPr>
              <a:t>June 2026 PQNC Summary / 2026年6月 PQNC 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7710" y="6117590"/>
            <a:ext cx="3200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800" b="0">
                <a:solidFill>
                  <a:srgbClr val="5F6978"/>
                </a:solidFill>
                <a:latin typeface="Microsoft YaHe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36370" y="932688"/>
            <a:ext cx="1965960" cy="987552"/>
          </a:xfrm>
          <a:prstGeom prst="roundRect">
            <a:avLst/>
          </a:prstGeom>
          <a:solidFill>
            <a:srgbClr val="F5F7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9522" y="1033271"/>
            <a:ext cx="1819656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2400" b="1"/>
            </a:pPr>
            <a:r>
              <a:rPr sz="2400" b="1">
                <a:solidFill>
                  <a:srgbClr val="005EB8"/>
                </a:solidFill>
                <a:latin typeface="Microsoft YaHei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0378" y="1417320"/>
            <a:ext cx="1837943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980" b="1"/>
            </a:pPr>
            <a:r>
              <a:rPr sz="980" b="1">
                <a:solidFill>
                  <a:srgbClr val="1E2D41"/>
                </a:solidFill>
                <a:latin typeface="Microsoft YaHei"/>
              </a:rPr>
              <a:t>PQNC reported
月度上报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0378" y="1737360"/>
            <a:ext cx="1837943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830" b="0"/>
            </a:pPr>
            <a:r>
              <a:rPr sz="830" b="0">
                <a:solidFill>
                  <a:srgbClr val="5F6978"/>
                </a:solidFill>
                <a:latin typeface="Microsoft YaHei"/>
              </a:rPr>
              <a:t>vs May 52, +25%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1242" y="932688"/>
            <a:ext cx="1965960" cy="987552"/>
          </a:xfrm>
          <a:prstGeom prst="roundRect">
            <a:avLst/>
          </a:prstGeom>
          <a:solidFill>
            <a:srgbClr val="F5F7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14394" y="1033271"/>
            <a:ext cx="1819656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2400" b="1"/>
            </a:pPr>
            <a:r>
              <a:rPr sz="2400" b="1">
                <a:solidFill>
                  <a:srgbClr val="288C5A"/>
                </a:solidFill>
                <a:latin typeface="Microsoft Ya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5250" y="1417320"/>
            <a:ext cx="1837943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980" b="1"/>
            </a:pPr>
            <a:r>
              <a:rPr sz="980" b="1">
                <a:solidFill>
                  <a:srgbClr val="1E2D41"/>
                </a:solidFill>
                <a:latin typeface="Microsoft YaHei"/>
              </a:rPr>
              <a:t>Food-safety major
食安风险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5250" y="1737360"/>
            <a:ext cx="1837943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830" b="0"/>
            </a:pPr>
            <a:r>
              <a:rPr sz="830" b="0">
                <a:solidFill>
                  <a:srgbClr val="5F6978"/>
                </a:solidFill>
                <a:latin typeface="Microsoft YaHei"/>
              </a:rPr>
              <a:t>vs May 8, -38%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6114" y="932688"/>
            <a:ext cx="1965960" cy="987552"/>
          </a:xfrm>
          <a:prstGeom prst="roundRect">
            <a:avLst/>
          </a:prstGeom>
          <a:solidFill>
            <a:srgbClr val="F5F7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9266" y="1033271"/>
            <a:ext cx="1819656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2400" b="1"/>
            </a:pPr>
            <a:r>
              <a:rPr sz="2400" b="1">
                <a:solidFill>
                  <a:srgbClr val="C82D2D"/>
                </a:solidFill>
                <a:latin typeface="Microsoft YaHei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0122" y="1417320"/>
            <a:ext cx="1837943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950" b="1"/>
            </a:pPr>
            <a:r>
              <a:rPr lang="en-US" altLang="zh-CN" sz="1000" b="1" dirty="0">
                <a:solidFill>
                  <a:srgbClr val="1E2D41"/>
                </a:solidFill>
                <a:latin typeface="Microsoft YaHei"/>
              </a:rPr>
              <a:t>Warehouse + Joint
</a:t>
            </a:r>
            <a:r>
              <a:rPr lang="zh-CN" altLang="en-US" sz="1000" b="1" dirty="0">
                <a:solidFill>
                  <a:srgbClr val="1E2D41"/>
                </a:solidFill>
                <a:latin typeface="Microsoft YaHei"/>
              </a:rPr>
              <a:t>仓储</a:t>
            </a:r>
            <a:r>
              <a:rPr lang="en-US" altLang="zh-CN" sz="1000" b="1" dirty="0">
                <a:solidFill>
                  <a:srgbClr val="1E2D41"/>
                </a:solidFill>
                <a:latin typeface="Microsoft YaHei"/>
              </a:rPr>
              <a:t>/</a:t>
            </a:r>
            <a:r>
              <a:rPr lang="zh-CN" altLang="en-US" sz="1000" b="1" dirty="0">
                <a:solidFill>
                  <a:srgbClr val="1E2D41"/>
                </a:solidFill>
                <a:latin typeface="Microsoft YaHei"/>
              </a:rPr>
              <a:t>共担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0122" y="1737360"/>
            <a:ext cx="1837943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830" b="0"/>
            </a:pPr>
            <a:r>
              <a:rPr sz="830" b="0">
                <a:solidFill>
                  <a:srgbClr val="5F6978"/>
                </a:solidFill>
                <a:latin typeface="Microsoft YaHei"/>
              </a:rPr>
              <a:t>vs May 6, +400%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50986" y="932688"/>
            <a:ext cx="1965960" cy="987552"/>
          </a:xfrm>
          <a:prstGeom prst="roundRect">
            <a:avLst/>
          </a:prstGeom>
          <a:solidFill>
            <a:srgbClr val="F5F7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4138" y="1033271"/>
            <a:ext cx="1819656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2400" b="1"/>
            </a:pPr>
            <a:r>
              <a:rPr sz="2400" b="1">
                <a:solidFill>
                  <a:srgbClr val="EB9119"/>
                </a:solidFill>
                <a:latin typeface="Microsoft YaHei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994" y="1417320"/>
            <a:ext cx="1837943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980" b="1"/>
            </a:pPr>
            <a:r>
              <a:rPr sz="980" b="1">
                <a:solidFill>
                  <a:srgbClr val="1E2D41"/>
                </a:solidFill>
                <a:latin typeface="Microsoft YaHei"/>
              </a:rPr>
              <a:t>Supplier resp.
供应商责任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994" y="1737360"/>
            <a:ext cx="1837943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830" b="0"/>
            </a:pPr>
            <a:r>
              <a:rPr sz="830" b="0">
                <a:solidFill>
                  <a:srgbClr val="5F6978"/>
                </a:solidFill>
                <a:latin typeface="Microsoft YaHei"/>
              </a:rPr>
              <a:t>vs May 40, -55%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657772"/>
              </p:ext>
            </p:extLst>
          </p:nvPr>
        </p:nvGraphicFramePr>
        <p:xfrm>
          <a:off x="1167130" y="2357120"/>
          <a:ext cx="3291840" cy="2113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742166"/>
              </p:ext>
            </p:extLst>
          </p:nvPr>
        </p:nvGraphicFramePr>
        <p:xfrm>
          <a:off x="4486910" y="2414270"/>
          <a:ext cx="3164840" cy="21488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595870" y="2322830"/>
            <a:ext cx="34290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00" b="1"/>
            </a:pPr>
            <a:r>
              <a:rPr sz="1100" b="1" dirty="0">
                <a:solidFill>
                  <a:srgbClr val="1E2D41"/>
                </a:solidFill>
                <a:latin typeface="Microsoft YaHei"/>
              </a:rPr>
              <a:t>PQNC Type / </a:t>
            </a:r>
            <a:r>
              <a:rPr sz="1100" b="1" dirty="0" err="1">
                <a:solidFill>
                  <a:srgbClr val="1E2D41"/>
                </a:solidFill>
                <a:latin typeface="Microsoft YaHei"/>
              </a:rPr>
              <a:t>问题类型</a:t>
            </a:r>
            <a:endParaRPr sz="1100" b="1" dirty="0">
              <a:solidFill>
                <a:srgbClr val="1E2D41"/>
              </a:solidFill>
              <a:latin typeface="Microsoft YaHei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010065"/>
              </p:ext>
            </p:extLst>
          </p:nvPr>
        </p:nvGraphicFramePr>
        <p:xfrm>
          <a:off x="7595870" y="2597150"/>
          <a:ext cx="3865881" cy="1965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631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PQNC type / 类型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Food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FCM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Other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000"/>
                        <a:t>Total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438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Food Safety Issue / 食安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631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General Defect / 普通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36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6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43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631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Other / 其他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17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631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Total / 合计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56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/>
                        <a:t>8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000" dirty="0"/>
                        <a:t>65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846104"/>
              </p:ext>
            </p:extLst>
          </p:nvPr>
        </p:nvGraphicFramePr>
        <p:xfrm>
          <a:off x="1183131" y="4710683"/>
          <a:ext cx="3291840" cy="1850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 dirty="0"/>
                        <a:t>PQNC Responsibility / </a:t>
                      </a:r>
                      <a:r>
                        <a:rPr sz="1200" dirty="0" err="1"/>
                        <a:t>判责</a:t>
                      </a:r>
                      <a:endParaRPr sz="1200" dirty="0"/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/>
                        <a:t>Case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Warehouse / 仓储物流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27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Supplier / 供应商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18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Supplier &amp; Warehouse / 供应商&amp;仓储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Unknown / reject / irresponsibility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17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Total / 合计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/>
                        <a:t>65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829810" y="4685282"/>
            <a:ext cx="6537960" cy="207746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040">
                <a:solidFill>
                  <a:srgbClr val="1E2D41"/>
                </a:solidFill>
                <a:latin typeface="Microsoft YaHei"/>
              </a:defRPr>
            </a:pP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 June 2026, 65 PQNC were reported (vs. 52 in May, +25%). Major food-safety issues decreased to 5 (vs. 8 in May), all related to Cream-O-Land fat-free milk expiration/spoilage.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200"/>
              </a:spcAft>
              <a:defRPr sz="1040">
                <a:solidFill>
                  <a:srgbClr val="1E2D41"/>
                </a:solidFill>
                <a:latin typeface="Microsoft YaHei"/>
              </a:defRPr>
            </a:pPr>
            <a:endParaRPr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40">
                <a:solidFill>
                  <a:srgbClr val="1E2D41"/>
                </a:solidFill>
                <a:latin typeface="Microsoft YaHei"/>
              </a:defRPr>
            </a:pP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6月共上报 </a:t>
            </a:r>
            <a:r>
              <a:rPr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65 起 PQNC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5月 52 </a:t>
            </a: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起上升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25%；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40">
                <a:solidFill>
                  <a:srgbClr val="1E2D41"/>
                </a:solidFill>
                <a:latin typeface="Microsoft YaHei"/>
              </a:defRPr>
            </a:pP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40">
                <a:solidFill>
                  <a:srgbClr val="1E2D41"/>
                </a:solidFill>
                <a:latin typeface="Microsoft YaHei"/>
              </a:defRPr>
            </a:pP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食安风险为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5 起，较5月下降，集中在 Cream-O-Land </a:t>
            </a: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脱脂奶效期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变质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40">
                <a:solidFill>
                  <a:srgbClr val="1E2D41"/>
                </a:solidFill>
                <a:latin typeface="Microsoft YaHei"/>
              </a:defRPr>
            </a:pPr>
            <a:endParaRPr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40">
                <a:solidFill>
                  <a:srgbClr val="1E2D41"/>
                </a:solidFill>
                <a:latin typeface="Microsoft YaHei"/>
              </a:defRPr>
            </a:pP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供应商责任降至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18 起（-55%），</a:t>
            </a: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仓储物流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升至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30 </a:t>
            </a: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起，需重点跟踪收货效期、冷链温控与配送放置位置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16127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2000" b="1"/>
            </a:pPr>
            <a:r>
              <a:rPr sz="2000" b="1" dirty="0">
                <a:solidFill>
                  <a:srgbClr val="1E2D41"/>
                </a:solidFill>
                <a:latin typeface="Microsoft YaHei"/>
              </a:rPr>
              <a:t>Supplier-Responsibility Quality Overview</a:t>
            </a:r>
            <a:r>
              <a:rPr lang="en-US" sz="2000" b="1" dirty="0">
                <a:solidFill>
                  <a:srgbClr val="1E2D41"/>
                </a:solidFill>
                <a:latin typeface="Microsoft YaHei"/>
              </a:rPr>
              <a:t>  </a:t>
            </a:r>
            <a:r>
              <a:rPr lang="zh-CN" altLang="en-US" sz="2000" dirty="0">
                <a:solidFill>
                  <a:srgbClr val="5F6978"/>
                </a:solidFill>
                <a:latin typeface="Microsoft YaHei"/>
              </a:rPr>
              <a:t>供应商责任质量概况 </a:t>
            </a:r>
            <a:r>
              <a:rPr lang="en-US" altLang="zh-CN" sz="2000" dirty="0">
                <a:solidFill>
                  <a:srgbClr val="5F6978"/>
                </a:solidFill>
                <a:latin typeface="Microsoft YaHei"/>
              </a:rPr>
              <a:t>· June 2026</a:t>
            </a:r>
          </a:p>
          <a:p>
            <a:pPr algn="l">
              <a:defRPr sz="2000" b="1"/>
            </a:pPr>
            <a:endParaRPr sz="2000" b="1" dirty="0">
              <a:solidFill>
                <a:srgbClr val="1E2D41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95560" y="5806440"/>
            <a:ext cx="3200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800" b="0">
                <a:solidFill>
                  <a:srgbClr val="5F6978"/>
                </a:solidFill>
                <a:latin typeface="Microsoft YaHe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234" y="700024"/>
            <a:ext cx="73152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000"/>
            </a:pPr>
            <a:r>
              <a:rPr sz="1000" b="0" dirty="0" err="1">
                <a:solidFill>
                  <a:srgbClr val="5F6978"/>
                </a:solidFill>
                <a:latin typeface="Microsoft YaHei"/>
              </a:rPr>
              <a:t>本月无供应商现场稽核（准入</a:t>
            </a:r>
            <a:r>
              <a:rPr sz="1000" b="0" dirty="0">
                <a:solidFill>
                  <a:srgbClr val="5F6978"/>
                </a:solidFill>
                <a:latin typeface="Microsoft YaHei"/>
              </a:rPr>
              <a:t> / </a:t>
            </a:r>
            <a:r>
              <a:rPr sz="1000" b="0" dirty="0" err="1">
                <a:solidFill>
                  <a:srgbClr val="5F6978"/>
                </a:solidFill>
                <a:latin typeface="Microsoft YaHei"/>
              </a:rPr>
              <a:t>年度</a:t>
            </a:r>
            <a:r>
              <a:rPr sz="1000" b="0" dirty="0">
                <a:solidFill>
                  <a:srgbClr val="5F6978"/>
                </a:solidFill>
                <a:latin typeface="Microsoft YaHei"/>
              </a:rPr>
              <a:t> / </a:t>
            </a:r>
            <a:r>
              <a:rPr sz="1000" b="0" dirty="0" err="1">
                <a:solidFill>
                  <a:srgbClr val="5F6978"/>
                </a:solidFill>
                <a:latin typeface="Microsoft YaHei"/>
              </a:rPr>
              <a:t>飞行审核</a:t>
            </a:r>
            <a:r>
              <a:rPr sz="1000" b="0" dirty="0">
                <a:solidFill>
                  <a:srgbClr val="5F6978"/>
                </a:solidFill>
                <a:latin typeface="Microsoft YaHei"/>
              </a:rPr>
              <a:t>）。  No on-site supplier audits this month.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720" y="1124712"/>
            <a:ext cx="2029968" cy="1192784"/>
          </a:xfrm>
          <a:prstGeom prst="roundRect">
            <a:avLst/>
          </a:prstGeom>
          <a:solidFill>
            <a:srgbClr val="F5F7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872" y="1234440"/>
            <a:ext cx="1682496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2400" b="1"/>
            </a:pPr>
            <a:r>
              <a:rPr sz="2400" b="1">
                <a:solidFill>
                  <a:srgbClr val="EB9119"/>
                </a:solidFill>
                <a:latin typeface="Microsoft YaHe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872" y="1609344"/>
            <a:ext cx="1682496" cy="3017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960" b="1"/>
            </a:pPr>
            <a:r>
              <a:rPr sz="960" b="1">
                <a:solidFill>
                  <a:srgbClr val="1E2D41"/>
                </a:solidFill>
                <a:latin typeface="Microsoft YaHei"/>
              </a:rPr>
              <a:t>Supplier-resp. cases
供应商责任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872" y="1920240"/>
            <a:ext cx="1682496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840" b="0"/>
            </a:pPr>
            <a:r>
              <a:rPr sz="840" b="0" dirty="0">
                <a:solidFill>
                  <a:srgbClr val="5F6978"/>
                </a:solidFill>
                <a:latin typeface="Microsoft YaHei"/>
              </a:rPr>
              <a:t>vs May 40, -55%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6990" y="1124712"/>
            <a:ext cx="1828800" cy="1192784"/>
          </a:xfrm>
          <a:prstGeom prst="roundRect">
            <a:avLst/>
          </a:prstGeom>
          <a:solidFill>
            <a:srgbClr val="F5F7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0142" y="1234440"/>
            <a:ext cx="1682496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2400" b="1"/>
            </a:pPr>
            <a:r>
              <a:rPr sz="2400" b="1">
                <a:solidFill>
                  <a:srgbClr val="005EB8"/>
                </a:solidFill>
                <a:latin typeface="Microsoft YaHei"/>
              </a:rPr>
              <a:t>$315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0142" y="1609344"/>
            <a:ext cx="1682496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960" b="1"/>
            </a:pPr>
            <a:r>
              <a:rPr sz="960" b="1">
                <a:solidFill>
                  <a:srgbClr val="1E2D41"/>
                </a:solidFill>
                <a:latin typeface="Microsoft YaHei"/>
              </a:rPr>
              <a:t>Goods value
货值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720464"/>
              </p:ext>
            </p:extLst>
          </p:nvPr>
        </p:nvGraphicFramePr>
        <p:xfrm>
          <a:off x="536956" y="3035554"/>
          <a:ext cx="3595878" cy="2396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509684"/>
              </p:ext>
            </p:extLst>
          </p:nvPr>
        </p:nvGraphicFramePr>
        <p:xfrm>
          <a:off x="4194556" y="3024632"/>
          <a:ext cx="3595878" cy="2396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934960" y="978662"/>
            <a:ext cx="352044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060" b="1"/>
            </a:pPr>
            <a:r>
              <a:rPr sz="1060" b="1">
                <a:solidFill>
                  <a:srgbClr val="1E2D41"/>
                </a:solidFill>
                <a:latin typeface="Microsoft YaHei"/>
              </a:rPr>
              <a:t>By Goods Category / 按货物类别（供应商责任）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635574"/>
              </p:ext>
            </p:extLst>
          </p:nvPr>
        </p:nvGraphicFramePr>
        <p:xfrm>
          <a:off x="7934960" y="1347724"/>
          <a:ext cx="3917950" cy="2464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7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718"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/>
                        <a:t>Category / 货物类别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/>
                        <a:t>Cases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/>
                        <a:t>Value $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18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 err="1"/>
                        <a:t>奶类</a:t>
                      </a:r>
                      <a:r>
                        <a:rPr sz="1200" dirty="0"/>
                        <a:t> Milk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$32.43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718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饼干 Cookie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5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$19.38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718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其他 Other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$259.35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718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轻食 Light food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2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$4.02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718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Total / 合计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18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/>
                        <a:t>$315.18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934960" y="4000500"/>
            <a:ext cx="3781806" cy="24643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80">
                <a:solidFill>
                  <a:srgbClr val="1E2D41"/>
                </a:solidFill>
                <a:latin typeface="Microsoft YaHei"/>
              </a:defRPr>
            </a:pPr>
            <a:r>
              <a:rPr sz="1200" dirty="0" err="1"/>
              <a:t>供应商责任</a:t>
            </a:r>
            <a:r>
              <a:rPr sz="1200" dirty="0"/>
              <a:t> PQNC 共 18 </a:t>
            </a:r>
            <a:r>
              <a:rPr sz="1200" dirty="0" err="1"/>
              <a:t>起，占本月总量</a:t>
            </a:r>
            <a:r>
              <a:rPr sz="1200" dirty="0"/>
              <a:t> 28%，较 5 月 40 </a:t>
            </a:r>
            <a:r>
              <a:rPr sz="1200" dirty="0" err="1"/>
              <a:t>起下降</a:t>
            </a:r>
            <a:r>
              <a:rPr sz="1200" dirty="0"/>
              <a:t> 55%，</a:t>
            </a:r>
            <a:r>
              <a:rPr sz="1200" dirty="0" err="1"/>
              <a:t>供应商端</a:t>
            </a:r>
            <a:r>
              <a:rPr lang="en-US" sz="1200" dirty="0" err="1"/>
              <a:t>PQNC</a:t>
            </a:r>
            <a:r>
              <a:rPr sz="1200" dirty="0" err="1"/>
              <a:t>趋势明显改善</a:t>
            </a:r>
            <a:r>
              <a:rPr sz="1200" dirty="0"/>
              <a:t>。</a:t>
            </a:r>
            <a:endParaRPr lang="en-US" sz="1200" dirty="0"/>
          </a:p>
          <a:p>
            <a:pPr>
              <a:spcAft>
                <a:spcPts val="200"/>
              </a:spcAft>
              <a:defRPr sz="1080">
                <a:solidFill>
                  <a:srgbClr val="1E2D41"/>
                </a:solidFill>
                <a:latin typeface="Microsoft YaHei"/>
              </a:defRPr>
            </a:pPr>
            <a:endParaRPr lang="en-US"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80">
                <a:solidFill>
                  <a:srgbClr val="1E2D41"/>
                </a:solidFill>
                <a:latin typeface="Microsoft YaHei"/>
              </a:defRPr>
            </a:pPr>
            <a:r>
              <a:rPr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SYSCO </a:t>
            </a:r>
            <a:r>
              <a:rPr lang="en-US" altLang="zh-CN"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</a:t>
            </a:r>
            <a:r>
              <a:rPr lang="en-US" altLang="zh-CN"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sz="1200" dirty="0" err="1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主要为奶类泄漏</a:t>
            </a:r>
            <a:r>
              <a:rPr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sz="1200" dirty="0" err="1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破损及个别变质</a:t>
            </a:r>
            <a:r>
              <a:rPr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sz="1200" dirty="0">
              <a:solidFill>
                <a:srgbClr val="1E2D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80">
                <a:solidFill>
                  <a:srgbClr val="1E2D41"/>
                </a:solidFill>
                <a:latin typeface="Microsoft YaHei"/>
              </a:defRPr>
            </a:pPr>
            <a:endParaRPr lang="en-US" sz="1200" dirty="0">
              <a:solidFill>
                <a:srgbClr val="1E2D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80">
                <a:solidFill>
                  <a:srgbClr val="1E2D41"/>
                </a:solidFill>
                <a:latin typeface="Microsoft YaHei"/>
              </a:defRPr>
            </a:pPr>
            <a:r>
              <a:rPr sz="1200" dirty="0" err="1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FreeNow</a:t>
            </a:r>
            <a:r>
              <a:rPr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</a:t>
            </a:r>
            <a:r>
              <a:rPr lang="en-US" altLang="zh-CN"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sz="1200" dirty="0" err="1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主要为曲奇破损及轻食变形</a:t>
            </a:r>
            <a:r>
              <a:rPr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200" dirty="0">
              <a:solidFill>
                <a:srgbClr val="1E2D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80">
                <a:solidFill>
                  <a:srgbClr val="1E2D41"/>
                </a:solidFill>
                <a:latin typeface="Microsoft YaHei"/>
              </a:defRPr>
            </a:pPr>
            <a:endParaRPr sz="1200" dirty="0">
              <a:solidFill>
                <a:srgbClr val="1E2D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80">
                <a:solidFill>
                  <a:srgbClr val="1E2D41"/>
                </a:solidFill>
                <a:latin typeface="Microsoft YaHei"/>
              </a:defRPr>
            </a:pPr>
            <a:r>
              <a:rPr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HEC 4 起</a:t>
            </a:r>
            <a:r>
              <a:rPr lang="en-US"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sz="1200" dirty="0" err="1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均与</a:t>
            </a:r>
            <a:r>
              <a:rPr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4L </a:t>
            </a:r>
            <a:r>
              <a:rPr sz="1200" dirty="0" err="1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冷水壶无刻度线相关，建议</a:t>
            </a:r>
            <a:r>
              <a:rPr lang="zh-CN" altLang="en-US"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仓库</a:t>
            </a:r>
            <a:r>
              <a:rPr sz="1200" dirty="0" err="1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对后续到货进行抽检</a:t>
            </a:r>
            <a:r>
              <a:rPr sz="1200" dirty="0">
                <a:solidFill>
                  <a:srgbClr val="1E2D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0025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defRPr sz="2000" b="1"/>
            </a:pPr>
            <a:r>
              <a:rPr sz="2000" b="1" dirty="0">
                <a:solidFill>
                  <a:srgbClr val="1E2D41"/>
                </a:solidFill>
                <a:latin typeface="Microsoft YaHei"/>
              </a:rPr>
              <a:t>Warehouse &amp; Distribution Responsibility</a:t>
            </a:r>
            <a:r>
              <a:rPr lang="en-US" sz="2000" b="1" dirty="0">
                <a:solidFill>
                  <a:srgbClr val="1E2D41"/>
                </a:solidFill>
                <a:latin typeface="Microsoft YaHei"/>
              </a:rPr>
              <a:t> </a:t>
            </a:r>
            <a:r>
              <a:rPr lang="zh-CN" altLang="en-US" sz="2000" dirty="0">
                <a:solidFill>
                  <a:srgbClr val="5F6978"/>
                </a:solidFill>
                <a:latin typeface="Microsoft YaHei"/>
              </a:rPr>
              <a:t>仓储与配送责任问题 </a:t>
            </a:r>
            <a:r>
              <a:rPr lang="en-US" altLang="zh-CN" sz="2000" dirty="0">
                <a:solidFill>
                  <a:srgbClr val="5F6978"/>
                </a:solidFill>
                <a:latin typeface="Microsoft YaHei"/>
              </a:rPr>
              <a:t>· June 2026</a:t>
            </a:r>
          </a:p>
          <a:p>
            <a:pPr algn="l">
              <a:defRPr sz="2000" b="1"/>
            </a:pPr>
            <a:endParaRPr sz="2000" b="1" dirty="0">
              <a:solidFill>
                <a:srgbClr val="1E2D41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95560" y="5806440"/>
            <a:ext cx="3200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800" b="0">
                <a:solidFill>
                  <a:srgbClr val="5F6978"/>
                </a:solidFill>
                <a:latin typeface="Microsoft YaHe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094" y="5122164"/>
            <a:ext cx="95097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000"/>
            </a:pPr>
            <a:r>
              <a:rPr sz="1000" b="0" dirty="0">
                <a:solidFill>
                  <a:srgbClr val="5F6978"/>
                </a:solidFill>
                <a:latin typeface="Microsoft YaHei"/>
              </a:rPr>
              <a:t>Warehouse/logistics responsibility = 30 cases (27 logistics + 3 joint); main risks: shelf life control, cold-chain handling, delivery placement.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33856"/>
            <a:ext cx="2075688" cy="1106424"/>
          </a:xfrm>
          <a:prstGeom prst="roundRect">
            <a:avLst/>
          </a:prstGeom>
          <a:solidFill>
            <a:srgbClr val="F5F7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243584"/>
            <a:ext cx="172821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2400" b="1"/>
            </a:pPr>
            <a:r>
              <a:rPr sz="2400" b="1">
                <a:solidFill>
                  <a:srgbClr val="C82D2D"/>
                </a:solidFill>
                <a:latin typeface="Microsoft YaHe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9344"/>
            <a:ext cx="1746504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950" b="1"/>
            </a:pPr>
            <a:r>
              <a:rPr sz="950" b="1" dirty="0">
                <a:solidFill>
                  <a:srgbClr val="1E2D41"/>
                </a:solidFill>
                <a:latin typeface="Microsoft YaHei"/>
              </a:rPr>
              <a:t>Warehouse + Joint
</a:t>
            </a:r>
            <a:r>
              <a:rPr sz="950" b="1" dirty="0" err="1">
                <a:solidFill>
                  <a:srgbClr val="1E2D41"/>
                </a:solidFill>
                <a:latin typeface="Microsoft YaHei"/>
              </a:rPr>
              <a:t>仓储</a:t>
            </a:r>
            <a:r>
              <a:rPr sz="950" b="1" dirty="0">
                <a:solidFill>
                  <a:srgbClr val="1E2D41"/>
                </a:solidFill>
                <a:latin typeface="Microsoft YaHei"/>
              </a:rPr>
              <a:t>/</a:t>
            </a:r>
            <a:r>
              <a:rPr sz="950" b="1" dirty="0" err="1">
                <a:solidFill>
                  <a:srgbClr val="1E2D41"/>
                </a:solidFill>
                <a:latin typeface="Microsoft YaHei"/>
              </a:rPr>
              <a:t>共担</a:t>
            </a:r>
            <a:endParaRPr sz="950" b="1" dirty="0">
              <a:solidFill>
                <a:srgbClr val="1E2D41"/>
              </a:solidFill>
              <a:latin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1920240"/>
            <a:ext cx="174650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830"/>
            </a:pPr>
            <a:r>
              <a:rPr sz="830" b="0" dirty="0">
                <a:solidFill>
                  <a:srgbClr val="5F6978"/>
                </a:solidFill>
                <a:latin typeface="Microsoft YaHei"/>
              </a:rPr>
              <a:t>vs May 6, +400%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133856"/>
            <a:ext cx="2084832" cy="1106424"/>
          </a:xfrm>
          <a:prstGeom prst="roundRect">
            <a:avLst/>
          </a:prstGeom>
          <a:solidFill>
            <a:srgbClr val="F5F7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16352" y="1243584"/>
            <a:ext cx="172821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2400" b="1"/>
            </a:pPr>
            <a:r>
              <a:rPr sz="2400" b="1">
                <a:solidFill>
                  <a:srgbClr val="005EB8"/>
                </a:solidFill>
                <a:latin typeface="Microsoft YaHei"/>
              </a:rPr>
              <a:t>$776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1609344"/>
            <a:ext cx="1746504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950" b="1"/>
            </a:pPr>
            <a:r>
              <a:rPr sz="950" b="1">
                <a:solidFill>
                  <a:srgbClr val="1E2D41"/>
                </a:solidFill>
                <a:latin typeface="Microsoft YaHei"/>
              </a:rPr>
              <a:t>Goods value
货值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05F2D-1469-95B0-79A1-8B39262F27CA}"/>
              </a:ext>
            </a:extLst>
          </p:cNvPr>
          <p:cNvGrpSpPr/>
          <p:nvPr/>
        </p:nvGrpSpPr>
        <p:grpSpPr>
          <a:xfrm>
            <a:off x="4983480" y="1133856"/>
            <a:ext cx="1957070" cy="1106424"/>
            <a:chOff x="4983480" y="1133856"/>
            <a:chExt cx="1957070" cy="110642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3ECA3A0-FBC0-8C30-C948-F2C2995F8AAD}"/>
                </a:ext>
              </a:extLst>
            </p:cNvPr>
            <p:cNvGrpSpPr/>
            <p:nvPr/>
          </p:nvGrpSpPr>
          <p:grpSpPr>
            <a:xfrm>
              <a:off x="4983480" y="1133856"/>
              <a:ext cx="1957070" cy="1106424"/>
              <a:chOff x="4983480" y="1133856"/>
              <a:chExt cx="1957070" cy="1106424"/>
            </a:xfrm>
          </p:grpSpPr>
          <p:sp>
            <p:nvSpPr>
              <p:cNvPr id="14" name="Rounded Rectangle 13"/>
              <p:cNvSpPr/>
              <p:nvPr/>
            </p:nvSpPr>
            <p:spPr>
              <a:xfrm>
                <a:off x="4983480" y="1133856"/>
                <a:ext cx="1957070" cy="1106424"/>
              </a:xfrm>
              <a:prstGeom prst="roundRect">
                <a:avLst/>
              </a:prstGeom>
              <a:solidFill>
                <a:srgbClr val="F5F7FA"/>
              </a:solidFill>
              <a:ln>
                <a:solidFill>
                  <a:srgbClr val="E1E1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056632" y="1243584"/>
                <a:ext cx="1728216" cy="329184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ctr">
                  <a:defRPr sz="2400" b="1"/>
                </a:pPr>
                <a:r>
                  <a:rPr sz="2400" b="1">
                    <a:solidFill>
                      <a:srgbClr val="288C5A"/>
                    </a:solidFill>
                    <a:latin typeface="Microsoft YaHei"/>
                  </a:rPr>
                  <a:t>5</a:t>
                </a: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5047488" y="1609344"/>
              <a:ext cx="1746504" cy="310896"/>
            </a:xfrm>
            <a:prstGeom prst="rect">
              <a:avLst/>
            </a:prstGeom>
            <a:noFill/>
          </p:spPr>
          <p:txBody>
            <a:bodyPr wrap="square" anchor="t">
              <a:noAutofit/>
            </a:bodyPr>
            <a:lstStyle/>
            <a:p>
              <a:pPr algn="ctr">
                <a:defRPr sz="950" b="1"/>
              </a:pPr>
              <a:r>
                <a:rPr sz="950" b="1">
                  <a:solidFill>
                    <a:srgbClr val="1E2D41"/>
                  </a:solidFill>
                  <a:latin typeface="Microsoft YaHei"/>
                </a:rPr>
                <a:t>Major cases
食安风险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047488" y="1920240"/>
            <a:ext cx="1746504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830"/>
            </a:pPr>
            <a:r>
              <a:rPr sz="830" b="0">
                <a:solidFill>
                  <a:srgbClr val="5F6978"/>
                </a:solidFill>
                <a:latin typeface="Microsoft YaHei"/>
              </a:rPr>
              <a:t>Milk-related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2369058"/>
          <a:ext cx="6281928" cy="2624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249668" y="1181100"/>
          <a:ext cx="4586732" cy="2698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7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792"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Issue / </a:t>
                      </a:r>
                      <a:r>
                        <a:rPr sz="12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Cases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Value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Expired / short shelf life</a:t>
                      </a:r>
                      <a:r>
                        <a:rPr 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过期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短保</a:t>
                      </a:r>
                      <a:endParaRPr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$336.29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Out-of-temp / wrong temp zone</a:t>
                      </a:r>
                      <a:r>
                        <a:rPr 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失温</a:t>
                      </a:r>
                      <a:endParaRPr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$204.45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Leaking / damaged / dented</a:t>
                      </a:r>
                      <a:r>
                        <a:rPr 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破损变形</a:t>
                      </a:r>
                      <a:endParaRPr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$87.59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Spoilage</a:t>
                      </a:r>
                      <a:r>
                        <a:rPr 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变质</a:t>
                      </a:r>
                      <a:endParaRPr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$38.43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Other</a:t>
                      </a:r>
                      <a:r>
                        <a:rPr 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</a:t>
                      </a:r>
                      <a:endParaRPr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$109.08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70814" y="5486400"/>
            <a:ext cx="941832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70">
                <a:solidFill>
                  <a:srgbClr val="1E2D41"/>
                </a:solidFill>
                <a:latin typeface="Microsoft YaHei"/>
              </a:defRPr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期/</a:t>
            </a: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短保问题集中在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Cream-O-Land </a:t>
            </a: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脱脂奶、鲜奶油及椰乳饮料；需强化到货效期与批次先入先出校验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70">
                <a:solidFill>
                  <a:srgbClr val="1E2D41"/>
                </a:solidFill>
                <a:latin typeface="Microsoft YaHei"/>
              </a:defRPr>
            </a:pPr>
            <a:endParaRPr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70">
                <a:solidFill>
                  <a:srgbClr val="1E2D41"/>
                </a:solidFill>
                <a:latin typeface="Microsoft YaHei"/>
              </a:defRPr>
            </a:pP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失温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错误温区问题涉及冷冻橙汁、轻食三明治及牛奶，被放置常温、错误冷柜或解冻冰箱，属于配送放置与冷链执行问题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70">
                <a:solidFill>
                  <a:srgbClr val="1E2D41"/>
                </a:solidFill>
                <a:latin typeface="Microsoft YaHei"/>
              </a:defRPr>
            </a:pPr>
            <a:endParaRPr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70">
                <a:solidFill>
                  <a:srgbClr val="1E2D41"/>
                </a:solidFill>
                <a:latin typeface="Microsoft YaHei"/>
              </a:defRPr>
            </a:pP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起脱脂奶变质为供应商与仓储共担，需同时追踪仓库拣配批次、温度记录及供应商生产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密封稳定性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813816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000" b="1"/>
            </a:pPr>
            <a:r>
              <a:rPr sz="2000" b="1">
                <a:solidFill>
                  <a:srgbClr val="1E2D41"/>
                </a:solidFill>
                <a:latin typeface="Microsoft YaHei"/>
              </a:rPr>
              <a:t>典型案例 — Milk Expiration / Spoilage /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89611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00"/>
            </a:pPr>
            <a:r>
              <a:rPr sz="1100" b="0">
                <a:solidFill>
                  <a:srgbClr val="5F6978"/>
                </a:solidFill>
                <a:latin typeface="Microsoft YaHei"/>
              </a:rPr>
              <a:t>奶类效期、变质与包装泄漏 · Case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1030" y="6964934"/>
            <a:ext cx="3200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200" b="0">
                <a:solidFill>
                  <a:srgbClr val="5F6978"/>
                </a:solidFill>
                <a:latin typeface="Microsoft YaHe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79863"/>
              </p:ext>
            </p:extLst>
          </p:nvPr>
        </p:nvGraphicFramePr>
        <p:xfrm>
          <a:off x="492760" y="1244155"/>
          <a:ext cx="484632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 dirty="0"/>
                        <a:t>Product / </a:t>
                      </a:r>
                      <a:r>
                        <a:rPr sz="1200" dirty="0" err="1"/>
                        <a:t>产品</a:t>
                      </a:r>
                      <a:endParaRPr sz="1200" dirty="0"/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/>
                        <a:t>Cases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/>
                        <a:t>Major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/>
                        <a:t>Value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/>
                        <a:t>Fat free Milk- 4/1 GAL CS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$98.46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/>
                        <a:t>2% Reduced fat milk- 4/1 GAL CS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6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0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$40.42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/>
                        <a:t>Whole Milk- 4/1 GAL CS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$45.04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Milk Condensed Sweetened- 24/14 OZ CS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2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0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$4.52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/>
                        <a:t>Wholesome Heavy whipping cream- 12/32OZ CS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/>
                        <a:t>$56.66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256500"/>
            <a:ext cx="25603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20" b="1"/>
            </a:pPr>
            <a:r>
              <a:rPr sz="1200" b="1" dirty="0" err="1">
                <a:solidFill>
                  <a:srgbClr val="1E2D41"/>
                </a:solidFill>
                <a:latin typeface="Microsoft YaHei"/>
              </a:rPr>
              <a:t>问题描述</a:t>
            </a:r>
            <a:r>
              <a:rPr sz="1200" b="1" dirty="0">
                <a:solidFill>
                  <a:srgbClr val="1E2D41"/>
                </a:solidFill>
                <a:latin typeface="Microsoft YaHei"/>
              </a:rPr>
              <a:t> / NC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931093"/>
            <a:ext cx="4526280" cy="13533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sz="1200" dirty="0"/>
              <a:t>6 </a:t>
            </a:r>
            <a:r>
              <a:rPr sz="1200" dirty="0" err="1"/>
              <a:t>月奶类相关</a:t>
            </a:r>
            <a:r>
              <a:rPr sz="1200" dirty="0"/>
              <a:t> PQNC 26 </a:t>
            </a:r>
            <a:r>
              <a:rPr sz="1200" dirty="0" err="1"/>
              <a:t>起，其中</a:t>
            </a:r>
            <a:r>
              <a:rPr sz="1200" dirty="0"/>
              <a:t> Cream-O-Land </a:t>
            </a:r>
            <a:r>
              <a:rPr sz="1200" dirty="0" err="1"/>
              <a:t>脱脂奶</a:t>
            </a:r>
            <a:r>
              <a:rPr sz="1200" dirty="0"/>
              <a:t> 14 起</a:t>
            </a:r>
            <a:endParaRPr lang="en-US" sz="1200" dirty="0"/>
          </a:p>
          <a:p>
            <a:pPr>
              <a:spcAft>
                <a:spcPts val="200"/>
              </a:spcAft>
              <a:defRPr sz="1050">
                <a:solidFill>
                  <a:srgbClr val="1E2D41"/>
                </a:solidFill>
                <a:latin typeface="Microsoft YaHei"/>
              </a:defRPr>
            </a:pPr>
            <a:endParaRPr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sz="1200" dirty="0"/>
              <a:t>5 </a:t>
            </a:r>
            <a:r>
              <a:rPr sz="1200" dirty="0" err="1"/>
              <a:t>起食安风险均为</a:t>
            </a:r>
            <a:r>
              <a:rPr sz="1200" dirty="0"/>
              <a:t> Cream-O-Land 脱脂奶：2 起过期到货，3 </a:t>
            </a:r>
            <a:r>
              <a:rPr sz="1200" dirty="0" err="1"/>
              <a:t>起变质</a:t>
            </a:r>
            <a:r>
              <a:rPr sz="1200" dirty="0"/>
              <a:t>/</a:t>
            </a:r>
            <a:r>
              <a:rPr sz="1200" dirty="0" err="1"/>
              <a:t>酸味或批次拣配错误导致短保变质</a:t>
            </a:r>
            <a:r>
              <a:rPr sz="1200" dirty="0"/>
              <a:t>。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sz="1200" dirty="0" err="1"/>
              <a:t>其他一般缺陷包括牛奶瓶</a:t>
            </a:r>
            <a:r>
              <a:rPr sz="1200" dirty="0"/>
              <a:t>/</a:t>
            </a:r>
            <a:r>
              <a:rPr sz="1200" dirty="0" err="1"/>
              <a:t>包装挤压、泄漏、效期字迹模糊及鲜奶油开封</a:t>
            </a:r>
            <a:r>
              <a:rPr sz="1200" dirty="0"/>
              <a:t>/</a:t>
            </a:r>
            <a:r>
              <a:rPr sz="1200" dirty="0" err="1"/>
              <a:t>凝结</a:t>
            </a:r>
            <a:r>
              <a:rPr sz="1200" dirty="0"/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4256500"/>
            <a:ext cx="25603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20" b="1"/>
            </a:pPr>
            <a:r>
              <a:rPr sz="1200" b="1" dirty="0" err="1">
                <a:solidFill>
                  <a:srgbClr val="1E2D41"/>
                </a:solidFill>
                <a:latin typeface="Microsoft YaHei"/>
              </a:rPr>
              <a:t>纠正措施</a:t>
            </a:r>
            <a:r>
              <a:rPr sz="1200" b="1" dirty="0">
                <a:solidFill>
                  <a:srgbClr val="1E2D41"/>
                </a:solidFill>
                <a:latin typeface="Microsoft YaHei"/>
              </a:rPr>
              <a:t> / Corrective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8690" y="4932934"/>
            <a:ext cx="5497830" cy="14249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sz="1200" dirty="0" err="1"/>
              <a:t>门店收货时加强效期、批次、包装完整性与温度检查；发现过期</a:t>
            </a:r>
            <a:r>
              <a:rPr sz="1200" dirty="0"/>
              <a:t>/</a:t>
            </a:r>
            <a:r>
              <a:rPr sz="1200" dirty="0" err="1"/>
              <a:t>短保</a:t>
            </a:r>
            <a:r>
              <a:rPr sz="1200" dirty="0"/>
              <a:t>/</a:t>
            </a:r>
            <a:r>
              <a:rPr sz="1200" dirty="0" err="1"/>
              <a:t>漏液立即隔离并拍照留证</a:t>
            </a:r>
            <a:r>
              <a:rPr sz="1200" dirty="0"/>
              <a:t>。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sz="1200" dirty="0" err="1"/>
              <a:t>仓库复核</a:t>
            </a:r>
            <a:r>
              <a:rPr sz="1200" dirty="0"/>
              <a:t> Cream-O-Land </a:t>
            </a:r>
            <a:r>
              <a:rPr sz="1200" dirty="0" err="1"/>
              <a:t>相关</a:t>
            </a:r>
            <a:r>
              <a:rPr sz="1200" dirty="0"/>
              <a:t> ASN </a:t>
            </a:r>
            <a:r>
              <a:rPr sz="1200" dirty="0" err="1"/>
              <a:t>批次和</a:t>
            </a:r>
            <a:r>
              <a:rPr sz="1200" dirty="0"/>
              <a:t> FIFO </a:t>
            </a:r>
            <a:r>
              <a:rPr sz="1200" dirty="0" err="1"/>
              <a:t>拣配记录，避免临期或错误批次流入门店</a:t>
            </a:r>
            <a:r>
              <a:rPr sz="1200" dirty="0"/>
              <a:t>。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sz="1200" dirty="0" err="1"/>
              <a:t>持续跟踪</a:t>
            </a:r>
            <a:r>
              <a:rPr sz="1200" dirty="0"/>
              <a:t> Sysco/Cream-O-Land </a:t>
            </a:r>
            <a:r>
              <a:rPr sz="1200" dirty="0" err="1"/>
              <a:t>对包装密封、生产批次稳定性及运输温度记录的整改反馈</a:t>
            </a:r>
            <a:r>
              <a:rPr sz="1200" dirty="0"/>
              <a:t>。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68C6E5-9F23-C81E-8CC2-680962D0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690" y="1174686"/>
            <a:ext cx="2897448" cy="23413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28777C-EE80-25EF-8373-B9BFDAF53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438" y="1174686"/>
            <a:ext cx="2341372" cy="234137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BD1F8-FCE6-8CDD-1605-4D00D5E72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813816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000" b="1"/>
            </a:pPr>
            <a:r>
              <a:rPr sz="2000" b="1">
                <a:solidFill>
                  <a:srgbClr val="1E2D41"/>
                </a:solidFill>
                <a:latin typeface="Microsoft YaHei"/>
              </a:rPr>
              <a:t>典型案例 — Cold Chain / Wrong Temperature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89611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00"/>
            </a:pPr>
            <a:r>
              <a:rPr sz="1100" b="0">
                <a:solidFill>
                  <a:srgbClr val="5F6978"/>
                </a:solidFill>
                <a:latin typeface="Microsoft YaHei"/>
              </a:rPr>
              <a:t>冷链失温与错误温区配送 · Case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7241540"/>
            <a:ext cx="3200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>
                <a:solidFill>
                  <a:srgbClr val="5F6978"/>
                </a:solidFill>
                <a:latin typeface="Microsoft YaHe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607937"/>
              </p:ext>
            </p:extLst>
          </p:nvPr>
        </p:nvGraphicFramePr>
        <p:xfrm>
          <a:off x="502920" y="1280160"/>
          <a:ext cx="4617720" cy="2193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 dirty="0"/>
                        <a:t>Product / </a:t>
                      </a:r>
                      <a:r>
                        <a:rPr sz="1200" dirty="0" err="1"/>
                        <a:t>产品</a:t>
                      </a:r>
                      <a:endParaRPr sz="1200" dirty="0"/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/>
                        <a:t>Cases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200"/>
                        <a:t>Value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Buddys Grilled Cheese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$112.20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Concentrated Orange Juice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3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$26.40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Croissant Sausage Egg &amp; Cheese-12/4.9 OZ CS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$109.45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C-O-L Whole Milk- 4/1 GAL CS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1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$36.34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C-O-L 2% Reduced fat milk- 4/1 GAL CS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/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/>
                        <a:t>$20.82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138168"/>
            <a:ext cx="25603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20" b="1"/>
            </a:pPr>
            <a:r>
              <a:rPr sz="1200" b="1" dirty="0" err="1">
                <a:solidFill>
                  <a:srgbClr val="1E2D41"/>
                </a:solidFill>
                <a:latin typeface="Microsoft YaHei"/>
              </a:rPr>
              <a:t>问题描述</a:t>
            </a:r>
            <a:r>
              <a:rPr sz="1200" b="1" dirty="0">
                <a:solidFill>
                  <a:srgbClr val="1E2D41"/>
                </a:solidFill>
                <a:latin typeface="Microsoft YaHei"/>
              </a:rPr>
              <a:t> / NC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84268"/>
            <a:ext cx="4205732" cy="13533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sz="1200" dirty="0" err="1"/>
              <a:t>失温</a:t>
            </a:r>
            <a:r>
              <a:rPr sz="1200" dirty="0"/>
              <a:t>/</a:t>
            </a:r>
            <a:r>
              <a:rPr sz="1200" dirty="0" err="1"/>
              <a:t>错误温区相关问题</a:t>
            </a:r>
            <a:r>
              <a:rPr sz="1200" dirty="0"/>
              <a:t> 12 </a:t>
            </a:r>
            <a:r>
              <a:rPr sz="1200" dirty="0" err="1"/>
              <a:t>起，仓储物流责任</a:t>
            </a:r>
            <a:r>
              <a:rPr sz="1200" dirty="0"/>
              <a:t> 8 </a:t>
            </a:r>
            <a:r>
              <a:rPr sz="1200" dirty="0" err="1"/>
              <a:t>起；另有</a:t>
            </a:r>
            <a:r>
              <a:rPr sz="1200" dirty="0"/>
              <a:t> 2 </a:t>
            </a:r>
            <a:r>
              <a:rPr sz="1200" dirty="0" err="1"/>
              <a:t>起退货</a:t>
            </a:r>
            <a:r>
              <a:rPr sz="1200" dirty="0"/>
              <a:t>/待判责、2 </a:t>
            </a:r>
            <a:r>
              <a:rPr sz="1200" dirty="0" err="1"/>
              <a:t>起门店操作相关</a:t>
            </a:r>
            <a:r>
              <a:rPr sz="1200" dirty="0"/>
              <a:t>。</a:t>
            </a:r>
            <a:endParaRPr lang="en-US" sz="1200" dirty="0"/>
          </a:p>
          <a:p>
            <a:pPr>
              <a:spcAft>
                <a:spcPts val="200"/>
              </a:spcAft>
              <a:defRPr sz="1050">
                <a:solidFill>
                  <a:srgbClr val="1E2D41"/>
                </a:solidFill>
                <a:latin typeface="Microsoft YaHei"/>
              </a:defRPr>
            </a:pPr>
            <a:endParaRPr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sz="1200" dirty="0" err="1"/>
              <a:t>冷冻橙汁</a:t>
            </a:r>
            <a:r>
              <a:rPr sz="1200" dirty="0"/>
              <a:t>/</a:t>
            </a:r>
            <a:r>
              <a:rPr sz="1200" dirty="0" err="1"/>
              <a:t>轻食未放入冷冻区</a:t>
            </a:r>
            <a:r>
              <a:rPr sz="1200" dirty="0"/>
              <a:t>、</a:t>
            </a:r>
            <a:endParaRPr lang="en-US"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sz="1200" dirty="0" err="1"/>
              <a:t>牛奶被放入解冻冰箱或错误冷藏位置、配送后在常温放置过夜</a:t>
            </a:r>
            <a:r>
              <a:rPr sz="1200" dirty="0"/>
              <a:t>。</a:t>
            </a:r>
          </a:p>
          <a:p>
            <a:pPr>
              <a:spcAft>
                <a:spcPts val="200"/>
              </a:spcAft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sz="1200" dirty="0"/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7470" y="4138168"/>
            <a:ext cx="25603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20" b="1"/>
            </a:pPr>
            <a:r>
              <a:rPr sz="1200" b="1" dirty="0" err="1">
                <a:solidFill>
                  <a:srgbClr val="1E2D41"/>
                </a:solidFill>
                <a:latin typeface="Microsoft YaHei"/>
              </a:rPr>
              <a:t>纠正措施</a:t>
            </a:r>
            <a:r>
              <a:rPr sz="1200" b="1" dirty="0">
                <a:solidFill>
                  <a:srgbClr val="1E2D41"/>
                </a:solidFill>
                <a:latin typeface="Microsoft YaHei"/>
              </a:rPr>
              <a:t> / Corrective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7470" y="4684268"/>
            <a:ext cx="4526280" cy="13533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门店端对冷冻、冷藏、常温三类冰箱实施颜色标签分类管理，确保不同温区物料存放位置清晰、易于识别。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仓库重新培训仓储及配送人员，强化温区管理要求；所有冷冻货物统一粘贴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"Frozen"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标签进行标识。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冷冻、冷藏、常温物料必须按温区分类存放和配送，不得混放、错放或随意放置，确保全程冷链管理符合要求。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6D7B2FD-C8B2-D1EA-4A79-08E374BD2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999" y="995807"/>
            <a:ext cx="4368933" cy="24331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F20A16-FE0C-CD07-DC52-AE6849B47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901" y="1111250"/>
            <a:ext cx="2016124" cy="214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081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96ED-CDF0-97CC-E8F1-58B64751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813816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000" b="1"/>
            </a:pPr>
            <a:r>
              <a:rPr sz="2000" b="1" dirty="0" err="1">
                <a:solidFill>
                  <a:srgbClr val="1E2D41"/>
                </a:solidFill>
                <a:latin typeface="Microsoft YaHei"/>
              </a:rPr>
              <a:t>典型案例</a:t>
            </a:r>
            <a:r>
              <a:rPr sz="2000" b="1" dirty="0">
                <a:solidFill>
                  <a:srgbClr val="1E2D41"/>
                </a:solidFill>
                <a:latin typeface="Microsoft YaHei"/>
              </a:rPr>
              <a:t> — Wrong Item Appliance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89611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00"/>
            </a:pPr>
            <a:r>
              <a:rPr sz="1100" b="0">
                <a:solidFill>
                  <a:srgbClr val="5F6978"/>
                </a:solidFill>
                <a:latin typeface="Microsoft YaHei"/>
              </a:rPr>
              <a:t>错货与器具规格不符 · Case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4260" y="5812790"/>
            <a:ext cx="3200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800" b="0">
                <a:solidFill>
                  <a:srgbClr val="5F6978"/>
                </a:solidFill>
                <a:latin typeface="Microsoft YaHe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860902"/>
              </p:ext>
            </p:extLst>
          </p:nvPr>
        </p:nvGraphicFramePr>
        <p:xfrm>
          <a:off x="502920" y="1093274"/>
          <a:ext cx="5394960" cy="979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Product / 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4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Cases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4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Value</a:t>
                      </a:r>
                    </a:p>
                  </a:txBody>
                  <a:tcPr marL="36576" marR="36576" marT="18288" marB="18288">
                    <a:solidFill>
                      <a:srgbClr val="005E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Concentrated Orange Juice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88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88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$957.00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4L Cold Water Pitcher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88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E2D41"/>
                          </a:solidFill>
                          <a:latin typeface="Microsoft YaHei"/>
                        </a:defRPr>
                      </a:pPr>
                      <a:r>
                        <a:rPr sz="88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$363.09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3910" y="4156406"/>
            <a:ext cx="25603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20" b="1"/>
            </a:pPr>
            <a:r>
              <a:rPr sz="1200" b="1" dirty="0" err="1">
                <a:solidFill>
                  <a:srgbClr val="1E2D41"/>
                </a:solidFill>
                <a:latin typeface="Microsoft YaHei"/>
              </a:rPr>
              <a:t>问题描述</a:t>
            </a:r>
            <a:r>
              <a:rPr sz="1200" b="1" dirty="0">
                <a:solidFill>
                  <a:srgbClr val="1E2D41"/>
                </a:solidFill>
                <a:latin typeface="Microsoft YaHei"/>
              </a:rPr>
              <a:t> / NC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810" y="4740402"/>
            <a:ext cx="4526280" cy="13533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sz="1200" dirty="0" err="1"/>
              <a:t>橙汁类问题</a:t>
            </a:r>
            <a:r>
              <a:rPr sz="1200" dirty="0"/>
              <a:t> 11 </a:t>
            </a:r>
            <a:r>
              <a:rPr sz="1200" dirty="0" err="1"/>
              <a:t>起，为门店收到</a:t>
            </a:r>
            <a:r>
              <a:rPr sz="1200" dirty="0"/>
              <a:t> Orange &amp; Carrot Juice </a:t>
            </a:r>
            <a:r>
              <a:rPr sz="1200" dirty="0" err="1"/>
              <a:t>而非</a:t>
            </a:r>
            <a:r>
              <a:rPr sz="1200" dirty="0"/>
              <a:t> Concentrated Orange Juice。</a:t>
            </a:r>
            <a:endParaRPr lang="en-US"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endParaRPr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sz="1200" dirty="0"/>
              <a:t>4L </a:t>
            </a:r>
            <a:r>
              <a:rPr sz="1200" dirty="0" err="1"/>
              <a:t>冷水壶</a:t>
            </a:r>
            <a:r>
              <a:rPr sz="1200" dirty="0"/>
              <a:t> 7 </a:t>
            </a:r>
            <a:r>
              <a:rPr sz="1200" dirty="0" err="1"/>
              <a:t>起，其中</a:t>
            </a:r>
            <a:r>
              <a:rPr sz="1200" dirty="0"/>
              <a:t> 4 </a:t>
            </a:r>
            <a:r>
              <a:rPr sz="1200" dirty="0" err="1"/>
              <a:t>起判定为供应商责任，主要为壶身无刻度线</a:t>
            </a:r>
            <a:r>
              <a:rPr sz="1200" dirty="0"/>
              <a:t>/</a:t>
            </a:r>
            <a:r>
              <a:rPr sz="1200" dirty="0" err="1"/>
              <a:t>规格不符</a:t>
            </a:r>
            <a:r>
              <a:rPr sz="1200" dirty="0"/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7020" y="4165194"/>
            <a:ext cx="25603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120" b="1"/>
            </a:pPr>
            <a:r>
              <a:rPr sz="1200" b="1" dirty="0" err="1">
                <a:solidFill>
                  <a:srgbClr val="1E2D41"/>
                </a:solidFill>
                <a:latin typeface="Microsoft YaHei"/>
              </a:rPr>
              <a:t>纠正措施</a:t>
            </a:r>
            <a:r>
              <a:rPr sz="1200" b="1" dirty="0">
                <a:solidFill>
                  <a:srgbClr val="1E2D41"/>
                </a:solidFill>
                <a:latin typeface="Microsoft YaHei"/>
              </a:rPr>
              <a:t> / Corrective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7020" y="4696915"/>
            <a:ext cx="4526280" cy="104383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橙汁错货需由仓库复核拣配流程，避免相近品混淆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endParaRPr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1E2D41"/>
                </a:solidFill>
                <a:latin typeface="Microsoft YaHei"/>
              </a:defRPr>
            </a:pP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冷水壶后续入库需增加规格抽检：容量、刻度线、材质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外观、包装标签与采购规格一致性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5637FA-BA36-AB2A-4A61-CD88738DE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241" y="1093274"/>
            <a:ext cx="1722019" cy="23923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A80026-C4FD-AAF0-1A78-2AF021FE5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171" y="1093274"/>
            <a:ext cx="2613104" cy="239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5999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425214" y="2832127"/>
            <a:ext cx="47667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b="1" dirty="0"/>
              <a:t>Store </a:t>
            </a:r>
            <a:r>
              <a:rPr lang="en-US" altLang="zh-CN" sz="3200" b="1" dirty="0"/>
              <a:t>Audit </a:t>
            </a:r>
            <a:r>
              <a:rPr lang="zh-CN" altLang="zh-CN" sz="3200" b="1" dirty="0"/>
              <a:t>Performance</a:t>
            </a:r>
            <a:r>
              <a:rPr lang="en-US" altLang="zh-CN" sz="3200" b="1" dirty="0"/>
              <a:t> </a:t>
            </a:r>
          </a:p>
          <a:p>
            <a:r>
              <a:rPr lang="zh-CN" altLang="en-US" sz="3200" b="1" dirty="0"/>
              <a:t>门店稽核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7BB412-B51C-1251-6A33-F21C26D23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7066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4825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76A2F-9E42-55E9-F73E-A6374DCE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F453D2-2D81-DF94-8D6A-B0D993A778D6}"/>
              </a:ext>
            </a:extLst>
          </p:cNvPr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月 QA 稽核整体表现</a:t>
            </a: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416666F-A5A1-5C50-78BE-8074C7CF6492}"/>
              </a:ext>
            </a:extLst>
          </p:cNvPr>
          <p:cNvSpPr/>
          <p:nvPr/>
        </p:nvSpPr>
        <p:spPr>
          <a:xfrm>
            <a:off x="566928" y="987552"/>
            <a:ext cx="1106424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1F7107-444B-3C67-90BB-575069C727DB}"/>
              </a:ext>
            </a:extLst>
          </p:cNvPr>
          <p:cNvSpPr/>
          <p:nvPr/>
        </p:nvSpPr>
        <p:spPr>
          <a:xfrm>
            <a:off x="566928" y="10241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食安稽核 16 次 / 16 家门店 · 分数为申诉后调整分</a:t>
            </a:r>
            <a:endParaRPr lang="en-US" sz="11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68DC663-D058-0AFC-8F2B-96077ECBA898}"/>
              </a:ext>
            </a:extLst>
          </p:cNvPr>
          <p:cNvSpPr/>
          <p:nvPr/>
        </p:nvSpPr>
        <p:spPr>
          <a:xfrm>
            <a:off x="8503920" y="6419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瑞幸咖啡</a:t>
            </a:r>
            <a:r>
              <a:rPr lang="en-US" sz="10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北美质量保障部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470E6F4-F98E-9DC4-8034-EF271604B0E5}"/>
              </a:ext>
            </a:extLst>
          </p:cNvPr>
          <p:cNvSpPr/>
          <p:nvPr/>
        </p:nvSpPr>
        <p:spPr>
          <a:xfrm>
            <a:off x="548640" y="1554480"/>
            <a:ext cx="26700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B037002-EA2C-0061-DD52-FB3A58BBBD08}"/>
              </a:ext>
            </a:extLst>
          </p:cNvPr>
          <p:cNvSpPr/>
          <p:nvPr/>
        </p:nvSpPr>
        <p:spPr>
          <a:xfrm>
            <a:off x="548640" y="1554480"/>
            <a:ext cx="91440" cy="1463040"/>
          </a:xfrm>
          <a:prstGeom prst="rect">
            <a:avLst/>
          </a:prstGeom>
          <a:solidFill>
            <a:srgbClr val="2E9F4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B67AA52-EE9B-A0AF-85BE-87A36140C9A1}"/>
              </a:ext>
            </a:extLst>
          </p:cNvPr>
          <p:cNvSpPr/>
          <p:nvPr/>
        </p:nvSpPr>
        <p:spPr>
          <a:xfrm>
            <a:off x="658368" y="1645920"/>
            <a:ext cx="246888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2E9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91.8</a:t>
            </a:r>
            <a:endParaRPr lang="en-US" sz="3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DC63ACD-30C8-7881-52A2-822B3BE70E04}"/>
              </a:ext>
            </a:extLst>
          </p:cNvPr>
          <p:cNvSpPr/>
          <p:nvPr/>
        </p:nvSpPr>
        <p:spPr>
          <a:xfrm>
            <a:off x="658368" y="2403043"/>
            <a:ext cx="24688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平均分（↑6.7 vs 5月）</a:t>
            </a:r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23E661F-CE6B-9C3A-4B8C-5D1B246E97B2}"/>
              </a:ext>
            </a:extLst>
          </p:cNvPr>
          <p:cNvSpPr/>
          <p:nvPr/>
        </p:nvSpPr>
        <p:spPr>
          <a:xfrm>
            <a:off x="3383280" y="1554480"/>
            <a:ext cx="26700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947DBB5-FF5D-7447-992A-F1CE3BED9FFB}"/>
              </a:ext>
            </a:extLst>
          </p:cNvPr>
          <p:cNvSpPr/>
          <p:nvPr/>
        </p:nvSpPr>
        <p:spPr>
          <a:xfrm>
            <a:off x="3383280" y="1554480"/>
            <a:ext cx="91440" cy="14630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BA8E53A-59A2-FEE6-79D4-4A2AE6B04039}"/>
              </a:ext>
            </a:extLst>
          </p:cNvPr>
          <p:cNvSpPr/>
          <p:nvPr/>
        </p:nvSpPr>
        <p:spPr>
          <a:xfrm>
            <a:off x="3493008" y="1645920"/>
            <a:ext cx="246888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16/18</a:t>
            </a:r>
            <a:endParaRPr lang="en-US" sz="3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6D98335-ADB2-9596-53F1-20015525D55D}"/>
              </a:ext>
            </a:extLst>
          </p:cNvPr>
          <p:cNvSpPr/>
          <p:nvPr/>
        </p:nvSpPr>
        <p:spPr>
          <a:xfrm>
            <a:off x="3493008" y="2403043"/>
            <a:ext cx="24688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</a:t>
            </a:r>
            <a:r>
              <a:rPr lang="en-US" sz="1150" dirty="0" err="1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稽核覆盖门店</a:t>
            </a:r>
            <a:endParaRPr lang="en-US" sz="1150" dirty="0">
              <a:solidFill>
                <a:srgbClr val="5A5A5A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zh-CN" alt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（两家新店未检）</a:t>
            </a:r>
            <a:endParaRPr lang="en-US" sz="1150" dirty="0">
              <a:solidFill>
                <a:srgbClr val="5A5A5A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4D9AD9C-8E80-4250-1E55-0A6097618804}"/>
              </a:ext>
            </a:extLst>
          </p:cNvPr>
          <p:cNvSpPr/>
          <p:nvPr/>
        </p:nvSpPr>
        <p:spPr>
          <a:xfrm>
            <a:off x="6217920" y="1554480"/>
            <a:ext cx="26700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A3FDB7F-EBE3-9AB6-EE1A-4B6092C0161A}"/>
              </a:ext>
            </a:extLst>
          </p:cNvPr>
          <p:cNvSpPr/>
          <p:nvPr/>
        </p:nvSpPr>
        <p:spPr>
          <a:xfrm>
            <a:off x="6217920" y="1554480"/>
            <a:ext cx="91440" cy="14630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4BA0E9E-9E44-988B-AF4E-007E6F197E4D}"/>
              </a:ext>
            </a:extLst>
          </p:cNvPr>
          <p:cNvSpPr/>
          <p:nvPr/>
        </p:nvSpPr>
        <p:spPr>
          <a:xfrm>
            <a:off x="6327648" y="1645920"/>
            <a:ext cx="246888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3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0892A9B-FAC4-8AC4-AF5E-D1889BECB993}"/>
              </a:ext>
            </a:extLst>
          </p:cNvPr>
          <p:cNvSpPr/>
          <p:nvPr/>
        </p:nvSpPr>
        <p:spPr>
          <a:xfrm>
            <a:off x="6327648" y="2403043"/>
            <a:ext cx="24688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稽核次数</a:t>
            </a:r>
            <a:endParaRPr lang="en-US" sz="11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AAEDF17-F548-7B92-17CC-260F4BD39032}"/>
              </a:ext>
            </a:extLst>
          </p:cNvPr>
          <p:cNvSpPr/>
          <p:nvPr/>
        </p:nvSpPr>
        <p:spPr>
          <a:xfrm>
            <a:off x="9052560" y="1554480"/>
            <a:ext cx="26700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B27B0AD-C05A-FCEE-47B6-8E5E574466B5}"/>
              </a:ext>
            </a:extLst>
          </p:cNvPr>
          <p:cNvSpPr/>
          <p:nvPr/>
        </p:nvSpPr>
        <p:spPr>
          <a:xfrm>
            <a:off x="9052560" y="1554480"/>
            <a:ext cx="91440" cy="1463040"/>
          </a:xfrm>
          <a:prstGeom prst="rect">
            <a:avLst/>
          </a:prstGeom>
          <a:solidFill>
            <a:srgbClr val="E89A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C628AA1-E74C-7D6D-BFFF-FCAAB1D78F8C}"/>
              </a:ext>
            </a:extLst>
          </p:cNvPr>
          <p:cNvSpPr/>
          <p:nvPr/>
        </p:nvSpPr>
        <p:spPr>
          <a:xfrm>
            <a:off x="9162288" y="1645920"/>
            <a:ext cx="246888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E89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3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64D81A4-7D44-88EE-2EB0-29EDED926D80}"/>
              </a:ext>
            </a:extLst>
          </p:cNvPr>
          <p:cNvSpPr/>
          <p:nvPr/>
        </p:nvSpPr>
        <p:spPr>
          <a:xfrm>
            <a:off x="9162288" y="2403043"/>
            <a:ext cx="24688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</a:t>
            </a:r>
            <a:r>
              <a:rPr lang="en-US" sz="1150" dirty="0" err="1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关键S项（M项</a:t>
            </a: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5）</a:t>
            </a:r>
            <a:endParaRPr lang="en-US" sz="11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A6E92D5-054C-01F4-BA5C-A2DB34D6DC76}"/>
              </a:ext>
            </a:extLst>
          </p:cNvPr>
          <p:cNvSpPr/>
          <p:nvPr/>
        </p:nvSpPr>
        <p:spPr>
          <a:xfrm>
            <a:off x="548640" y="3310128"/>
            <a:ext cx="11091672" cy="3840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4E91310-A04C-6700-D6BA-8A389C2D53E1}"/>
              </a:ext>
            </a:extLst>
          </p:cNvPr>
          <p:cNvSpPr/>
          <p:nvPr/>
        </p:nvSpPr>
        <p:spPr>
          <a:xfrm>
            <a:off x="603504" y="3310128"/>
            <a:ext cx="10981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 QA </a:t>
            </a: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</a:t>
            </a:r>
            <a:r>
              <a:rPr lang="en-US" sz="13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状态总览</a:t>
            </a:r>
            <a:endParaRPr lang="en-US" sz="13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828F756-9E79-EA93-4381-EFCC7E218B1E}"/>
              </a:ext>
            </a:extLst>
          </p:cNvPr>
          <p:cNvSpPr/>
          <p:nvPr/>
        </p:nvSpPr>
        <p:spPr>
          <a:xfrm>
            <a:off x="548640" y="3767328"/>
            <a:ext cx="2690622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88C3DC3-2980-5C3C-526E-9378E3424B5C}"/>
              </a:ext>
            </a:extLst>
          </p:cNvPr>
          <p:cNvSpPr/>
          <p:nvPr/>
        </p:nvSpPr>
        <p:spPr>
          <a:xfrm>
            <a:off x="548640" y="3767328"/>
            <a:ext cx="2690622" cy="64008"/>
          </a:xfrm>
          <a:prstGeom prst="rect">
            <a:avLst/>
          </a:prstGeom>
          <a:solidFill>
            <a:srgbClr val="E89A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09133DF-30AB-4F41-5D26-B78E9241FBA7}"/>
              </a:ext>
            </a:extLst>
          </p:cNvPr>
          <p:cNvSpPr/>
          <p:nvPr/>
        </p:nvSpPr>
        <p:spPr>
          <a:xfrm>
            <a:off x="640080" y="3858768"/>
            <a:ext cx="25077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覆盖</a:t>
            </a:r>
            <a:endParaRPr lang="en-US" sz="12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80696C7-D5D5-B6E2-84FC-8B8B63584C56}"/>
              </a:ext>
            </a:extLst>
          </p:cNvPr>
          <p:cNvSpPr/>
          <p:nvPr/>
        </p:nvSpPr>
        <p:spPr>
          <a:xfrm>
            <a:off x="640080" y="4160520"/>
            <a:ext cx="2507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16/18</a:t>
            </a:r>
            <a:endParaRPr lang="en-US" sz="12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77C0505-8CC2-AEB2-36E2-23566954C92D}"/>
              </a:ext>
            </a:extLst>
          </p:cNvPr>
          <p:cNvSpPr/>
          <p:nvPr/>
        </p:nvSpPr>
        <p:spPr>
          <a:xfrm>
            <a:off x="3348990" y="3767328"/>
            <a:ext cx="2690622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1D13024-8114-638D-8E34-C3EF04DF5C33}"/>
              </a:ext>
            </a:extLst>
          </p:cNvPr>
          <p:cNvSpPr/>
          <p:nvPr/>
        </p:nvSpPr>
        <p:spPr>
          <a:xfrm>
            <a:off x="3348990" y="3767328"/>
            <a:ext cx="2690622" cy="64008"/>
          </a:xfrm>
          <a:prstGeom prst="rect">
            <a:avLst/>
          </a:prstGeom>
          <a:solidFill>
            <a:srgbClr val="2E9F4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7258C63-60B8-F169-ED91-4E8EB39499CB}"/>
              </a:ext>
            </a:extLst>
          </p:cNvPr>
          <p:cNvSpPr/>
          <p:nvPr/>
        </p:nvSpPr>
        <p:spPr>
          <a:xfrm>
            <a:off x="3440430" y="3858768"/>
            <a:ext cx="25077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平均分</a:t>
            </a:r>
            <a:endParaRPr lang="en-US" sz="12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137EA71-1818-B6DD-B0CB-9696AC15952F}"/>
              </a:ext>
            </a:extLst>
          </p:cNvPr>
          <p:cNvSpPr/>
          <p:nvPr/>
        </p:nvSpPr>
        <p:spPr>
          <a:xfrm>
            <a:off x="3440430" y="4160520"/>
            <a:ext cx="2507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9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91.8（+6.7 </a:t>
            </a:r>
            <a:r>
              <a:rPr lang="en-US" altLang="zh-CN" sz="1200" b="1" dirty="0">
                <a:solidFill>
                  <a:srgbClr val="2E9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compares to May</a:t>
            </a:r>
            <a:r>
              <a:rPr lang="en-US" sz="1200" b="1" dirty="0">
                <a:solidFill>
                  <a:srgbClr val="2E9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2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DC61059-10BF-419F-D452-B44B722C9CD2}"/>
              </a:ext>
            </a:extLst>
          </p:cNvPr>
          <p:cNvSpPr/>
          <p:nvPr/>
        </p:nvSpPr>
        <p:spPr>
          <a:xfrm>
            <a:off x="6149340" y="3767328"/>
            <a:ext cx="2690622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306110B-DD34-6CDC-6F09-195E4E5B2FE1}"/>
              </a:ext>
            </a:extLst>
          </p:cNvPr>
          <p:cNvSpPr/>
          <p:nvPr/>
        </p:nvSpPr>
        <p:spPr>
          <a:xfrm>
            <a:off x="6149340" y="3767328"/>
            <a:ext cx="2690622" cy="64008"/>
          </a:xfrm>
          <a:prstGeom prst="rect">
            <a:avLst/>
          </a:prstGeom>
          <a:solidFill>
            <a:srgbClr val="CE20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4D3CB29-C8D1-A122-CD52-A322F36EC0B5}"/>
              </a:ext>
            </a:extLst>
          </p:cNvPr>
          <p:cNvSpPr/>
          <p:nvPr/>
        </p:nvSpPr>
        <p:spPr>
          <a:xfrm>
            <a:off x="6240780" y="3858768"/>
            <a:ext cx="25077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关键项短板</a:t>
            </a:r>
            <a:endParaRPr lang="en-US" sz="12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C9DC91D-4D1F-49B4-D14B-2E8897341D1A}"/>
              </a:ext>
            </a:extLst>
          </p:cNvPr>
          <p:cNvSpPr/>
          <p:nvPr/>
        </p:nvSpPr>
        <p:spPr>
          <a:xfrm>
            <a:off x="6240780" y="4160520"/>
            <a:ext cx="2507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水槽与管道 / 气隙 Air Gap</a:t>
            </a:r>
            <a:endParaRPr lang="en-US" sz="12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ED51E5F-C5C7-B50A-5F5B-2F9403838591}"/>
              </a:ext>
            </a:extLst>
          </p:cNvPr>
          <p:cNvSpPr/>
          <p:nvPr/>
        </p:nvSpPr>
        <p:spPr>
          <a:xfrm>
            <a:off x="8873109" y="3822192"/>
            <a:ext cx="2690622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142350DA-5544-EB6C-DA31-5CCE5C1A660B}"/>
              </a:ext>
            </a:extLst>
          </p:cNvPr>
          <p:cNvSpPr/>
          <p:nvPr/>
        </p:nvSpPr>
        <p:spPr>
          <a:xfrm>
            <a:off x="8949690" y="3767328"/>
            <a:ext cx="2690622" cy="64008"/>
          </a:xfrm>
          <a:prstGeom prst="rect">
            <a:avLst/>
          </a:prstGeom>
          <a:solidFill>
            <a:srgbClr val="CE20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214A34DC-438A-F414-4056-579173107447}"/>
              </a:ext>
            </a:extLst>
          </p:cNvPr>
          <p:cNvSpPr/>
          <p:nvPr/>
        </p:nvSpPr>
        <p:spPr>
          <a:xfrm>
            <a:off x="9041130" y="3858768"/>
            <a:ext cx="25077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跨月异动</a:t>
            </a:r>
            <a:endParaRPr lang="en-US" sz="12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8CA6AC1A-FB31-D79E-90D0-3A8E13B12F66}"/>
              </a:ext>
            </a:extLst>
          </p:cNvPr>
          <p:cNvSpPr/>
          <p:nvPr/>
        </p:nvSpPr>
        <p:spPr>
          <a:xfrm>
            <a:off x="9041130" y="4160520"/>
            <a:ext cx="25077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/>
              <a:t>4 家门店分数手动更新</a:t>
            </a:r>
            <a:endParaRPr lang="en-US" altLang="zh-CN" sz="1200" dirty="0"/>
          </a:p>
          <a:p>
            <a:pPr marL="0" indent="0">
              <a:buNone/>
            </a:pPr>
            <a:r>
              <a:rPr lang="zh-CN" altLang="en-US" sz="1200" dirty="0"/>
              <a:t>（跨周末申诉过期未处理）</a:t>
            </a:r>
            <a:endParaRPr lang="en-US" sz="12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13C73001-CF70-910E-A3EB-A03ECC99A531}"/>
              </a:ext>
            </a:extLst>
          </p:cNvPr>
          <p:cNvSpPr/>
          <p:nvPr/>
        </p:nvSpPr>
        <p:spPr>
          <a:xfrm>
            <a:off x="548640" y="4828032"/>
            <a:ext cx="11091672" cy="3840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A22FD1B-CB92-C0B1-FCFC-26DDAD8634BA}"/>
              </a:ext>
            </a:extLst>
          </p:cNvPr>
          <p:cNvSpPr/>
          <p:nvPr/>
        </p:nvSpPr>
        <p:spPr>
          <a:xfrm>
            <a:off x="603504" y="4828032"/>
            <a:ext cx="10981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</a:t>
            </a:r>
            <a:endParaRPr lang="en-US" sz="13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6E60E7A-60EF-8487-18E7-67D854BC31D7}"/>
              </a:ext>
            </a:extLst>
          </p:cNvPr>
          <p:cNvSpPr/>
          <p:nvPr/>
        </p:nvSpPr>
        <p:spPr>
          <a:xfrm>
            <a:off x="548640" y="5212080"/>
            <a:ext cx="110916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005AA0DA-D98B-18D0-8D45-AFD456773E0D}"/>
              </a:ext>
            </a:extLst>
          </p:cNvPr>
          <p:cNvSpPr/>
          <p:nvPr/>
        </p:nvSpPr>
        <p:spPr>
          <a:xfrm>
            <a:off x="676656" y="5285232"/>
            <a:ext cx="10835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月 QA 稽核 16 次、覆盖 16 家门店；申诉后平均分 91.8，较 5 月 QA 稽核均分 85.1 提升 6.7 分。
最大系统性短板仍为设施 — Sinks and Pipes / air gap：QA 主巡检 8 个关键项全部为此类；需 BD / 营建按 P0 清单逐店闭环。</a:t>
            </a: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5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762619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三类稽核体系对比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1106424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门店自检 + QA 稽核 + 区经检查 · 本月三类齐全且全部活跃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6419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瑞幸咖啡</a:t>
            </a:r>
            <a:r>
              <a:rPr lang="en-US" sz="10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北美质量保障部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434144"/>
              </p:ext>
            </p:extLst>
          </p:nvPr>
        </p:nvGraphicFramePr>
        <p:xfrm>
          <a:off x="1265429" y="1503426"/>
          <a:ext cx="9005570" cy="2267712"/>
        </p:xfrm>
        <a:graphic>
          <a:graphicData uri="http://schemas.openxmlformats.org/drawingml/2006/table">
            <a:tbl>
              <a:tblPr/>
              <a:tblGrid>
                <a:gridCol w="143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8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6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79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稽核类型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次数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覆盖门店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平均分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关键项(S)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重点项(M)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门店自检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51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18/18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82.8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QA 稽核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16/18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91.8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000000"/>
                          </a:solidFill>
                        </a:rPr>
                        <a:t>区经检查</a:t>
                      </a:r>
                      <a:endParaRPr sz="14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18/18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84.3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矩形 78">
            <a:extLst>
              <a:ext uri="{FF2B5EF4-FFF2-40B4-BE49-F238E27FC236}">
                <a16:creationId xmlns:a16="http://schemas.microsoft.com/office/drawing/2014/main" id="{5BF5D31D-528A-E830-6CDB-9F89529B7EA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132841" y="4108450"/>
            <a:ext cx="10214610" cy="2219197"/>
          </a:xfrm>
          <a:prstGeom prst="rect">
            <a:avLst/>
          </a:prstGeom>
          <a:gradFill>
            <a:gsLst>
              <a:gs pos="15000">
                <a:schemeClr val="accent1">
                  <a:lumMod val="100000"/>
                  <a:alpha val="0"/>
                </a:schemeClr>
              </a:gs>
              <a:gs pos="100000">
                <a:schemeClr val="accent1">
                  <a:lumMod val="65000"/>
                  <a:lumOff val="35000"/>
                  <a:alpha val="3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432000" tIns="0" rIns="432000" bIns="0" rtlCol="0" anchor="ctr" anchorCtr="0"/>
          <a:lstStyle/>
          <a:p>
            <a:pPr>
              <a:lnSpc>
                <a:spcPct val="120000"/>
              </a:lnSpc>
            </a:pPr>
            <a:endParaRPr lang="en-US" altLang="zh-CN" sz="1200" b="1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中文正文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1200" b="1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中文正文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1200" b="1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中文正文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1200" b="1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中文正文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1200" b="1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中文正文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1200" b="1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中文正文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1200" b="1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中文正文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kern="0" dirty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中文正文" charset="0"/>
                <a:sym typeface="+mn-ea"/>
              </a:rPr>
              <a:t>体系表现</a:t>
            </a:r>
            <a:r>
              <a:rPr lang="en-US" altLang="zh-CN" sz="1200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中文正文" charset="0"/>
                <a:sym typeface="+mn-ea"/>
              </a:rPr>
              <a:t>：
6 </a:t>
            </a:r>
            <a:r>
              <a:rPr lang="en-US" altLang="zh-CN" sz="1200" b="1" kern="0" dirty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中文正文" charset="0"/>
                <a:sym typeface="+mn-ea"/>
              </a:rPr>
              <a:t>月共</a:t>
            </a:r>
            <a:r>
              <a:rPr lang="en-US" altLang="zh-CN" sz="1200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中文正文" charset="0"/>
                <a:sym typeface="+mn-ea"/>
              </a:rPr>
              <a:t> 85 次有效巡检（自检 51 / QA 16 / 区经 18），18 家在营门店 100% 覆盖；三类巡检均分较 5 月全部改善。
QA 稽核平均分最高（91.8）， 8 个 S 项全部集中在 Sinks and Pipes / air gap，说明设施类问题仍未根治。
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中文正文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1400" b="1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中文正文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b="1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中文正文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b="1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中文正文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中文正文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62836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门店得分排名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1106424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家自营门店（申诉后分）· 红色虚线为 80 分达标线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6419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瑞幸咖啡</a:t>
            </a:r>
            <a:r>
              <a:rPr lang="en-US" sz="10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北美质量保障部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430275743"/>
              </p:ext>
            </p:extLst>
          </p:nvPr>
        </p:nvGraphicFramePr>
        <p:xfrm>
          <a:off x="457200" y="1463040"/>
          <a:ext cx="112471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285232"/>
            <a:ext cx="11247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85216" y="5358384"/>
            <a:ext cx="10991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A+ 档 ≥94（21st &amp; 3rd 97、54th &amp; 8th 96、41st &amp; Lexington 95、33rd &amp; 10th / 29th &amp; 3rd / 221 Grand 94）；</a:t>
            </a:r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所有 QA 稽核门店均 ≥86 分，无 &lt;80 门店。最低分为 28th &amp; 6th、100 Maiden Ln（均 86）。</a:t>
            </a: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50" dirty="0">
              <a:solidFill>
                <a:srgbClr val="22222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稽核分级结果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1106424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自营 16 家 · 申诉后调整分（A+ ≥94 / A 87-93 / B 80-86 / C &lt;80）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6419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瑞幸咖啡</a:t>
            </a:r>
            <a:r>
              <a:rPr lang="en-US" sz="10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北美质量保障部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894075884"/>
              </p:ext>
            </p:extLst>
          </p:nvPr>
        </p:nvGraphicFramePr>
        <p:xfrm>
          <a:off x="502920" y="1417320"/>
          <a:ext cx="61264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463040"/>
            <a:ext cx="2286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6903720" y="1463040"/>
            <a:ext cx="91440" cy="960120"/>
          </a:xfrm>
          <a:prstGeom prst="rect">
            <a:avLst/>
          </a:prstGeom>
          <a:solidFill>
            <a:srgbClr val="2E9F4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013448" y="1554480"/>
            <a:ext cx="208483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2E9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7013448" y="2019910"/>
            <a:ext cx="208483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达标率（A+/A/B，≥80分）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326880" y="1463040"/>
            <a:ext cx="2286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9326880" y="1463040"/>
            <a:ext cx="91440" cy="9601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9436608" y="1554480"/>
            <a:ext cx="208483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87.5%</a:t>
            </a: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9436608" y="2019910"/>
            <a:ext cx="208483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级以上占比（A+/A）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090643"/>
              </p:ext>
            </p:extLst>
          </p:nvPr>
        </p:nvGraphicFramePr>
        <p:xfrm>
          <a:off x="6903720" y="2697480"/>
          <a:ext cx="4740212" cy="11633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69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69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69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类型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dirty="0" err="1">
                          <a:solidFill>
                            <a:srgbClr val="FFFFFF"/>
                          </a:solidFill>
                        </a:rPr>
                        <a:t>稽核店数</a:t>
                      </a:r>
                      <a:endParaRPr sz="9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A+ 级率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 级率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B 级率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 级率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496">
                <a:tc rowSpan="2">
                  <a:txBody>
                    <a:bodyPr/>
                    <a:lstStyle/>
                    <a:p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QA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</a:rPr>
                        <a:t>稽核</a:t>
                      </a:r>
                      <a:endParaRPr sz="9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sz="9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37.5%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sz="9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9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sz="9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sz="9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sz="9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sz="9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934300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502920" y="4114800"/>
            <a:ext cx="11137392" cy="3840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557784" y="41148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sz="1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02920" y="4498848"/>
            <a:ext cx="111373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630936" y="4572000"/>
            <a:ext cx="108813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达标率 100%（16/16），A 级以上占比 87.5%（14/16），其中 A+ 门店 6 家。
本月无 C 级</a:t>
            </a:r>
            <a:r>
              <a:rPr lang="zh-CN" alt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不合格</a:t>
            </a:r>
            <a:r>
              <a:rPr lang="en-US" sz="13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</a:t>
            </a:r>
            <a:r>
              <a:rPr lang="zh-CN" alt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北美门店全部为自营。</a:t>
            </a:r>
            <a:endParaRPr lang="en-US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>
              <a:solidFill>
                <a:srgbClr val="5A5A5A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en-US" sz="1100" dirty="0">
              <a:solidFill>
                <a:srgbClr val="5A5A5A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en-US" sz="1100" dirty="0">
              <a:solidFill>
                <a:srgbClr val="5A5A5A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申诉前 vs 申诉后 分数对比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1106424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稽核 · 申诉机制对评分结果的影响（申诉前 = 原始分，申诉后 = 调整分）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6419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瑞幸咖啡</a:t>
            </a:r>
            <a:r>
              <a:rPr lang="en-US" sz="10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北美质量保障部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91440" cy="960120"/>
          </a:xfrm>
          <a:prstGeom prst="rect">
            <a:avLst/>
          </a:prstGeom>
          <a:solidFill>
            <a:srgbClr val="5A5A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245059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78.4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2038198"/>
            <a:ext cx="245059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平均分（申诉前）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481328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383280" y="1481328"/>
            <a:ext cx="91440" cy="960120"/>
          </a:xfrm>
          <a:prstGeom prst="rect">
            <a:avLst/>
          </a:prstGeom>
          <a:solidFill>
            <a:srgbClr val="2E9F4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93008" y="1572768"/>
            <a:ext cx="245059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2E9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91.8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3493008" y="2038198"/>
            <a:ext cx="245059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平均分（申诉后，+13.4）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55080" y="13716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分级结构：申诉前 vs 申诉后（占比 %）</a:t>
            </a:r>
            <a:endParaRPr lang="en-US" sz="1250" dirty="0"/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1091503678"/>
              </p:ext>
            </p:extLst>
          </p:nvPr>
        </p:nvGraphicFramePr>
        <p:xfrm>
          <a:off x="6263640" y="1664208"/>
          <a:ext cx="53949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548640" y="2560320"/>
            <a:ext cx="5486400" cy="3657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603504" y="256032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申诉调整门店（申诉前→申诉后）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254022"/>
              </p:ext>
            </p:extLst>
          </p:nvPr>
        </p:nvGraphicFramePr>
        <p:xfrm>
          <a:off x="548640" y="2926080"/>
          <a:ext cx="5486400" cy="234543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门店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申诉前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申诉后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变动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102 Fulton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68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93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+25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33rd &amp; 10th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69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94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+25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154 Bleecker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+25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29th &amp; 3rd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94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+29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38047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21st &amp; 3rd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72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97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+25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221 Grand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94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+27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54th &amp; 8th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96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+25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52nd &amp; Madison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64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89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+25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548640" y="5778500"/>
            <a:ext cx="11091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94360" y="5849417"/>
            <a:ext cx="10835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申诉/调整使 QA 平均分由 78.4 提升至 91.8（+13.4），达标率升至 100%，A 级以上升至 87.5%。
本月共 11 起调整：7 起系统获批、4 起 QA </a:t>
            </a:r>
            <a:r>
              <a:rPr lang="en-US" sz="14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手动更新</a:t>
            </a:r>
            <a:r>
              <a:rPr lang="en-US" sz="14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稽核 6 月 vs 5 月 对比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1106424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503920" y="6419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瑞幸咖啡</a:t>
            </a:r>
            <a:r>
              <a:rPr lang="en-US" sz="10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北美质量保障部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91440" cy="960120"/>
          </a:xfrm>
          <a:prstGeom prst="rect">
            <a:avLst/>
          </a:prstGeom>
          <a:solidFill>
            <a:srgbClr val="2E9F4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331927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2E9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85.1 → 91.8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2038198"/>
            <a:ext cx="331927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平均分 5月→6月（+6.7）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1481328"/>
            <a:ext cx="3520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251960" y="1481328"/>
            <a:ext cx="91440" cy="960120"/>
          </a:xfrm>
          <a:prstGeom prst="rect">
            <a:avLst/>
          </a:prstGeom>
          <a:solidFill>
            <a:srgbClr val="2E9F4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361688" y="1572768"/>
            <a:ext cx="331927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2E9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→ 16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4361688" y="2038198"/>
            <a:ext cx="331927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稽核次数 5月→6月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481328"/>
            <a:ext cx="36850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955280" y="1481328"/>
            <a:ext cx="91440" cy="960120"/>
          </a:xfrm>
          <a:prstGeom prst="rect">
            <a:avLst/>
          </a:prstGeom>
          <a:solidFill>
            <a:srgbClr val="2E9F4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065008" y="1572768"/>
            <a:ext cx="34838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2E9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62.5% → 87.5%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8065008" y="2038198"/>
            <a:ext cx="348386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级以上占比 5月→6月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2697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分级结构对比（占比 %）</a:t>
            </a:r>
            <a:endParaRPr lang="en-US" sz="125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3762707242"/>
              </p:ext>
            </p:extLst>
          </p:nvPr>
        </p:nvGraphicFramePr>
        <p:xfrm>
          <a:off x="457200" y="3017520"/>
          <a:ext cx="6400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7086600" y="3017520"/>
            <a:ext cx="4553712" cy="3840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7141464" y="3017520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086600" y="3401568"/>
            <a:ext cx="4553712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7214616" y="3474720"/>
            <a:ext cx="42976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2000"/>
              </a:lnSpc>
              <a:buSzPct val="100000"/>
            </a:pPr>
            <a:r>
              <a:rPr lang="en-US" sz="13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达标结构显著改善</a:t>
            </a:r>
            <a:r>
              <a:rPr lang="en-US" sz="13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</a:p>
          <a:p>
            <a:pPr algn="l">
              <a:lnSpc>
                <a:spcPct val="112000"/>
              </a:lnSpc>
              <a:buSzPct val="100000"/>
            </a:pPr>
            <a:r>
              <a:rPr lang="en-US" sz="13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C </a:t>
            </a:r>
            <a:r>
              <a:rPr lang="en-US" sz="13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级门店由</a:t>
            </a:r>
            <a:r>
              <a:rPr lang="en-US" sz="13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 </a:t>
            </a:r>
            <a:r>
              <a:rPr lang="en-US" sz="13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家降为</a:t>
            </a:r>
            <a:r>
              <a:rPr lang="en-US" sz="13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0；
A+ </a:t>
            </a:r>
            <a:r>
              <a:rPr lang="en-US" sz="13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门店由</a:t>
            </a:r>
            <a:r>
              <a:rPr lang="en-US" sz="13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0 </a:t>
            </a:r>
            <a:r>
              <a:rPr lang="en-US" sz="13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家增至</a:t>
            </a:r>
            <a:r>
              <a:rPr lang="en-US" sz="13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6 家；
S </a:t>
            </a:r>
            <a:r>
              <a:rPr lang="en-US" sz="13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项由</a:t>
            </a:r>
            <a:r>
              <a:rPr lang="en-US" sz="13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 </a:t>
            </a:r>
            <a:r>
              <a:rPr lang="en-US" sz="13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项增至</a:t>
            </a:r>
            <a:r>
              <a:rPr lang="en-US" sz="13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8 </a:t>
            </a:r>
            <a:r>
              <a:rPr lang="en-US" sz="13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项，且全部集中在设施</a:t>
            </a:r>
            <a:r>
              <a:rPr lang="en-US" sz="13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3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管道，需要</a:t>
            </a:r>
            <a:r>
              <a:rPr lang="en-US" sz="13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BD </a:t>
            </a:r>
            <a:r>
              <a:rPr lang="en-US" sz="13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专项闭环</a:t>
            </a:r>
            <a:r>
              <a:rPr lang="en-US" sz="13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YTD 概览（1–6 月）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1106424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503920" y="6419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瑞幸咖啡</a:t>
            </a:r>
            <a:r>
              <a:rPr lang="en-US" sz="10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北美质量保障部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91440" cy="9601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254203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266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2038198"/>
            <a:ext cx="254203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YTD 稽核总次数（1–6月）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1481328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474720" y="1481328"/>
            <a:ext cx="91440" cy="960120"/>
          </a:xfrm>
          <a:prstGeom prst="rect">
            <a:avLst/>
          </a:prstGeom>
          <a:solidFill>
            <a:srgbClr val="C0531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584448" y="1572768"/>
            <a:ext cx="254203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3584448" y="2038198"/>
            <a:ext cx="254203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YTD QA 稽核次数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481328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400800" y="1481328"/>
            <a:ext cx="91440" cy="960120"/>
          </a:xfrm>
          <a:prstGeom prst="rect">
            <a:avLst/>
          </a:prstGeom>
          <a:solidFill>
            <a:srgbClr val="CE20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510528" y="1572768"/>
            <a:ext cx="254203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CE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6510528" y="2038198"/>
            <a:ext cx="254203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YTD 关键项（S）累计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26880" y="1481328"/>
            <a:ext cx="23134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9326880" y="1481328"/>
            <a:ext cx="91440" cy="960120"/>
          </a:xfrm>
          <a:prstGeom prst="rect">
            <a:avLst/>
          </a:prstGeom>
          <a:solidFill>
            <a:srgbClr val="2E9F4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436608" y="1572768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2E9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家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9436608" y="2038198"/>
            <a:ext cx="211226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YTD 已覆盖自营门店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2697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</a:t>
            </a:r>
            <a:r>
              <a:rPr lang="en-US" sz="1250" b="1" dirty="0" err="1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量月度趋势（按类型，次</a:t>
            </a:r>
            <a:r>
              <a:rPr lang="en-US" sz="12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2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57200" y="3017520"/>
          <a:ext cx="67665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7452360" y="3017520"/>
            <a:ext cx="4187952" cy="3840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7507224" y="3017520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YTD 要点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452360" y="3401568"/>
            <a:ext cx="4187952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7580376" y="3474720"/>
            <a:ext cx="393192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1–6 月共 266 次有效巡检（自检 157 / QA 52 / 区经 57）。</a:t>
            </a: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6 月巡检体系维持高频运行：自检 51、QA 16、区经 18；QA 平均分提升至 91.8。</a:t>
            </a:r>
            <a:endParaRPr lang="en-US" sz="110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门店稳定性分析（5 月 → 6 月 QA）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1106424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QA 稽核逐店对比 · 识别下滑 / 稳定 / 改善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6419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瑞幸咖啡</a:t>
            </a:r>
            <a:r>
              <a:rPr lang="en-US" sz="10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北美质量保障部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706624" cy="457200"/>
          </a:xfrm>
          <a:prstGeom prst="rect">
            <a:avLst/>
          </a:prstGeom>
          <a:solidFill>
            <a:srgbClr val="CE20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03504" y="148132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下滑（≥5分）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2706624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58368" y="2029968"/>
            <a:ext cx="248716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8000"/>
              </a:lnSpc>
              <a:buSzPct val="100000"/>
            </a:pPr>
            <a:r>
              <a:rPr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 Maiden Ln 91→86（-5）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481328"/>
            <a:ext cx="2706624" cy="4572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392424" y="148132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稳定（±4分内）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37560" y="1938528"/>
            <a:ext cx="2706624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447288" y="2029968"/>
            <a:ext cx="248716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154 Bleecker 92→92（0）
28th &amp; 6th 86→86（0）
37th &amp; Broadway 88→89（+1）
29th &amp; 3rd 93→94（+1）
8th &amp; Broadway 89→92（+3）
54th &amp; 8th 92→96（+4）</a:t>
            </a:r>
            <a:endParaRPr lang="en-US" sz="11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81328"/>
            <a:ext cx="2706624" cy="457200"/>
          </a:xfrm>
          <a:prstGeom prst="rect">
            <a:avLst/>
          </a:prstGeom>
          <a:solidFill>
            <a:srgbClr val="2E9F4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181344" y="148132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改善（≥5分）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1938528"/>
            <a:ext cx="2706624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236208" y="2029968"/>
            <a:ext cx="248716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>
              <a:solidFill>
                <a:srgbClr val="22222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>
              <a:solidFill>
                <a:srgbClr val="22222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>
              <a:solidFill>
                <a:srgbClr val="22222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108th &amp; Broadway 65→91（+26）
102 Fulton 77→93（+16）
33rd &amp; 10th 83→94（+11）
21st &amp; 3rd 89→97（+8）
41st &amp; Lexington 90→95（+5）
52nd &amp; Madison 84→89（+5）
221 Grand 89→94（+5）</a:t>
            </a:r>
            <a:endParaRPr lang="en-US" sz="11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15400" y="1481328"/>
            <a:ext cx="2706624" cy="457200"/>
          </a:xfrm>
          <a:prstGeom prst="rect">
            <a:avLst/>
          </a:prstGeom>
          <a:solidFill>
            <a:srgbClr val="E89A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970264" y="148132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新店首检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15400" y="1938528"/>
            <a:ext cx="2706624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025128" y="2029968"/>
            <a:ext cx="248716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40th &amp; 10th、23rd &amp; 8th 本月主巡检为区经检查，未纳入 QA </a:t>
            </a:r>
            <a:r>
              <a:rPr lang="zh-CN" alt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</a:t>
            </a: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>
              <a:solidFill>
                <a:srgbClr val="22222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6/30 新开业门店：48th &amp; 3rd、Grand Central Terminal </a:t>
            </a:r>
            <a:r>
              <a:rPr lang="zh-CN" alt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</a:t>
            </a:r>
            <a:r>
              <a:rPr lang="en-US" sz="11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</a:t>
            </a: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7 月首检。</a:t>
            </a:r>
            <a:endParaRPr lang="en-US" sz="11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11091672" cy="3840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03504" y="4983480"/>
            <a:ext cx="10981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110916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76656" y="5440680"/>
            <a:ext cx="10835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2000"/>
              </a:lnSpc>
              <a:buSzPct val="100000"/>
            </a:pPr>
            <a:r>
              <a:rPr lang="en-US" sz="1200" dirty="0">
                <a:solidFill>
                  <a:srgbClr val="CE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重点观察：100 Maiden Ln 环比 -5，为本月唯一明显下滑</a:t>
            </a:r>
            <a:r>
              <a:rPr lang="zh-CN" altLang="en-US" sz="1200" dirty="0">
                <a:solidFill>
                  <a:srgbClr val="CE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</a:t>
            </a:r>
            <a:endParaRPr lang="en-US" sz="1200" dirty="0">
              <a:solidFill>
                <a:srgbClr val="CE202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50" dirty="0">
              <a:solidFill>
                <a:srgbClr val="CE202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895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稽核问题点分析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1106424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66928" y="1506291"/>
            <a:ext cx="5980176" cy="49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spc="-2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自营门店关键项、重点项、一般项、轻微项趋势分析
 5月→6月对比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  <a:p>
            <a:pPr marL="0" indent="0" algn="ctr">
              <a:buNone/>
            </a:pPr>
            <a:endParaRPr lang="en-US" sz="11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03920" y="6419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瑞幸咖啡</a:t>
            </a:r>
            <a:r>
              <a:rPr lang="en-US" sz="10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北美质量保障部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811771029"/>
              </p:ext>
            </p:extLst>
          </p:nvPr>
        </p:nvGraphicFramePr>
        <p:xfrm>
          <a:off x="548640" y="1844040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766560" y="1463040"/>
            <a:ext cx="4873752" cy="3840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821424" y="1463040"/>
            <a:ext cx="4764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关键变化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66560" y="1847088"/>
            <a:ext cx="48737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894576" y="1920240"/>
            <a:ext cx="46177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2000"/>
              </a:lnSpc>
              <a:buSzPct val="100000"/>
            </a:pP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2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店均关键项(S) 上升：</a:t>
            </a: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0.31 → 0.50，且 6 月 8 个 S 项全部为 Sinks and Pipes / air gap，说明设施类短板仍未根治。
</a:t>
            </a:r>
            <a:r>
              <a:rPr lang="en-US" sz="12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店均重点项(M) 持平</a:t>
            </a: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：0.31 → 0.31，主要为效期标签、消毒液 PPM、灯具等可运营闭环项。
</a:t>
            </a:r>
            <a:r>
              <a:rPr lang="en-US" sz="12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店均一般项(G) 下降：</a:t>
            </a: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5.12 → 3.31，说明清洁、过程控制等一般问题有所改善。</a:t>
            </a:r>
            <a:r>
              <a:rPr lang="en-US" sz="14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40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40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40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400" dirty="0"/>
          </a:p>
          <a:p>
            <a:pPr algn="l">
              <a:lnSpc>
                <a:spcPct val="112000"/>
              </a:lnSpc>
              <a:buSzPct val="100000"/>
            </a:pPr>
            <a:endParaRPr lang="en-US" sz="140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稽核模块风险分析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1106424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主巡检 7 模块扣分排名（18 家门店）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6419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瑞幸咖啡</a:t>
            </a:r>
            <a:r>
              <a:rPr lang="en-US" sz="10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北美质量保障部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463040"/>
          <a:ext cx="67665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463040"/>
            <a:ext cx="4142232" cy="3840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552944" y="1463040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98080" y="1847088"/>
            <a:ext cx="4142232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626096" y="1920240"/>
            <a:ext cx="3886200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200" b="1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系统性问题</a:t>
            </a:r>
            <a:r>
              <a:rPr lang="en-US" sz="12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（≥50% 门店）</a:t>
            </a: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清洁卫生（100%，-108）
设施（61%，-53，含 8 个关键项）
</a:t>
            </a:r>
            <a:r>
              <a:rPr lang="en-US" sz="12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中等覆盖面（30–49%）</a:t>
            </a: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过程控制（44%，-18）
</a:t>
            </a:r>
            <a:r>
              <a:rPr lang="en-US" sz="1200" b="1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低覆盖面问题</a:t>
            </a:r>
            <a:r>
              <a:rPr lang="en-US" sz="12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（&lt;30%）</a:t>
            </a: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温控有效期 -10、员工健康卫生 -6、证照(</a:t>
            </a:r>
            <a:r>
              <a:rPr lang="zh-CN" alt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缺垃圾收集标签</a:t>
            </a: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-5、职业安全 -2
</a:t>
            </a:r>
            <a:endParaRPr lang="en-US" sz="1200" dirty="0"/>
          </a:p>
          <a:p>
            <a:pPr marL="635000" lvl="1" indent="-177800">
              <a:lnSpc>
                <a:spcPct val="112000"/>
              </a:lnSpc>
              <a:buSzPct val="100000"/>
              <a:buChar char="•"/>
            </a:pPr>
            <a:endParaRPr lang="en-US" sz="1150" dirty="0"/>
          </a:p>
          <a:p>
            <a:pPr marL="635000" lvl="1" indent="-177800">
              <a:lnSpc>
                <a:spcPct val="112000"/>
              </a:lnSpc>
              <a:buSzPct val="100000"/>
              <a:buChar char="•"/>
            </a:pPr>
            <a:endParaRPr lang="en-US" sz="115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635000" lvl="1" indent="-177800">
              <a:lnSpc>
                <a:spcPct val="112000"/>
              </a:lnSpc>
              <a:buSzPct val="100000"/>
              <a:buChar char="•"/>
            </a:pPr>
            <a:endParaRPr lang="en-US" sz="1150" dirty="0"/>
          </a:p>
          <a:p>
            <a:pPr marL="635000" lvl="1" indent="-177800">
              <a:lnSpc>
                <a:spcPct val="112000"/>
              </a:lnSpc>
              <a:buSzPct val="100000"/>
              <a:buChar char="•"/>
            </a:pPr>
            <a:endParaRPr lang="en-US" sz="1150" dirty="0"/>
          </a:p>
          <a:p>
            <a:pPr marL="635000" lvl="1" indent="-177800">
              <a:lnSpc>
                <a:spcPct val="112000"/>
              </a:lnSpc>
              <a:buSzPct val="100000"/>
              <a:buChar char="•"/>
            </a:pPr>
            <a:endParaRPr lang="en-US" sz="1150" dirty="0"/>
          </a:p>
          <a:p>
            <a:pPr marL="635000" lvl="1" indent="-177800">
              <a:lnSpc>
                <a:spcPct val="112000"/>
              </a:lnSpc>
              <a:buSzPct val="100000"/>
              <a:buChar char="•"/>
            </a:pPr>
            <a:endParaRPr lang="en-US" sz="1150" dirty="0"/>
          </a:p>
          <a:p>
            <a:pPr algn="l">
              <a:lnSpc>
                <a:spcPct val="112000"/>
              </a:lnSpc>
              <a:buSzPct val="100000"/>
            </a:pPr>
            <a:endParaRPr lang="en-US" sz="115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5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5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5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>
              <a:solidFill>
                <a:srgbClr val="1F3864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稽核关键项 S &amp; 重点项 M 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1106424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主巡检关键项 8 项 / 重点项 6 项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6419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瑞幸咖啡</a:t>
            </a:r>
            <a:r>
              <a:rPr lang="en-US" sz="10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北美质量保障部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03504" y="146304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关键项（S）明细 — 共 8 项</a:t>
            </a:r>
            <a:endParaRPr lang="en-US" sz="1250" dirty="0">
              <a:solidFill>
                <a:srgbClr val="FF0000"/>
              </a:solidFill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802228"/>
              </p:ext>
            </p:extLst>
          </p:nvPr>
        </p:nvGraphicFramePr>
        <p:xfrm>
          <a:off x="548640" y="1828800"/>
          <a:ext cx="5486400" cy="285292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9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门店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子类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问题描述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扣分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54th &amp; 8th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水槽与管道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Milk machine 后方 air gap；洗碗机后方漏水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-5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102 Fulton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水槽与管道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Ice machine pipe 未正确连接；三槽池 air gap 不合规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-5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33rd &amp; 10th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水槽与管道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Outlet pipe air gap 不合规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-5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154 Bleecker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水槽与管道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三槽池管道不符规范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-5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52nd &amp; Madison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水槽与管道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Air gap non compliant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1463040"/>
            <a:ext cx="5376672" cy="3657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318504" y="146304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重点项（M）明细 — 共 6 项</a:t>
            </a:r>
            <a:endParaRPr lang="en-US" sz="1250" dirty="0">
              <a:solidFill>
                <a:srgbClr val="FFC000"/>
              </a:solidFill>
            </a:endParaRPr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33383"/>
              </p:ext>
            </p:extLst>
          </p:nvPr>
        </p:nvGraphicFramePr>
        <p:xfrm>
          <a:off x="6263640" y="1828800"/>
          <a:ext cx="5376672" cy="285292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FFFFFF"/>
                          </a:solidFill>
                        </a:rPr>
                        <a:t>门店</a:t>
                      </a:r>
                      <a:endParaRPr sz="10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子类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问题描述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扣分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8th &amp; Broadway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设施完好性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0" dirty="0">
                          <a:solidFill>
                            <a:srgbClr val="000000"/>
                          </a:solidFill>
                        </a:rPr>
                        <a:t>储藏室灯光不足</a:t>
                      </a:r>
                      <a:endParaRPr sz="10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-5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28th &amp; 6th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效期管理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Syrup bottle 缺少效期标签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-5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28th &amp; 6th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清洁与消毒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消毒桶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PPM 不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</a:rPr>
                        <a:t>达标</a:t>
                      </a:r>
                      <a:endParaRPr sz="10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-5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100 Maiden Ln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效期管理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产品缺少效期日期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-5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37th &amp; Broadway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清洁与消毒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Ice machine 有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</a:rPr>
                        <a:t>化学品残留</a:t>
                      </a:r>
                      <a:endParaRPr sz="10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-5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892040"/>
            <a:ext cx="1109167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76656" y="4965192"/>
            <a:ext cx="108356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r>
              <a:rPr lang="en-US" sz="11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关键项 S 高度集中：8 个主巡检 S 项全部为「水槽与管道 / 气隙」（54th &amp; 8th、102 Fulton、33rd &amp; 10th、154 Bleecker、29th &amp; 3rd、21st &amp; 3rd、221 Grand、52nd &amp; Madison）。
重点项 M：效期管理 2 项、清洁与消毒 2 项、设施 1 项、证照 1 项；其中 23rd &amp; 8th 缺少洗手标识未列入表格，但需 7 天内闭环。</a:t>
            </a: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96839-7399-3D18-137F-62948B90E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>
            <a:extLst>
              <a:ext uri="{FF2B5EF4-FFF2-40B4-BE49-F238E27FC236}">
                <a16:creationId xmlns:a16="http://schemas.microsoft.com/office/drawing/2014/main" id="{8F70538F-CA58-EE20-1CFB-2E06C47AFAFC}"/>
              </a:ext>
            </a:extLst>
          </p:cNvPr>
          <p:cNvSpPr txBox="1"/>
          <p:nvPr/>
        </p:nvSpPr>
        <p:spPr>
          <a:xfrm>
            <a:off x="186612" y="161701"/>
            <a:ext cx="3428162" cy="503023"/>
          </a:xfrm>
          <a:prstGeom prst="rect">
            <a:avLst/>
          </a:prstGeom>
          <a:ln w="12700">
            <a:miter lim="400000"/>
          </a:ln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857250" lvl="0" indent="-857250" algn="l" eaLnBrk="1">
              <a:buFont typeface="Wingdings" panose="05000000000000000000" pitchFamily="2" charset="2"/>
              <a:buChar char="l"/>
              <a:defRPr sz="6000" b="1">
                <a:solidFill>
                  <a:srgbClr val="9A3D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CN" sz="2800" dirty="0" err="1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关键项</a:t>
            </a:r>
            <a:r>
              <a:rPr lang="en-US" altLang="zh-CN" sz="2800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</a:t>
            </a:r>
            <a:endParaRPr lang="zh-SG" alt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A71660-8C42-6E30-E306-ACFFBEF4E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385530"/>
              </p:ext>
            </p:extLst>
          </p:nvPr>
        </p:nvGraphicFramePr>
        <p:xfrm>
          <a:off x="186612" y="910815"/>
          <a:ext cx="11818776" cy="5510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4325">
                  <a:extLst>
                    <a:ext uri="{9D8B030D-6E8A-4147-A177-3AD203B41FA5}">
                      <a16:colId xmlns:a16="http://schemas.microsoft.com/office/drawing/2014/main" val="341910331"/>
                    </a:ext>
                  </a:extLst>
                </a:gridCol>
                <a:gridCol w="6314451">
                  <a:extLst>
                    <a:ext uri="{9D8B030D-6E8A-4147-A177-3AD203B41FA5}">
                      <a16:colId xmlns:a16="http://schemas.microsoft.com/office/drawing/2014/main" val="3811597685"/>
                    </a:ext>
                  </a:extLst>
                </a:gridCol>
              </a:tblGrid>
              <a:tr h="539954"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>
                          <a:solidFill>
                            <a:srgbClr val="FFFFFF"/>
                          </a:solidFill>
                        </a:rPr>
                        <a:t>8.2.3 (S) Facility (Plumbing)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97638"/>
                  </a:ext>
                </a:extLst>
              </a:tr>
              <a:tr h="497054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G" sz="1800" b="0" dirty="0">
                          <a:solidFill>
                            <a:srgbClr val="000000"/>
                          </a:solidFill>
                        </a:rPr>
                        <a:t>Ensure all plumbing and fixtures are properly connected, vented, and drained.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3375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C2F7532D-E0D4-A5FE-4893-1757C6A72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650" y="2280282"/>
            <a:ext cx="2653457" cy="357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7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 err="1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</a:t>
            </a:r>
            <a:r>
              <a:rPr 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r>
              <a:rPr lang="en-US" sz="2700" b="1" dirty="0" err="1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水槽与管道</a:t>
            </a:r>
            <a:r>
              <a:rPr 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2700" b="1" dirty="0" err="1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气隙</a:t>
            </a:r>
            <a:r>
              <a:rPr 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altLang="zh-CN" sz="2700" b="1" dirty="0" err="1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</a:rPr>
              <a:t>关键项</a:t>
            </a:r>
            <a:r>
              <a:rPr lang="en-US" altLang="zh-CN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</a:rPr>
              <a:t> S</a:t>
            </a:r>
            <a:r>
              <a:rPr lang="zh-CN" alt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</a:rPr>
              <a:t>）</a:t>
            </a:r>
            <a:r>
              <a:rPr 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</a:rPr>
              <a:t>   </a:t>
            </a:r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1106424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设施模块 · 主巡检 8 个关键项全部属此类 · 全月 13 起、跨 10 家门店 · 与 4–5 月同源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6419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瑞幸咖啡</a:t>
            </a:r>
            <a:r>
              <a:rPr lang="en-US" sz="10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北美质量保障部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91440" cy="868680"/>
          </a:xfrm>
          <a:prstGeom prst="rect">
            <a:avLst/>
          </a:prstGeom>
          <a:solidFill>
            <a:srgbClr val="CE20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245059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CE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项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1985162"/>
            <a:ext cx="245059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主巡检关键项（水槽与管道）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28416" y="148132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328416" y="1481328"/>
            <a:ext cx="91440" cy="868680"/>
          </a:xfrm>
          <a:prstGeom prst="rect">
            <a:avLst/>
          </a:prstGeom>
          <a:solidFill>
            <a:srgbClr val="CE20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38144" y="1572768"/>
            <a:ext cx="245059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CE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起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3438144" y="1985162"/>
            <a:ext cx="245059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全月（含自检 / 区经）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08192" y="148132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108192" y="1481328"/>
            <a:ext cx="91440" cy="868680"/>
          </a:xfrm>
          <a:prstGeom prst="rect">
            <a:avLst/>
          </a:prstGeom>
          <a:solidFill>
            <a:srgbClr val="CE20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1572768"/>
            <a:ext cx="245059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CE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家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6217920" y="1985162"/>
            <a:ext cx="245059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涉及门店（全月）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87968" y="148132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887968" y="1481328"/>
            <a:ext cx="91440" cy="868680"/>
          </a:xfrm>
          <a:prstGeom prst="rect">
            <a:avLst/>
          </a:prstGeom>
          <a:solidFill>
            <a:srgbClr val="E89A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997696" y="1572768"/>
            <a:ext cx="245059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E89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 3 月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8997696" y="2075688"/>
            <a:ext cx="2450592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</a:rPr>
              <a:t>相同问题未解决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2542032"/>
            <a:ext cx="11091672" cy="3657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03504" y="2542032"/>
            <a:ext cx="10981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问题描述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21208" y="2907792"/>
            <a:ext cx="1109167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76656" y="2980944"/>
            <a:ext cx="10835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54th &amp; 8th：milk machine 后方 air gap；洗碗机后方明显漏水。
102 Fulton：ice machine pipe 未正确连接；三槽池 air gap 不合规。
33rd &amp; 10th / 154 Bleecker / 221 Grand / 52nd &amp; Madison：air gap 或管道不合规。
29th &amp; 3rd：冲洗池下方管道未包覆，龙头连接异常；21st &amp; 3rd：outlet pipe 小于 1 inch。</a:t>
            </a:r>
            <a:endParaRPr lang="en-US" sz="110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/>
          </a:p>
          <a:p>
            <a:pPr algn="l">
              <a:lnSpc>
                <a:spcPct val="112000"/>
              </a:lnSpc>
              <a:buSzPct val="100000"/>
            </a:pPr>
            <a:endParaRPr lang="en-US" sz="1100" dirty="0">
              <a:solidFill>
                <a:srgbClr val="22222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algn="l">
              <a:lnSpc>
                <a:spcPct val="112000"/>
              </a:lnSpc>
              <a:buSzPct val="100000"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42816"/>
            <a:ext cx="5449824" cy="3657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03504" y="4242816"/>
            <a:ext cx="5340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608576"/>
            <a:ext cx="5449824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76656" y="4681728"/>
            <a:ext cx="519379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r>
              <a:rPr lang="zh-CN" alt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该项属设施 / 管道结构性问题，非门店日常操作可完全闭环，需 BD / 营建介入。
4–5 月已识别同类 air gap 短板，6 月仍跨 10 家门店出现，说明整改闭环需加强。</a:t>
            </a:r>
            <a:endParaRPr lang="en-US" sz="108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08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190488" y="4242816"/>
            <a:ext cx="5449824" cy="3657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245352" y="4242816"/>
            <a:ext cx="5340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整改建议（P0）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90488" y="4608576"/>
            <a:ext cx="5449824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318504" y="4681728"/>
            <a:ext cx="519379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 </a:t>
            </a:r>
            <a:r>
              <a:rPr lang="en-US" sz="108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整改清单优先级升级，逐店派单并设定完成时限</a:t>
            </a:r>
            <a:r>
              <a:rPr lang="en-US" sz="108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0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35E02-F12D-2A76-6968-58EA458D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>
            <a:extLst>
              <a:ext uri="{FF2B5EF4-FFF2-40B4-BE49-F238E27FC236}">
                <a16:creationId xmlns:a16="http://schemas.microsoft.com/office/drawing/2014/main" id="{167D09CE-F446-1D95-F5E8-B23584AA939D}"/>
              </a:ext>
            </a:extLst>
          </p:cNvPr>
          <p:cNvSpPr txBox="1"/>
          <p:nvPr/>
        </p:nvSpPr>
        <p:spPr>
          <a:xfrm>
            <a:off x="186612" y="161701"/>
            <a:ext cx="3428162" cy="503023"/>
          </a:xfrm>
          <a:prstGeom prst="rect">
            <a:avLst/>
          </a:prstGeom>
          <a:ln w="12700">
            <a:miter lim="400000"/>
          </a:ln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857250" lvl="0" indent="-857250" algn="l" eaLnBrk="1">
              <a:buFont typeface="Wingdings" panose="05000000000000000000" pitchFamily="2" charset="2"/>
              <a:buChar char="l"/>
              <a:defRPr sz="6000" b="1">
                <a:solidFill>
                  <a:srgbClr val="9A3D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CN" sz="2800" dirty="0" err="1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重点项</a:t>
            </a:r>
            <a:r>
              <a:rPr lang="en-US" altLang="zh-CN" sz="2800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</a:t>
            </a:r>
            <a:endParaRPr lang="zh-SG" alt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601DB4-2BDF-05C0-F39C-4611353A10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90824"/>
              </p:ext>
            </p:extLst>
          </p:nvPr>
        </p:nvGraphicFramePr>
        <p:xfrm>
          <a:off x="186612" y="763480"/>
          <a:ext cx="11818776" cy="5633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9384">
                  <a:extLst>
                    <a:ext uri="{9D8B030D-6E8A-4147-A177-3AD203B41FA5}">
                      <a16:colId xmlns:a16="http://schemas.microsoft.com/office/drawing/2014/main" val="341910331"/>
                    </a:ext>
                  </a:extLst>
                </a:gridCol>
                <a:gridCol w="6199392">
                  <a:extLst>
                    <a:ext uri="{9D8B030D-6E8A-4147-A177-3AD203B41FA5}">
                      <a16:colId xmlns:a16="http://schemas.microsoft.com/office/drawing/2014/main" val="3811597685"/>
                    </a:ext>
                  </a:extLst>
                </a:gridCol>
              </a:tblGrid>
              <a:tr h="520501">
                <a:tc>
                  <a:txBody>
                    <a:bodyPr/>
                    <a:lstStyle/>
                    <a:p>
                      <a:pPr algn="ctr"/>
                      <a:r>
                        <a:rPr lang="en-SG" sz="1800" b="1" dirty="0">
                          <a:solidFill>
                            <a:srgbClr val="FFFFFF"/>
                          </a:solidFill>
                        </a:rPr>
                        <a:t>5.2.3(M) Chemical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altLang="zh-CN" sz="1800" b="1" dirty="0">
                          <a:solidFill>
                            <a:srgbClr val="FFFFFF"/>
                          </a:solidFill>
                        </a:rPr>
                        <a:t>6.4.2 (M) Expiration Date Missing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97638"/>
                  </a:ext>
                </a:extLst>
              </a:tr>
              <a:tr h="511271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SG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G" sz="1800" b="0" dirty="0">
                          <a:solidFill>
                            <a:srgbClr val="000000"/>
                          </a:solidFill>
                        </a:rPr>
                        <a:t>Sanitizer PPM Standards not maintained.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SG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SG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SG" altLang="zh-CN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G" altLang="zh-CN" sz="1800" b="0" dirty="0">
                          <a:solidFill>
                            <a:srgbClr val="000000"/>
                          </a:solidFill>
                        </a:rPr>
                        <a:t>Missing Expiration date on bottles. </a:t>
                      </a:r>
                      <a:endParaRPr lang="en-SG" altLang="zh-C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3375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C5CB50A-83F9-72E2-1D9E-CD3B51E88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108" y="2173355"/>
            <a:ext cx="2372564" cy="3549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667093-6106-2D9C-8002-231DEF894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267" y="2154305"/>
            <a:ext cx="2708014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1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819B9-2757-ADD5-BEA7-EF0124D72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>
            <a:extLst>
              <a:ext uri="{FF2B5EF4-FFF2-40B4-BE49-F238E27FC236}">
                <a16:creationId xmlns:a16="http://schemas.microsoft.com/office/drawing/2014/main" id="{70C950BE-84AA-E650-21FA-062912B3A46C}"/>
              </a:ext>
            </a:extLst>
          </p:cNvPr>
          <p:cNvSpPr txBox="1"/>
          <p:nvPr/>
        </p:nvSpPr>
        <p:spPr>
          <a:xfrm>
            <a:off x="186612" y="161701"/>
            <a:ext cx="3428162" cy="503023"/>
          </a:xfrm>
          <a:prstGeom prst="rect">
            <a:avLst/>
          </a:prstGeom>
          <a:ln w="12700">
            <a:miter lim="400000"/>
          </a:ln>
        </p:spPr>
        <p:txBody>
          <a:bodyPr wrap="square" lIns="35719" tIns="35719" rIns="35719" bIns="3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857250" lvl="0" indent="-857250" algn="l" eaLnBrk="1">
              <a:buFont typeface="Wingdings" panose="05000000000000000000" pitchFamily="2" charset="2"/>
              <a:buChar char="l"/>
              <a:defRPr sz="6000" b="1">
                <a:solidFill>
                  <a:srgbClr val="9A3D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CN" sz="2800" dirty="0" err="1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重点项</a:t>
            </a:r>
            <a:r>
              <a:rPr lang="en-US" altLang="zh-CN" sz="2800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</a:t>
            </a:r>
            <a:endParaRPr lang="zh-SG" alt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E9D731-2964-6F80-F1CA-FB870851B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778545"/>
              </p:ext>
            </p:extLst>
          </p:nvPr>
        </p:nvGraphicFramePr>
        <p:xfrm>
          <a:off x="186612" y="763480"/>
          <a:ext cx="11818776" cy="5633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9384">
                  <a:extLst>
                    <a:ext uri="{9D8B030D-6E8A-4147-A177-3AD203B41FA5}">
                      <a16:colId xmlns:a16="http://schemas.microsoft.com/office/drawing/2014/main" val="341910331"/>
                    </a:ext>
                  </a:extLst>
                </a:gridCol>
                <a:gridCol w="6199392">
                  <a:extLst>
                    <a:ext uri="{9D8B030D-6E8A-4147-A177-3AD203B41FA5}">
                      <a16:colId xmlns:a16="http://schemas.microsoft.com/office/drawing/2014/main" val="3811597685"/>
                    </a:ext>
                  </a:extLst>
                </a:gridCol>
              </a:tblGrid>
              <a:tr h="520501">
                <a:tc>
                  <a:txBody>
                    <a:bodyPr/>
                    <a:lstStyle/>
                    <a:p>
                      <a:pPr algn="ctr"/>
                      <a:r>
                        <a:rPr lang="en-SG" sz="1800" b="1" dirty="0">
                          <a:solidFill>
                            <a:srgbClr val="FFFFFF"/>
                          </a:solidFill>
                        </a:rPr>
                        <a:t>8.1.1 (M) </a:t>
                      </a:r>
                      <a:r>
                        <a:rPr lang="en-US" altLang="zh-CN" sz="1800" b="1" dirty="0">
                          <a:solidFill>
                            <a:srgbClr val="FFFFFF"/>
                          </a:solidFill>
                        </a:rPr>
                        <a:t>light</a:t>
                      </a:r>
                      <a:endParaRPr lang="en-SG" sz="18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altLang="zh-CN" sz="18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97638"/>
                  </a:ext>
                </a:extLst>
              </a:tr>
              <a:tr h="5112717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altLang="zh-CN" sz="1800" b="0" dirty="0">
                          <a:solidFill>
                            <a:srgbClr val="000000"/>
                          </a:solidFill>
                        </a:rPr>
                        <a:t>L</a:t>
                      </a:r>
                      <a:r>
                        <a:rPr lang="en-US" altLang="zh-CN" sz="1800" b="0" dirty="0" err="1">
                          <a:solidFill>
                            <a:srgbClr val="000000"/>
                          </a:solidFill>
                        </a:rPr>
                        <a:t>ights</a:t>
                      </a:r>
                      <a:r>
                        <a:rPr lang="en-US" altLang="zh-CN" sz="1800" b="0" dirty="0">
                          <a:solidFill>
                            <a:srgbClr val="000000"/>
                          </a:solidFill>
                        </a:rPr>
                        <a:t> in storage area are inoperable</a:t>
                      </a:r>
                      <a:r>
                        <a:rPr lang="en-SG" altLang="zh-CN" sz="1800" b="0" dirty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SG" sz="18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SG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SG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SG" altLang="zh-CN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SG" altLang="zh-C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3375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202BC52-13D0-1BBF-92AC-95FD2303E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00" y="1902016"/>
            <a:ext cx="3130550" cy="419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2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 — </a:t>
            </a:r>
            <a:r>
              <a:rPr lang="en-US" sz="2700" b="1" dirty="0" err="1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效期与消毒管理（重点项</a:t>
            </a:r>
            <a:r>
              <a:rPr 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1106424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开封后效期标签缺失与消毒液 PPM 不合规为主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6419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瑞幸咖啡</a:t>
            </a:r>
            <a:r>
              <a:rPr lang="en-US" sz="10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北美质量保障部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3657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03504" y="1481328"/>
            <a:ext cx="10981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问题描述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47088"/>
            <a:ext cx="110916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76656" y="1920240"/>
            <a:ext cx="108356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28th &amp; 6th：糖浆瓶缺少效期标签；消毒桶 PPM 不</a:t>
            </a:r>
            <a:r>
              <a:rPr lang="zh-CN" alt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</a:t>
            </a: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
100 Maiden Ln：产品缺少效期日期。
37th &amp; Broadway：冰机出现 sanitizer stains。</a:t>
            </a:r>
            <a:endParaRPr lang="en-US" sz="110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/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>
              <a:solidFill>
                <a:srgbClr val="22222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328416"/>
            <a:ext cx="5449824" cy="3657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03504" y="3328416"/>
            <a:ext cx="5340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94176"/>
            <a:ext cx="544982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76656" y="3767328"/>
            <a:ext cx="519379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r>
              <a:rPr lang="en-US" sz="11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该类问题属于门店日常</a:t>
            </a: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SOP </a:t>
            </a:r>
            <a:r>
              <a:rPr lang="en-US" sz="11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执行与班次检查不到位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0488" y="3328416"/>
            <a:ext cx="5449824" cy="3657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245352" y="3328416"/>
            <a:ext cx="5340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整改建议（P1）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63056" y="3694176"/>
            <a:ext cx="544982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318504" y="3767328"/>
            <a:ext cx="519379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加强员工教育：</a:t>
            </a:r>
            <a:r>
              <a:rPr lang="en-US" sz="11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开封后效期标签、消毒液</a:t>
            </a: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PPM；</a:t>
            </a: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100" dirty="0">
              <a:solidFill>
                <a:srgbClr val="22222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r>
              <a:rPr lang="en-US" sz="11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店长每班抽查并留痕</a:t>
            </a:r>
            <a:r>
              <a:rPr lang="en-US" sz="11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
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设施（BD / 营建）扣分归因分析 （综合QA，门店自检，区经）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1106424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6419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瑞幸咖啡</a:t>
            </a:r>
            <a:r>
              <a:rPr lang="en-US" sz="10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北美质量保障部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91440" cy="896112"/>
          </a:xfrm>
          <a:prstGeom prst="rect">
            <a:avLst/>
          </a:prstGeom>
          <a:solidFill>
            <a:srgbClr val="E89A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58368" y="1554480"/>
            <a:ext cx="2450592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E89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-53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1982785"/>
            <a:ext cx="2450592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设施扣分（18家口径）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28416" y="1463040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328416" y="1463040"/>
            <a:ext cx="91440" cy="896112"/>
          </a:xfrm>
          <a:prstGeom prst="rect">
            <a:avLst/>
          </a:prstGeom>
          <a:solidFill>
            <a:srgbClr val="CE20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38144" y="1554480"/>
            <a:ext cx="2450592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CE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8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3438144" y="1982785"/>
            <a:ext cx="2450592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主巡检设施关键项 / 占关键项 100%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08192" y="1463040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108192" y="1463040"/>
            <a:ext cx="91440" cy="89611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2450592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起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6217920" y="1982785"/>
            <a:ext cx="2450592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全月 Sinks and Pipes S 项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87968" y="1463040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887968" y="1463040"/>
            <a:ext cx="91440" cy="896112"/>
          </a:xfrm>
          <a:prstGeom prst="rect">
            <a:avLst/>
          </a:prstGeom>
          <a:solidFill>
            <a:srgbClr val="CE20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997696" y="1554480"/>
            <a:ext cx="2450592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CE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家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8997696" y="1982785"/>
            <a:ext cx="2450592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全月涉及门店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2542032"/>
            <a:ext cx="11091672" cy="3657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566928" y="2542032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问题分析与责任归因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2907792"/>
            <a:ext cx="1109167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640080" y="2980944"/>
            <a:ext cx="1087221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2000"/>
              </a:lnSpc>
              <a:buSzPct val="100000"/>
            </a:pPr>
            <a:r>
              <a:rPr lang="en-US" sz="1200" b="1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问题类型</a:t>
            </a:r>
            <a:r>
              <a:rPr lang="en-US" sz="12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
</a:t>
            </a: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air gap </a:t>
            </a:r>
            <a:r>
              <a:rPr lang="en-US" sz="12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不达标</a:t>
            </a:r>
            <a:r>
              <a:rPr lang="zh-CN" alt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间距不足</a:t>
            </a: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2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管道未包覆</a:t>
            </a: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
</a:t>
            </a:r>
            <a:r>
              <a:rPr lang="en-US" sz="12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洗碗机或冰机排水连接异常</a:t>
            </a: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
</a:t>
            </a:r>
            <a:r>
              <a:rPr lang="en-US" sz="12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水路</a:t>
            </a: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backflow </a:t>
            </a:r>
            <a:r>
              <a:rPr lang="en-US" sz="12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或漏水风险</a:t>
            </a: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2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200" b="1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设施在</a:t>
            </a:r>
            <a:r>
              <a:rPr lang="zh-CN" altLang="en-US" sz="12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</a:t>
            </a:r>
            <a:r>
              <a:rPr lang="en-US" sz="12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 -53 </a:t>
            </a:r>
            <a:r>
              <a:rPr lang="en-US" sz="1200" b="1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分，且</a:t>
            </a:r>
            <a:r>
              <a:rPr lang="zh-CN" altLang="en-US" sz="12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</a:t>
            </a:r>
            <a:r>
              <a:rPr lang="en-US" sz="1200" b="1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</a:t>
            </a:r>
            <a:r>
              <a:rPr lang="en-US" sz="12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8 个 S </a:t>
            </a:r>
            <a:r>
              <a:rPr lang="en-US" sz="1200" b="1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项；分数虽整体提升，但该类风险仍为</a:t>
            </a:r>
            <a:r>
              <a:rPr lang="en-US" sz="12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P0。</a:t>
            </a:r>
          </a:p>
          <a:p>
            <a:pPr marL="635000" lvl="1" indent="-177800">
              <a:lnSpc>
                <a:spcPct val="112000"/>
              </a:lnSpc>
              <a:buSzPct val="100000"/>
              <a:buChar char="•"/>
            </a:pPr>
            <a:endParaRPr lang="en-US" sz="1200" b="1" dirty="0" err="1">
              <a:solidFill>
                <a:srgbClr val="22222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635000" lvl="1" indent="-177800">
              <a:lnSpc>
                <a:spcPct val="112000"/>
              </a:lnSpc>
              <a:buSzPct val="100000"/>
              <a:buChar char="•"/>
            </a:pPr>
            <a:endParaRPr lang="en-US" sz="1200" b="1" dirty="0" err="1">
              <a:solidFill>
                <a:srgbClr val="22222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635000" lvl="1" indent="-177800">
              <a:lnSpc>
                <a:spcPct val="112000"/>
              </a:lnSpc>
              <a:buSzPct val="100000"/>
              <a:buChar char="•"/>
            </a:pPr>
            <a:endParaRPr lang="en-US" sz="1200" b="1" dirty="0" err="1">
              <a:solidFill>
                <a:srgbClr val="22222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635000" lvl="1" indent="-177800">
              <a:lnSpc>
                <a:spcPct val="112000"/>
              </a:lnSpc>
              <a:buSzPct val="100000"/>
              <a:buChar char="•"/>
            </a:pPr>
            <a:endParaRPr lang="en-US" sz="1080" dirty="0">
              <a:solidFill>
                <a:srgbClr val="22222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080" b="1" dirty="0">
              <a:solidFill>
                <a:srgbClr val="CE202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548640" y="4828032"/>
            <a:ext cx="11091672" cy="3840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603504" y="4828032"/>
            <a:ext cx="10981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整改建议（P0 · BD / 营建）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48640" y="5212080"/>
            <a:ext cx="1108252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676656" y="5285232"/>
            <a:ext cx="10835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BD 整改清单按门店逐项派单，明确 owner、预计完成日、复查人。
② 对 8 家 S 项门店进行 7 月复查；未闭环门店纳入跨月 S </a:t>
            </a:r>
            <a:r>
              <a:rPr lang="en-US" sz="12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项追踪</a:t>
            </a: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altLang="zh-CN" sz="1100" dirty="0">
              <a:solidFill>
                <a:srgbClr val="22222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 err="1">
                <a:solidFill>
                  <a:srgbClr val="C053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设备（Equipment）扣分项分析 （综合QA，门店自检，区经）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1106424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6419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瑞幸咖啡</a:t>
            </a:r>
            <a:r>
              <a:rPr lang="en-US" sz="10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北美质量保障部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91440" cy="89611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58368" y="1554480"/>
            <a:ext cx="2450592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项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1982785"/>
            <a:ext cx="2450592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设备扣分项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28416" y="1463040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328416" y="1463040"/>
            <a:ext cx="91440" cy="89611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38144" y="1554480"/>
            <a:ext cx="2450592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分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3438144" y="1982785"/>
            <a:ext cx="2450592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设备扣分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08192" y="1463040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108192" y="1463040"/>
            <a:ext cx="91440" cy="896112"/>
          </a:xfrm>
          <a:prstGeom prst="rect">
            <a:avLst/>
          </a:prstGeom>
          <a:solidFill>
            <a:srgbClr val="E89A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2450592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E89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家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6217920" y="1982785"/>
            <a:ext cx="2450592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主巡检涉及门店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87968" y="1463040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887968" y="1463040"/>
            <a:ext cx="91440" cy="896112"/>
          </a:xfrm>
          <a:prstGeom prst="rect">
            <a:avLst/>
          </a:prstGeom>
          <a:solidFill>
            <a:srgbClr val="2E9F4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997696" y="1554480"/>
            <a:ext cx="2450592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2E9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8997696" y="1982785"/>
            <a:ext cx="2450592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严重度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2542032"/>
            <a:ext cx="6949440" cy="3657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03504" y="2542032"/>
            <a:ext cx="6839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主巡检设备扣分项明细（共 0 项）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411169"/>
              </p:ext>
            </p:extLst>
          </p:nvPr>
        </p:nvGraphicFramePr>
        <p:xfrm>
          <a:off x="548640" y="2907792"/>
          <a:ext cx="6949440" cy="74980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门店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问题描述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严重度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扣分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dirty="0" err="1">
                          <a:solidFill>
                            <a:srgbClr val="000000"/>
                          </a:solidFill>
                        </a:rPr>
                        <a:t>本月无设备维护扣分项</a:t>
                      </a:r>
                      <a:endParaRPr sz="9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680960" y="2542032"/>
            <a:ext cx="3959352" cy="3657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7735824" y="2542032"/>
            <a:ext cx="3849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分析与建议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680960" y="2907792"/>
            <a:ext cx="395935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7808976" y="2980944"/>
            <a:ext cx="370332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2000"/>
              </a:lnSpc>
              <a:buSzPct val="100000"/>
              <a:buChar char="•"/>
            </a:pPr>
            <a:r>
              <a:rPr lang="en-US" sz="12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设备维护在</a:t>
            </a: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6 月</a:t>
            </a:r>
            <a:r>
              <a:rPr lang="zh-CN" alt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</a:t>
            </a:r>
            <a:r>
              <a:rPr lang="en-US" sz="12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中未形成扣分，短期风险较低</a:t>
            </a: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
</a:t>
            </a:r>
            <a:r>
              <a:rPr lang="en-US" sz="12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建议继续保持日常设备清洁、异常报修与维修闭环记录，避免设备问题转化为清洁卫生或设施类扣分</a:t>
            </a: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3F3451-DCCD-7ED4-AF07-4B1E8984DD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3"/>
          <a:stretch>
            <a:fillRect/>
          </a:stretch>
        </p:blipFill>
        <p:spPr>
          <a:xfrm>
            <a:off x="0" y="11472"/>
            <a:ext cx="8078525" cy="68465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280D73-2D17-9880-8790-EA16F15BB65E}"/>
              </a:ext>
            </a:extLst>
          </p:cNvPr>
          <p:cNvSpPr txBox="1"/>
          <p:nvPr/>
        </p:nvSpPr>
        <p:spPr>
          <a:xfrm>
            <a:off x="9040634" y="2456952"/>
            <a:ext cx="26716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b="1" dirty="0"/>
              <a:t>Customer Complaint</a:t>
            </a:r>
            <a:endParaRPr lang="en-US" altLang="zh-CN" sz="3200" b="1" dirty="0"/>
          </a:p>
          <a:p>
            <a:r>
              <a:rPr lang="zh-CN" altLang="en-US" sz="3200" b="1" dirty="0"/>
              <a:t>客户投诉</a:t>
            </a:r>
          </a:p>
        </p:txBody>
      </p:sp>
    </p:spTree>
    <p:extLst>
      <p:ext uri="{BB962C8B-B14F-4D97-AF65-F5344CB8AC3E}">
        <p14:creationId xmlns:p14="http://schemas.microsoft.com/office/powerpoint/2010/main" val="192727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07155" y="197093"/>
            <a:ext cx="10800000" cy="453751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sz="2400" dirty="0">
                <a:ea typeface="Microsoft YaHei"/>
              </a:rPr>
              <a:t>04 Customer Complaint / 客户投诉</a:t>
            </a:r>
          </a:p>
        </p:txBody>
      </p:sp>
      <p:sp>
        <p:nvSpPr>
          <p:cNvPr id="72" name="直角三角形 71"/>
          <p:cNvSpPr/>
          <p:nvPr>
            <p:custDataLst>
              <p:tags r:id="rId2"/>
            </p:custDataLst>
          </p:nvPr>
        </p:nvSpPr>
        <p:spPr>
          <a:xfrm flipH="1" flipV="1">
            <a:off x="407155" y="1360321"/>
            <a:ext cx="195973" cy="241396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/>
          <p:cNvSpPr/>
          <p:nvPr>
            <p:custDataLst>
              <p:tags r:id="rId3"/>
            </p:custDataLst>
          </p:nvPr>
        </p:nvSpPr>
        <p:spPr>
          <a:xfrm>
            <a:off x="407155" y="1394186"/>
            <a:ext cx="3545704" cy="2046009"/>
          </a:xfrm>
          <a:prstGeom prst="rect">
            <a:avLst/>
          </a:prstGeom>
          <a:gradFill>
            <a:gsLst>
              <a:gs pos="15000">
                <a:schemeClr val="accent1">
                  <a:lumMod val="100000"/>
                  <a:alpha val="0"/>
                </a:schemeClr>
              </a:gs>
              <a:gs pos="100000">
                <a:schemeClr val="accent1">
                  <a:lumMod val="65000"/>
                  <a:lumOff val="35000"/>
                  <a:alpha val="3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432000" tIns="0" rIns="432000" bIns="0" rtlCol="0" anchor="ctr" anchorCtr="0"/>
          <a:lstStyle/>
          <a:p>
            <a:pPr>
              <a:spcAft>
                <a:spcPts val="400"/>
              </a:spcAft>
            </a:pPr>
            <a:r>
              <a:rPr sz="1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2026 年 </a:t>
            </a:r>
            <a:r>
              <a:rPr lang="en-US" sz="1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sz="1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月：</a:t>
            </a:r>
            <a:endParaRPr lang="en-US" sz="1400" b="1" dirty="0">
              <a:solidFill>
                <a:srgbClr val="1F29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食品安全类客诉</a:t>
            </a:r>
            <a:r>
              <a:rPr sz="1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1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1400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起。</a:t>
            </a:r>
          </a:p>
          <a:p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In </a:t>
            </a:r>
            <a:r>
              <a:rPr lang="en-US" sz="1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J</a:t>
            </a:r>
            <a:r>
              <a:rPr lang="en-US" altLang="zh-CN" sz="1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un</a:t>
            </a: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2026: </a:t>
            </a:r>
            <a:r>
              <a:rPr lang="en-US" sz="12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12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food-safety complaints.</a:t>
            </a:r>
          </a:p>
        </p:txBody>
      </p:sp>
      <p:sp>
        <p:nvSpPr>
          <p:cNvPr id="74" name="右箭头 20"/>
          <p:cNvSpPr/>
          <p:nvPr>
            <p:custDataLst>
              <p:tags r:id="rId4"/>
            </p:custDataLst>
          </p:nvPr>
        </p:nvSpPr>
        <p:spPr>
          <a:xfrm>
            <a:off x="548238" y="725806"/>
            <a:ext cx="1658642" cy="848311"/>
          </a:xfrm>
          <a:prstGeom prst="rightArrow">
            <a:avLst>
              <a:gd name="adj1" fmla="val 65805"/>
              <a:gd name="adj2" fmla="val 70971"/>
            </a:avLst>
          </a:prstGeom>
          <a:noFill/>
          <a:ln w="22225">
            <a:gradFill>
              <a:gsLst>
                <a:gs pos="73000">
                  <a:schemeClr val="accent1">
                    <a:alpha val="0"/>
                  </a:schemeClr>
                </a:gs>
                <a:gs pos="100000">
                  <a:schemeClr val="accent1">
                    <a:alpha val="3400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右箭头 18"/>
          <p:cNvSpPr/>
          <p:nvPr>
            <p:custDataLst>
              <p:tags r:id="rId5"/>
            </p:custDataLst>
          </p:nvPr>
        </p:nvSpPr>
        <p:spPr>
          <a:xfrm>
            <a:off x="407155" y="702125"/>
            <a:ext cx="1658642" cy="848311"/>
          </a:xfrm>
          <a:prstGeom prst="rightArrow">
            <a:avLst>
              <a:gd name="adj1" fmla="val 65805"/>
              <a:gd name="adj2" fmla="val 70971"/>
            </a:avLst>
          </a:prstGeom>
          <a:gradFill>
            <a:gsLst>
              <a:gs pos="0">
                <a:schemeClr val="accent1">
                  <a:alpha val="49000"/>
                </a:schemeClr>
              </a:gs>
              <a:gs pos="100000">
                <a:schemeClr val="accent1"/>
              </a:gs>
            </a:gsLst>
            <a:lin ang="8100000" scaled="0"/>
          </a:gradFill>
          <a:ln>
            <a:noFill/>
          </a:ln>
          <a:effectLst>
            <a:outerShdw blurRad="76200" dist="38100" dir="2700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indent="0" algn="ctr" fontAlgn="auto"/>
            <a:endParaRPr lang="en-US" altLang="zh-CN" b="1" dirty="0">
              <a:solidFill>
                <a:schemeClr val="lt1">
                  <a:lumMod val="100000"/>
                </a:schemeClr>
              </a:solidFill>
              <a:uFillTx/>
            </a:endParaRPr>
          </a:p>
        </p:txBody>
      </p:sp>
      <p:sp>
        <p:nvSpPr>
          <p:cNvPr id="76" name="右箭头 21"/>
          <p:cNvSpPr/>
          <p:nvPr>
            <p:custDataLst>
              <p:tags r:id="rId6"/>
            </p:custDataLst>
          </p:nvPr>
        </p:nvSpPr>
        <p:spPr>
          <a:xfrm>
            <a:off x="731007" y="703577"/>
            <a:ext cx="1658642" cy="848311"/>
          </a:xfrm>
          <a:prstGeom prst="rightArrow">
            <a:avLst>
              <a:gd name="adj1" fmla="val 65805"/>
              <a:gd name="adj2" fmla="val 70971"/>
            </a:avLst>
          </a:prstGeom>
          <a:noFill/>
          <a:ln w="22225">
            <a:gradFill>
              <a:gsLst>
                <a:gs pos="74000">
                  <a:schemeClr val="accent1">
                    <a:alpha val="0"/>
                  </a:schemeClr>
                </a:gs>
                <a:gs pos="99000">
                  <a:schemeClr val="accent1">
                    <a:alpha val="2000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右箭头 21"/>
          <p:cNvSpPr/>
          <p:nvPr>
            <p:custDataLst>
              <p:tags r:id="rId7"/>
            </p:custDataLst>
          </p:nvPr>
        </p:nvSpPr>
        <p:spPr>
          <a:xfrm>
            <a:off x="2206880" y="2191041"/>
            <a:ext cx="1658642" cy="848311"/>
          </a:xfrm>
          <a:prstGeom prst="rightArrow">
            <a:avLst>
              <a:gd name="adj1" fmla="val 65805"/>
              <a:gd name="adj2" fmla="val 70971"/>
            </a:avLst>
          </a:prstGeom>
          <a:noFill/>
          <a:ln w="22225">
            <a:gradFill>
              <a:gsLst>
                <a:gs pos="74000">
                  <a:schemeClr val="accent1">
                    <a:alpha val="0"/>
                  </a:schemeClr>
                </a:gs>
                <a:gs pos="99000">
                  <a:schemeClr val="accent1">
                    <a:alpha val="2000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B8E4391-1BD5-6C1E-C5DD-611A68E5F7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217257"/>
              </p:ext>
            </p:extLst>
          </p:nvPr>
        </p:nvGraphicFramePr>
        <p:xfrm>
          <a:off x="3952859" y="1207559"/>
          <a:ext cx="7508134" cy="2127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84" name="TextBox 83"/>
          <p:cNvSpPr txBox="1"/>
          <p:nvPr/>
        </p:nvSpPr>
        <p:spPr>
          <a:xfrm>
            <a:off x="603128" y="3736027"/>
            <a:ext cx="11365992" cy="38404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 b="1" dirty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2026 </a:t>
            </a:r>
            <a:r>
              <a:rPr sz="1500" b="1" dirty="0" err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年客诉分析（YTD</a:t>
            </a:r>
            <a:r>
              <a:rPr sz="1500" b="1" dirty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） / Customer Complaint Analysis (2026 YTD)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" y="4069080"/>
            <a:ext cx="11365992" cy="23774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94360" y="4160520"/>
            <a:ext cx="11000232" cy="20646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100"/>
              </a:spcAft>
            </a:pPr>
            <a:r>
              <a:rPr sz="1400" b="1" dirty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400" b="1" dirty="0" err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累计</a:t>
            </a:r>
            <a:r>
              <a:rPr sz="1400" b="1" dirty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 / YTD：</a:t>
            </a:r>
            <a:r>
              <a:rPr sz="1400" b="0" dirty="0">
                <a:solidFill>
                  <a:srgbClr val="2C3E50"/>
                </a:solidFill>
                <a:latin typeface="Microsoft YaHei"/>
                <a:ea typeface="Microsoft YaHei"/>
                <a:cs typeface="Microsoft YaHei"/>
              </a:rPr>
              <a:t>2026 年 1–</a:t>
            </a:r>
            <a:r>
              <a:rPr lang="en-US" sz="1400" b="0" dirty="0">
                <a:solidFill>
                  <a:srgbClr val="2C3E50"/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sz="1400" b="0" dirty="0">
                <a:solidFill>
                  <a:srgbClr val="2C3E5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0" dirty="0" err="1">
                <a:solidFill>
                  <a:srgbClr val="2C3E50"/>
                </a:solidFill>
                <a:latin typeface="Microsoft YaHei"/>
                <a:ea typeface="Microsoft YaHei"/>
                <a:cs typeface="Microsoft YaHei"/>
              </a:rPr>
              <a:t>月累计食品安全类客诉</a:t>
            </a:r>
            <a:r>
              <a:rPr sz="1400" b="0" dirty="0">
                <a:solidFill>
                  <a:srgbClr val="2C3E5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1400" b="0" dirty="0">
                <a:solidFill>
                  <a:srgbClr val="2C3E50"/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sz="1400" b="0" dirty="0">
                <a:solidFill>
                  <a:srgbClr val="2C3E50"/>
                </a:solidFill>
                <a:latin typeface="Microsoft YaHei"/>
                <a:ea typeface="Microsoft YaHei"/>
                <a:cs typeface="Microsoft YaHei"/>
              </a:rPr>
              <a:t> 起</a:t>
            </a:r>
            <a:r>
              <a:rPr lang="zh-CN" altLang="en-US" sz="1400" dirty="0">
                <a:solidFill>
                  <a:srgbClr val="2C3E50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400" b="0" dirty="0">
              <a:solidFill>
                <a:srgbClr val="2C3E5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100"/>
              </a:spcAft>
            </a:pPr>
            <a:r>
              <a:rPr sz="14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 YTD (Jan–</a:t>
            </a:r>
            <a:r>
              <a:rPr lang="en-US" sz="14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J</a:t>
            </a:r>
            <a:r>
              <a:rPr lang="en-US" altLang="zh-CN" sz="14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un</a:t>
            </a:r>
            <a:r>
              <a:rPr sz="14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2026): </a:t>
            </a:r>
            <a:r>
              <a:rPr lang="en-US" sz="14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sz="14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food-safety complaints in total.</a:t>
            </a:r>
            <a:endParaRPr lang="en-US" sz="1400" b="0" dirty="0">
              <a:solidFill>
                <a:srgbClr val="595959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600"/>
              </a:spcAft>
            </a:pPr>
            <a:endParaRPr sz="1400" b="0" dirty="0">
              <a:solidFill>
                <a:srgbClr val="595959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100"/>
              </a:spcAft>
            </a:pPr>
            <a:r>
              <a:rPr sz="1400" b="1" dirty="0">
                <a:solidFill>
                  <a:srgbClr val="1F4E79"/>
                </a:solidFill>
                <a:latin typeface="Microsoft YaHei"/>
                <a:ea typeface="Microsoft YaHei"/>
              </a:rPr>
              <a:t>•</a:t>
            </a:r>
            <a:r>
              <a:rPr lang="en-US" sz="1400" b="1" dirty="0">
                <a:solidFill>
                  <a:srgbClr val="1F4E79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1400" b="1" dirty="0">
                <a:solidFill>
                  <a:srgbClr val="1F4E79"/>
                </a:solidFill>
                <a:latin typeface="Microsoft YaHei"/>
                <a:ea typeface="Microsoft YaHei"/>
              </a:rPr>
              <a:t>6</a:t>
            </a:r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Microsoft YaHei"/>
              </a:rPr>
              <a:t>月客诉简要总结 </a:t>
            </a:r>
            <a:r>
              <a:rPr lang="en-US" altLang="zh-CN" sz="1400" b="1" dirty="0">
                <a:solidFill>
                  <a:srgbClr val="1F4E79"/>
                </a:solidFill>
                <a:latin typeface="Microsoft YaHei"/>
                <a:ea typeface="Microsoft YaHei"/>
              </a:rPr>
              <a:t>/ June Complaint Summary</a:t>
            </a:r>
          </a:p>
          <a:p>
            <a:pPr>
              <a:spcAft>
                <a:spcPts val="100"/>
              </a:spcAft>
            </a:pPr>
            <a:endParaRPr lang="en-US" sz="1050" b="1" dirty="0">
              <a:solidFill>
                <a:srgbClr val="1F4E79"/>
              </a:solidFill>
              <a:latin typeface="Microsoft YaHei"/>
              <a:ea typeface="Microsoft YaHei"/>
            </a:endParaRPr>
          </a:p>
          <a:p>
            <a:r>
              <a:rPr lang="zh-CN" altLang="en-US" sz="1400" b="1" dirty="0"/>
              <a:t>事件描述 </a:t>
            </a:r>
            <a:r>
              <a:rPr lang="en-US" altLang="zh-CN" sz="1400" b="1" dirty="0"/>
              <a:t>/ Event: </a:t>
            </a:r>
            <a:r>
              <a:rPr lang="en-US" altLang="zh-CN" sz="1400" dirty="0"/>
              <a:t>2026-06-20, 2 </a:t>
            </a:r>
            <a:r>
              <a:rPr lang="zh-CN" altLang="en-US" sz="1400" dirty="0"/>
              <a:t>位顾客反馈饮用 </a:t>
            </a:r>
            <a:r>
              <a:rPr lang="en-US" altLang="zh-CN" sz="1400" b="1" dirty="0"/>
              <a:t>Store 901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8th Ave</a:t>
            </a:r>
            <a:r>
              <a:rPr lang="zh-CN" altLang="en-US" sz="1400" b="1" dirty="0"/>
              <a:t>）</a:t>
            </a:r>
            <a:r>
              <a:rPr lang="en-US" altLang="zh-CN" sz="1400" dirty="0"/>
              <a:t> </a:t>
            </a:r>
            <a:r>
              <a:rPr lang="zh-CN" altLang="en-US" sz="1400" dirty="0"/>
              <a:t>购买的 </a:t>
            </a:r>
            <a:r>
              <a:rPr lang="en-US" altLang="zh-CN" sz="1400" b="1" dirty="0"/>
              <a:t>2 </a:t>
            </a:r>
            <a:r>
              <a:rPr lang="zh-CN" altLang="en-US" sz="1400" b="1" dirty="0"/>
              <a:t>杯 </a:t>
            </a:r>
            <a:r>
              <a:rPr lang="en-US" altLang="zh-CN" sz="1400" b="1" dirty="0"/>
              <a:t>Iced Kyoto Matcha Latte</a:t>
            </a:r>
            <a:r>
              <a:rPr lang="en-US" altLang="zh-CN" sz="1400" dirty="0"/>
              <a:t> </a:t>
            </a:r>
            <a:r>
              <a:rPr lang="zh-CN" altLang="en-US" sz="1400" dirty="0"/>
              <a:t>后出现疑似食源性疾病症状。</a:t>
            </a:r>
          </a:p>
          <a:p>
            <a:r>
              <a:rPr lang="en-US" altLang="zh-CN" sz="1400" b="1" dirty="0"/>
              <a:t>Possible Cause:</a:t>
            </a:r>
            <a:r>
              <a:rPr lang="zh-CN" altLang="en-US" sz="1400" dirty="0"/>
              <a:t>可能涉及抹茶粉操作、</a:t>
            </a:r>
            <a:r>
              <a:rPr lang="en-US" altLang="zh-CN" sz="1400" dirty="0"/>
              <a:t>2% milk </a:t>
            </a:r>
            <a:r>
              <a:rPr lang="zh-CN" altLang="en-US" sz="1400" dirty="0"/>
              <a:t>温控、冰</a:t>
            </a:r>
            <a:r>
              <a:rPr lang="en-US" altLang="zh-CN" sz="1400" dirty="0"/>
              <a:t>/</a:t>
            </a:r>
            <a:r>
              <a:rPr lang="zh-CN" altLang="en-US" sz="1400" dirty="0"/>
              <a:t>器具清洁消毒，或制备过程交叉污染；目前无证据确认根因。</a:t>
            </a:r>
          </a:p>
          <a:p>
            <a:r>
              <a:rPr lang="en-US" altLang="zh-CN" sz="1400" b="1" dirty="0"/>
              <a:t>Corrective Action: </a:t>
            </a:r>
            <a:r>
              <a:rPr lang="zh-CN" altLang="en-US" sz="1400" dirty="0"/>
              <a:t>客服已完成退款；</a:t>
            </a:r>
            <a:r>
              <a:rPr lang="en-US" altLang="zh-CN" sz="1400" dirty="0"/>
              <a:t>QA</a:t>
            </a:r>
            <a:r>
              <a:rPr lang="zh-CN" altLang="en-US" sz="1400" dirty="0"/>
              <a:t>和运营已查看饮品制作过程监控，未发现异常。经核查，目前未发现其他同类客诉，初步判定为个案，后续将持续监控相关投诉趋势</a:t>
            </a:r>
            <a:r>
              <a:rPr lang="zh-CN" altLang="en-US" sz="1000" dirty="0"/>
              <a:t>。</a:t>
            </a:r>
            <a:endParaRPr sz="950" b="1" dirty="0">
              <a:solidFill>
                <a:srgbClr val="595959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C08EE-2AD2-6B2C-778A-0BA12C6B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B34EFD3-FDA2-5C67-1714-BD1E0E139A32}"/>
              </a:ext>
            </a:extLst>
          </p:cNvPr>
          <p:cNvSpPr txBox="1"/>
          <p:nvPr/>
        </p:nvSpPr>
        <p:spPr>
          <a:xfrm>
            <a:off x="7023321" y="2784420"/>
            <a:ext cx="36588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ym typeface="+mn-ea"/>
              </a:rPr>
              <a:t>EHS</a:t>
            </a:r>
          </a:p>
          <a:p>
            <a:pPr algn="ctr"/>
            <a:r>
              <a:rPr lang="zh-CN" altLang="en-US" sz="3200" b="1" dirty="0">
                <a:sym typeface="+mn-ea"/>
              </a:rPr>
              <a:t>环境健康卫生</a:t>
            </a:r>
            <a:endParaRPr lang="zh-CN" altLang="en-US" sz="32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F2B9B7-9B5E-770D-B89F-4FDBE7E64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03"/>
            <a:ext cx="5231443" cy="677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083013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37744"/>
            <a:ext cx="114300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6E3508"/>
                </a:solidFill>
                <a:latin typeface="Microsoft YaHei"/>
                <a:ea typeface="Microsoft YaHei"/>
                <a:cs typeface="Microsoft YaHei"/>
              </a:rPr>
              <a:t>2026 EHS 安全事故月度分析  /  2026 Monthly Safety Incident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86384"/>
            <a:ext cx="11430000" cy="25603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841248"/>
            <a:ext cx="7772400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dirty="0" err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工伤事故</a:t>
            </a:r>
            <a:r>
              <a:rPr sz="11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Workplace Injury · </a:t>
            </a:r>
            <a:r>
              <a:rPr sz="1100" b="0" dirty="0" err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YTD（截至</a:t>
            </a:r>
            <a:r>
              <a:rPr sz="11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2026 年 </a:t>
            </a:r>
            <a:r>
              <a:rPr lang="en-US" sz="11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sz="11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月 / through </a:t>
            </a:r>
            <a:r>
              <a:rPr lang="en-US" sz="11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J</a:t>
            </a:r>
            <a:r>
              <a:rPr lang="en-US" altLang="zh-CN" sz="11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une</a:t>
            </a:r>
            <a:r>
              <a:rPr sz="110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98448"/>
            <a:ext cx="36118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298448"/>
            <a:ext cx="3611880" cy="11887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444751"/>
            <a:ext cx="3611880" cy="6309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029967"/>
            <a:ext cx="3520440" cy="6309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2026 YTD </a:t>
            </a:r>
            <a:r>
              <a:rPr sz="1050" b="0" dirty="0" err="1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事故起数</a:t>
            </a:r>
            <a:endParaRPr sz="1050" b="0" dirty="0">
              <a:solidFill>
                <a:srgbClr val="595959"/>
              </a:solidFill>
              <a:latin typeface="Microsoft YaHei"/>
              <a:ea typeface="Microsoft YaHei"/>
              <a:cs typeface="Microsoft YaHei"/>
            </a:endParaRPr>
          </a:p>
          <a:p>
            <a:pPr algn="ctr"/>
            <a:r>
              <a:rPr sz="1050" b="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Incidents (Jan–May)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298448"/>
            <a:ext cx="36118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298448"/>
            <a:ext cx="3611880" cy="118872"/>
          </a:xfrm>
          <a:prstGeom prst="rect">
            <a:avLst/>
          </a:prstGeom>
          <a:solidFill>
            <a:srgbClr val="2E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1444751"/>
            <a:ext cx="3611880" cy="6309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400" b="1">
                <a:solidFill>
                  <a:srgbClr val="2E9F46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029967"/>
            <a:ext cx="3520440" cy="1985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lang="en-US" altLang="zh-CN" sz="105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lang="zh-CN" altLang="en-US" sz="105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月 </a:t>
            </a:r>
            <a:r>
              <a:rPr lang="en-US" altLang="zh-CN" sz="105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June: </a:t>
            </a:r>
            <a:r>
              <a:rPr lang="zh-CN" altLang="en-US" sz="1050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无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384048" y="2852928"/>
          <a:ext cx="7040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Rectangle 18"/>
          <p:cNvSpPr/>
          <p:nvPr/>
        </p:nvSpPr>
        <p:spPr>
          <a:xfrm>
            <a:off x="8083550" y="1283309"/>
            <a:ext cx="3712210" cy="5090059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267A0-E0E0-92CD-0FC1-3AC6ECF16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982222-30C2-537C-7D84-69E1F4EA7E12}"/>
              </a:ext>
            </a:extLst>
          </p:cNvPr>
          <p:cNvSpPr txBox="1"/>
          <p:nvPr/>
        </p:nvSpPr>
        <p:spPr>
          <a:xfrm>
            <a:off x="367748" y="287545"/>
            <a:ext cx="7898138" cy="1020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EHS</a:t>
            </a:r>
            <a:r>
              <a:rPr lang="zh-CN" altLang="en-US" sz="24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体系目前进程 </a:t>
            </a:r>
            <a:r>
              <a:rPr lang="en-US" altLang="zh-CN" sz="2400" b="1" dirty="0"/>
              <a:t>/ Current EHS System Progress</a:t>
            </a:r>
            <a:endParaRPr lang="en-US" altLang="zh-CN" sz="2400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zh-CN" altLang="zh-CN" sz="2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C7EAE-7402-F988-5FA7-F7DAC8AD90C8}"/>
              </a:ext>
            </a:extLst>
          </p:cNvPr>
          <p:cNvSpPr txBox="1"/>
          <p:nvPr/>
        </p:nvSpPr>
        <p:spPr>
          <a:xfrm>
            <a:off x="339846" y="1270448"/>
            <a:ext cx="663426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</a:rPr>
              <a:t>已完成 </a:t>
            </a:r>
            <a:r>
              <a:rPr lang="en-US" altLang="zh-CN" b="1" dirty="0">
                <a:solidFill>
                  <a:srgbClr val="00B050"/>
                </a:solidFill>
              </a:rPr>
              <a:t>/ Completed</a:t>
            </a:r>
            <a:endParaRPr lang="en-US" altLang="zh-CN" dirty="0">
              <a:solidFill>
                <a:srgbClr val="00B05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门店设备安全操作</a:t>
            </a:r>
            <a:r>
              <a:rPr lang="en-US" altLang="zh-CN" dirty="0"/>
              <a:t>SOP</a:t>
            </a:r>
            <a:br>
              <a:rPr lang="en-US" altLang="zh-CN" dirty="0"/>
            </a:br>
            <a:r>
              <a:rPr lang="en-US" altLang="zh-CN" dirty="0" err="1"/>
              <a:t>SOP</a:t>
            </a:r>
            <a:r>
              <a:rPr lang="en-US" altLang="zh-CN" dirty="0"/>
              <a:t> for safe operation of store equipment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安全手册</a:t>
            </a:r>
            <a:br>
              <a:rPr lang="zh-CN" altLang="en-US" dirty="0"/>
            </a:br>
            <a:r>
              <a:rPr lang="en-US" altLang="zh-CN" dirty="0"/>
              <a:t>Safety Manual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基础安全培训</a:t>
            </a:r>
            <a:br>
              <a:rPr lang="zh-CN" altLang="en-US" dirty="0"/>
            </a:br>
            <a:r>
              <a:rPr lang="en-US" altLang="zh-CN" dirty="0"/>
              <a:t>Basic Safety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16</a:t>
            </a:r>
            <a:r>
              <a:rPr lang="zh-CN" altLang="en-US" dirty="0"/>
              <a:t>家门店疏散图</a:t>
            </a:r>
            <a:br>
              <a:rPr lang="zh-CN" altLang="en-US" dirty="0"/>
            </a:br>
            <a:r>
              <a:rPr lang="en-US" altLang="zh-CN" dirty="0"/>
              <a:t>Evacuation plans for 16 stores</a:t>
            </a:r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>
                <a:solidFill>
                  <a:srgbClr val="FFC000"/>
                </a:solidFill>
              </a:rPr>
              <a:t>进行中 </a:t>
            </a:r>
            <a:r>
              <a:rPr lang="en-US" altLang="zh-CN" b="1" dirty="0">
                <a:solidFill>
                  <a:srgbClr val="FFC000"/>
                </a:solidFill>
              </a:rPr>
              <a:t>/ In Progress</a:t>
            </a:r>
            <a:endParaRPr lang="en-US" altLang="zh-CN" dirty="0">
              <a:solidFill>
                <a:srgbClr val="FFC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4</a:t>
            </a:r>
            <a:r>
              <a:rPr lang="zh-CN" altLang="en-US" dirty="0"/>
              <a:t>家新店疏散图</a:t>
            </a:r>
            <a:br>
              <a:rPr lang="zh-CN" altLang="en-US" dirty="0"/>
            </a:br>
            <a:r>
              <a:rPr lang="en-US" altLang="zh-CN" dirty="0"/>
              <a:t>Evacuation plans for two new stores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整体安全手册升级</a:t>
            </a:r>
            <a:br>
              <a:rPr lang="zh-CN" altLang="en-US" dirty="0"/>
            </a:br>
            <a:r>
              <a:rPr lang="en-US" altLang="zh-CN" dirty="0"/>
              <a:t>Upgrade of the overall Safety Manual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2" name="Picture 1" descr="A logo of health safety and environment&#10;&#10;AI-generated content may be incorrect.">
            <a:extLst>
              <a:ext uri="{FF2B5EF4-FFF2-40B4-BE49-F238E27FC236}">
                <a16:creationId xmlns:a16="http://schemas.microsoft.com/office/drawing/2014/main" id="{91F76F4B-02DE-FEC9-0CE9-33395739C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7" r="15637"/>
          <a:stretch>
            <a:fillRect/>
          </a:stretch>
        </p:blipFill>
        <p:spPr>
          <a:xfrm>
            <a:off x="6096000" y="797749"/>
            <a:ext cx="5401794" cy="561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72109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503920" y="25146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23263"/>
                </a:solidFill>
                <a:latin typeface="Microsoft YaHei"/>
                <a:ea typeface="Microsoft YaHei"/>
                <a:cs typeface="Microsoft YaHei"/>
              </a:rPr>
              <a:t>Thank You！</a:t>
            </a:r>
            <a:endParaRPr lang="zh-CN" altLang="en-US" sz="3200" b="1" dirty="0">
              <a:latin typeface="Bradley Hand ITC" panose="03070402050302030203" pitchFamily="66" charset="0"/>
            </a:endParaRPr>
          </a:p>
          <a:p>
            <a:pPr algn="ctr"/>
            <a:r>
              <a:rPr sz="3200" b="1">
                <a:solidFill>
                  <a:srgbClr val="223263"/>
                </a:solidFill>
                <a:latin typeface="Microsoft YaHei"/>
                <a:ea typeface="Microsoft YaHei"/>
                <a:cs typeface="Microsoft YaHei"/>
              </a:rPr>
              <a:t>谢谢！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B27056-B735-3474-0CDB-1E3E6DE35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8005548" cy="679418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253_1*l_h_i*1_1_1"/>
  <p:tag name="KSO_WM_TEMPLATE_CATEGORY" val="diagram"/>
  <p:tag name="KSO_WM_TEMPLATE_INDEX" val="20233253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09.608971221203,&quot;left&quot;:54.75,&quot;top&quot;:116.24094488188976,&quot;width&quot;:843.214803149606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09.608971221203,&quot;left&quot;:54.75,&quot;top&quot;:116.24094488188976,&quot;width&quot;:843.2148031496063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1_1"/>
  <p:tag name="KSO_WM_UNIT_ID" val="diagram20233253_1*l_h_f*1_1_1"/>
  <p:tag name="KSO_WM_TEMPLATE_INDEX" val="20233253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3253_1*l_h_i*1_3_1"/>
  <p:tag name="KSO_WM_TEMPLATE_CATEGORY" val="diagram"/>
  <p:tag name="KSO_WM_TEMPLATE_INDEX" val="20233253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09.608971221203,&quot;left&quot;:54.75,&quot;top&quot;:116.24094488188976,&quot;width&quot;:843.214803149606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09.608971221203,&quot;left&quot;:54.75,&quot;top&quot;:116.24094488188976,&quot;width&quot;:843.2148031496063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3_1"/>
  <p:tag name="KSO_WM_UNIT_ID" val="diagram20233253_1*l_h_f*1_3_1"/>
  <p:tag name="KSO_WM_TEMPLATE_INDEX" val="20233253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33253_1*l_h_i*1_5_1"/>
  <p:tag name="KSO_WM_TEMPLATE_CATEGORY" val="diagram"/>
  <p:tag name="KSO_WM_TEMPLATE_INDEX" val="20233253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09.608971221203,&quot;left&quot;:54.75,&quot;top&quot;:116.24094488188976,&quot;width&quot;:843.214803149606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253_1*l_h_i*1_2_1"/>
  <p:tag name="KSO_WM_TEMPLATE_CATEGORY" val="diagram"/>
  <p:tag name="KSO_WM_TEMPLATE_INDEX" val="20233253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09.608971221203,&quot;left&quot;:54.75,&quot;top&quot;:116.24094488188976,&quot;width&quot;:843.214803149606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09.608971221203,&quot;left&quot;:54.75,&quot;top&quot;:116.24094488188976,&quot;width&quot;:843.2148031496063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2_1"/>
  <p:tag name="KSO_WM_UNIT_ID" val="diagram20233253_1*l_h_f*1_2_1"/>
  <p:tag name="KSO_WM_TEMPLATE_INDEX" val="20233253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3253_1*l_h_i*1_4_1"/>
  <p:tag name="KSO_WM_TEMPLATE_CATEGORY" val="diagram"/>
  <p:tag name="KSO_WM_TEMPLATE_INDEX" val="20233253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09.608971221203,&quot;left&quot;:54.75,&quot;top&quot;:116.24094488188976,&quot;width&quot;:843.214803149606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09.608971221203,&quot;left&quot;:54.75,&quot;top&quot;:116.24094488188976,&quot;width&quot;:843.2148031496063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4_1"/>
  <p:tag name="KSO_WM_UNIT_ID" val="diagram20233253_1*l_h_f*1_4_1"/>
  <p:tag name="KSO_WM_TEMPLATE_INDEX" val="20233253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8*36"/>
  <p:tag name="TABLE_ENDDRAG_RECT" val="92*447*688*3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253_1*a*1"/>
  <p:tag name="KSO_WM_TEMPLATE_CATEGORY" val="diagram"/>
  <p:tag name="KSO_WM_TEMPLATE_INDEX" val="20233253"/>
  <p:tag name="KSO_WM_UNIT_LAYERLEVEL" val="1"/>
  <p:tag name="KSO_WM_TAG_VERSION" val="3.0"/>
  <p:tag name="KSO_WM_BEAUTIFY_FLAG" val="#wm#"/>
  <p:tag name="KSO_WM_UNIT_VALUE" val="29"/>
  <p:tag name="KSO_WM_UNIT_PRESET_TEXT" val="单击此处添加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09.608971221203,&quot;left&quot;:54.75,&quot;top&quot;:116.24094488188976,&quot;width&quot;:843.2148031496063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3_1"/>
  <p:tag name="KSO_WM_UNIT_ID" val="diagram20233253_1*l_h_f*1_3_1"/>
  <p:tag name="KSO_WM_TEMPLATE_INDEX" val="20233253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97_1*i*1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UNIT_TYPE" val="i"/>
  <p:tag name="KSO_WM_UNIT_INDEX" val="1"/>
  <p:tag name="KSO_WM_UNIT_FILL_FORE_SCHEMECOLOR_INDEX" val="16"/>
  <p:tag name="KSO_WM_UNIT_FILL_TYPE" val="1"/>
  <p:tag name="KSO_WM_UNIT_SHADOW_SCHEMECOLOR_INDEX" val="15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897_1*a*1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  <p:tag name="KSO_WM_UNIT_PRESET_TEXT" val="单击此处添加标题"/>
  <p:tag name="KSO_WM_UNIT_TEXT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8"/>
  <p:tag name="KSO_WM_UNIT_ID" val="custom20234897_1*f*8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DIAGRAM_GROUP_CODE" val="l1-1"/>
  <p:tag name="KSO_WM_UNIT_SUBTYPE" val="a"/>
  <p:tag name="KSO_WM_UNIT_NOCLEAR" val="0"/>
  <p:tag name="KSO_WM_UNIT_VALUE" val="168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  <p:tag name="KSO_WM_UNIT_TEXT_TYPE" val="1"/>
  <p:tag name="KSO_WM_UNIT_TEXT_LAYER_COUNT" val="1"/>
  <p:tag name="KSO_WM_UNIT_FILL_FORE_SCHEMECOLOR_INDEX" val="16"/>
  <p:tag name="KSO_WM_UNIT_FILL_TYPE" val="1"/>
  <p:tag name="KSO_WM_UNIT_SHADOW_SCHEMECOLOR_INDEX" val="15"/>
  <p:tag name="KSO_WM_UNIT_TEXT_FILL_FORE_SCHEMECOLOR_INDEX" val="13"/>
  <p:tag name="KSO_WM_UNIT_TEXT_FILL_TYP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93*170"/>
  <p:tag name="TABLE_ENDDRAG_RECT" val="138*192*493*17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97_1*i*2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UNIT_TYPE" val="i"/>
  <p:tag name="KSO_WM_UNIT_INDEX" val="2"/>
  <p:tag name="KSO_WM_UNIT_FILL_FORE_SCHEMECOLOR_INDEX" val="16"/>
  <p:tag name="KSO_WM_UNIT_FILL_TYPE" val="1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97_1*i*3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UNIT_TYPE" val="i"/>
  <p:tag name="KSO_WM_UNIT_INDEX" val="3"/>
  <p:tag name="KSO_WM_UNIT_FILL_FORE_SCHEMECOLOR_INDEX" val="16"/>
  <p:tag name="KSO_WM_UNIT_FILL_TYPE" val="1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97_1*i*4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UNIT_TYPE" val="i"/>
  <p:tag name="KSO_WM_UNIT_INDEX" val="4"/>
  <p:tag name="KSO_WM_UNIT_FILL_FORE_SCHEMECOLOR_INDEX" val="16"/>
  <p:tag name="KSO_WM_UNIT_FILL_TYPE" val="1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97_1*i*5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UNIT_TYPE" val="i"/>
  <p:tag name="KSO_WM_UNIT_INDEX" val="5"/>
  <p:tag name="KSO_WM_UNIT_FILL_FORE_SCHEMECOLOR_INDEX" val="16"/>
  <p:tag name="KSO_WM_UNIT_FILL_TYPE" val="1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97_1*i*6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UNIT_TYPE" val="i"/>
  <p:tag name="KSO_WM_UNIT_INDEX" val="6"/>
  <p:tag name="KSO_WM_UNIT_FILL_FORE_SCHEMECOLOR_INDEX" val="16"/>
  <p:tag name="KSO_WM_UNIT_FILL_TYPE" val="1"/>
  <p:tag name="KSO_WM_UNIT_LINE_FORE_SCHEMECOLOR_INDEX" val="5"/>
  <p:tag name="KSO_WM_UNIT_LINE_FILL_TYPE" val="2"/>
  <p:tag name="KSO_WM_UNIT_SHADOW_SCHEMECOLOR_INDEX" val="15"/>
  <p:tag name="KSO_WM_UNIT_TEXT_FILL_FORE_SCHEMECOLOR_INDEX" val="2"/>
  <p:tag name="KSO_WM_UNIT_TEXT_FILL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97_1*i*7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UNIT_TYPE" val="i"/>
  <p:tag name="KSO_WM_UNIT_INDEX" val="7"/>
  <p:tag name="KSO_WM_UNIT_FILL_FORE_SCHEMECOLOR_INDEX" val="16"/>
  <p:tag name="KSO_WM_UNIT_FILL_TYPE" val="1"/>
  <p:tag name="KSO_WM_UNIT_LINE_FORE_SCHEMECOLOR_INDEX" val="5"/>
  <p:tag name="KSO_WM_UNIT_LINE_FILL_TYPE" val="2"/>
  <p:tag name="KSO_WM_UNIT_SHADOW_SCHEMECOLOR_INDEX" val="15"/>
  <p:tag name="KSO_WM_UNIT_TEXT_FILL_FORE_SCHEMECOLOR_INDEX" val="2"/>
  <p:tag name="KSO_WM_UNIT_TEXT_FILL_TYPE" val="1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97_1*i*1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UNIT_TYPE" val="i"/>
  <p:tag name="KSO_WM_UNIT_INDEX" val="1"/>
  <p:tag name="KSO_WM_UNIT_FILL_FORE_SCHEMECOLOR_INDEX" val="16"/>
  <p:tag name="KSO_WM_UNIT_FILL_TYPE" val="1"/>
  <p:tag name="KSO_WM_UNIT_SHADOW_SCHEMECOLOR_INDEX" val="15"/>
  <p:tag name="KSO_WM_UNIT_TEXT_FILL_FORE_SCHEMECOLOR_INDEX" val="13"/>
  <p:tag name="KSO_WM_UNIT_TEXT_FILL_TYPE" val="1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897_1*a*1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  <p:tag name="KSO_WM_UNIT_PRESET_TEXT" val="单击此处添加标题"/>
  <p:tag name="KSO_WM_UNIT_TEXT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8"/>
  <p:tag name="KSO_WM_UNIT_ID" val="custom20234897_1*f*8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DIAGRAM_GROUP_CODE" val="l1-1"/>
  <p:tag name="KSO_WM_UNIT_SUBTYPE" val="a"/>
  <p:tag name="KSO_WM_UNIT_NOCLEAR" val="0"/>
  <p:tag name="KSO_WM_UNIT_VALUE" val="168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  <p:tag name="KSO_WM_UNIT_TEXT_TYPE" val="1"/>
  <p:tag name="KSO_WM_UNIT_TEXT_LAYER_COUNT" val="1"/>
  <p:tag name="KSO_WM_UNIT_FILL_FORE_SCHEMECOLOR_INDEX" val="16"/>
  <p:tag name="KSO_WM_UNIT_FILL_TYPE" val="1"/>
  <p:tag name="KSO_WM_UNIT_SHADOW_SCHEMECOLOR_INDEX" val="15"/>
  <p:tag name="KSO_WM_UNIT_TEXT_FILL_FORE_SCHEMECOLOR_INDEX" val="13"/>
  <p:tag name="KSO_WM_UNIT_TEXT_FILL_TYPE" val="1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93*170"/>
  <p:tag name="TABLE_ENDDRAG_RECT" val="138*192*493*17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97_1*i*2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UNIT_TYPE" val="i"/>
  <p:tag name="KSO_WM_UNIT_INDEX" val="2"/>
  <p:tag name="KSO_WM_UNIT_FILL_FORE_SCHEMECOLOR_INDEX" val="16"/>
  <p:tag name="KSO_WM_UNIT_FILL_TYPE" val="1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97_1*i*3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UNIT_TYPE" val="i"/>
  <p:tag name="KSO_WM_UNIT_INDEX" val="3"/>
  <p:tag name="KSO_WM_UNIT_FILL_FORE_SCHEMECOLOR_INDEX" val="16"/>
  <p:tag name="KSO_WM_UNIT_FILL_TYPE" val="1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97_1*i*4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UNIT_TYPE" val="i"/>
  <p:tag name="KSO_WM_UNIT_INDEX" val="4"/>
  <p:tag name="KSO_WM_UNIT_FILL_FORE_SCHEMECOLOR_INDEX" val="16"/>
  <p:tag name="KSO_WM_UNIT_FILL_TYPE" val="1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97_1*i*5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UNIT_TYPE" val="i"/>
  <p:tag name="KSO_WM_UNIT_INDEX" val="5"/>
  <p:tag name="KSO_WM_UNIT_FILL_FORE_SCHEMECOLOR_INDEX" val="16"/>
  <p:tag name="KSO_WM_UNIT_FILL_TYPE" val="1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97_1*i*6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UNIT_TYPE" val="i"/>
  <p:tag name="KSO_WM_UNIT_INDEX" val="6"/>
  <p:tag name="KSO_WM_UNIT_FILL_FORE_SCHEMECOLOR_INDEX" val="16"/>
  <p:tag name="KSO_WM_UNIT_FILL_TYPE" val="1"/>
  <p:tag name="KSO_WM_UNIT_LINE_FORE_SCHEMECOLOR_INDEX" val="5"/>
  <p:tag name="KSO_WM_UNIT_LINE_FILL_TYPE" val="2"/>
  <p:tag name="KSO_WM_UNIT_SHADOW_SCHEMECOLOR_INDEX" val="15"/>
  <p:tag name="KSO_WM_UNIT_TEXT_FILL_FORE_SCHEMECOLOR_INDEX" val="2"/>
  <p:tag name="KSO_WM_UNIT_TEXT_FILL_TYPE" val="1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97_1*i*7"/>
  <p:tag name="KSO_WM_TEMPLATE_CATEGORY" val="custom"/>
  <p:tag name="KSO_WM_TEMPLATE_INDEX" val="20234897"/>
  <p:tag name="KSO_WM_UNIT_LAYERLEVEL" val="1"/>
  <p:tag name="KSO_WM_TAG_VERSION" val="3.0"/>
  <p:tag name="KSO_WM_BEAUTIFY_FLAG" val="#wm#"/>
  <p:tag name="KSO_WM_UNIT_TYPE" val="i"/>
  <p:tag name="KSO_WM_UNIT_INDEX" val="7"/>
  <p:tag name="KSO_WM_UNIT_FILL_FORE_SCHEMECOLOR_INDEX" val="16"/>
  <p:tag name="KSO_WM_UNIT_FILL_TYPE" val="1"/>
  <p:tag name="KSO_WM_UNIT_LINE_FORE_SCHEMECOLOR_INDEX" val="5"/>
  <p:tag name="KSO_WM_UNIT_LINE_FILL_TYPE" val="2"/>
  <p:tag name="KSO_WM_UNIT_SHADOW_SCHEMECOLOR_INDEX" val="15"/>
  <p:tag name="KSO_WM_UNIT_TEXT_FILL_FORE_SCHEMECOLOR_INDEX" val="2"/>
  <p:tag name="KSO_WM_UNIT_TEXT_FILL_TYPE" val="1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76_2*l_h_f*1_2_1"/>
  <p:tag name="KSO_WM_TEMPLATE_CATEGORY" val="diagram"/>
  <p:tag name="KSO_WM_TEMPLATE_INDEX" val="20234476"/>
  <p:tag name="KSO_WM_UNIT_LAYERLEVEL" val="1_1_1"/>
  <p:tag name="KSO_WM_TAG_VERSION" val="3.0"/>
  <p:tag name="KSO_WM_UNIT_SUBTYPE" val="a"/>
  <p:tag name="KSO_WM_UNIT_NOCLEAR" val="0"/>
  <p:tag name="KSO_WM_UNIT_VALUE" val="88"/>
  <p:tag name="KSO_WM_DIAGRAM_GROUP_CODE" val="l1-1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1"/>
  <p:tag name="KSO_WM_UNIT_TEXT_FILL_TYPE" val="1"/>
  <p:tag name="KSO_WM_UNIT_PRESET_TEXT" val="单击此处添加文本具体内容，简明扼要地阐述您的观点，以便能够准确的传达您的思想。"/>
  <p:tag name="KSO_WM_DIAGRAM_MAX_ITEMCNT" val="3"/>
  <p:tag name="KSO_WM_DIAGRAM_MIN_ITEMCNT" val="1"/>
  <p:tag name="KSO_WM_DIAGRAM_VIRTUALLY_FRAME" val="{&quot;height&quot;:379.5064574906957,&quot;left&quot;:58.18992125984251,&quot;top&quot;:114.69354250930425,&quot;width&quot;:844.0345732633334}"/>
  <p:tag name="KSO_WM_DIAGRAM_COLOR_MATCH_VALUE" val="{&quot;shape&quot;:{&quot;fill&quot;:{&quot;gradient&quot;:[{&quot;brightness&quot;:0,&quot;colorType&quot;:1,&quot;foreColorIndex&quot;:5,&quot;pos&quot;:0.15000000596046448,&quot;transparency&quot;:1},{&quot;brightness&quot;:0.3499999940395355,&quot;colorType&quot;:1,&quot;foreColorIndex&quot;:5,&quot;pos&quot;:1,&quot;transparency&quot;:0.64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1930"/>
  <p:tag name="KSO_WM_UNIT_ID" val="custom20231930_1*a*1"/>
  <p:tag name="KSO_WM_UNIT_PRESET_TEXT" val="单击此处添加标题"/>
  <p:tag name="KSO_WM_UNIT_TEXT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76_2*l_h_i*1_1_2"/>
  <p:tag name="KSO_WM_TEMPLATE_CATEGORY" val="diagram"/>
  <p:tag name="KSO_WM_TEMPLATE_INDEX" val="20234476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-0.25"/>
  <p:tag name="KSO_WM_DIAGRAM_MAX_ITEMCNT" val="3"/>
  <p:tag name="KSO_WM_DIAGRAM_MIN_ITEMCNT" val="1"/>
  <p:tag name="KSO_WM_DIAGRAM_VIRTUALLY_FRAME" val="{&quot;height&quot;:379.5064574906957,&quot;left&quot;:58.18992125984251,&quot;top&quot;:114.69354250930425,&quot;width&quot;:844.0345732633334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76_2*l_h_f*1_1_1"/>
  <p:tag name="KSO_WM_TEMPLATE_CATEGORY" val="diagram"/>
  <p:tag name="KSO_WM_TEMPLATE_INDEX" val="20234476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1"/>
  <p:tag name="KSO_WM_UNIT_TEXT_FILL_TYPE" val="1"/>
  <p:tag name="KSO_WM_UNIT_PRESET_TEXT" val="单击此处添加文本具体内容，简明扼要地阐述您的观点，以便能够准确的传达您的思想。"/>
  <p:tag name="KSO_WM_DIAGRAM_MAX_ITEMCNT" val="3"/>
  <p:tag name="KSO_WM_DIAGRAM_MIN_ITEMCNT" val="1"/>
  <p:tag name="KSO_WM_DIAGRAM_VIRTUALLY_FRAME" val="{&quot;height&quot;:379.5064574906957,&quot;left&quot;:58.18992125984251,&quot;top&quot;:114.69354250930425,&quot;width&quot;:844.0345732633334}"/>
  <p:tag name="KSO_WM_DIAGRAM_COLOR_MATCH_VALUE" val="{&quot;shape&quot;:{&quot;fill&quot;:{&quot;gradient&quot;:[{&quot;brightness&quot;:0,&quot;colorType&quot;:1,&quot;foreColorIndex&quot;:5,&quot;pos&quot;:0.15000000596046448,&quot;transparency&quot;:1},{&quot;brightness&quot;:0.3499999940395355,&quot;colorType&quot;:1,&quot;foreColorIndex&quot;:5,&quot;pos&quot;:1,&quot;transparency&quot;:0.64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76_2*l_h_i*1_1_4"/>
  <p:tag name="KSO_WM_TEMPLATE_CATEGORY" val="diagram"/>
  <p:tag name="KSO_WM_TEMPLATE_INDEX" val="20234476"/>
  <p:tag name="KSO_WM_UNIT_LAYERLEVEL" val="1_1_1"/>
  <p:tag name="KSO_WM_TAG_VERSION" val="3.0"/>
  <p:tag name="KSO_WM_DIAGRAM_GROUP_CODE" val="l1-1"/>
  <p:tag name="KSO_WM_UNIT_TYPE" val="l_h_i"/>
  <p:tag name="KSO_WM_UNIT_INDEX" val="1_1_4"/>
  <p:tag name="KSO_WM_DIAGRAM_VERSION" val="3"/>
  <p:tag name="KSO_WM_DIAGRAM_COLOR_TRICK" val="1"/>
  <p:tag name="KSO_WM_DIAGRAM_COLOR_TEXT_CAN_REMOVE" val="n"/>
  <p:tag name="KSO_WM_DIAGRAM_MAX_ITEMCNT" val="3"/>
  <p:tag name="KSO_WM_DIAGRAM_MIN_ITEMCNT" val="1"/>
  <p:tag name="KSO_WM_DIAGRAM_VIRTUALLY_FRAME" val="{&quot;height&quot;:379.5064574906957,&quot;left&quot;:58.18992125984251,&quot;top&quot;:114.69354250930425,&quot;width&quot;:844.034573263333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7300000190734863,&quot;transparency&quot;:1},{&quot;brightness&quot;:0,&quot;colorType&quot;:1,&quot;foreColorIndex&quot;:5,&quot;pos&quot;:1,&quot;transparency&quot;:0.6600000262260437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76_2*l_h_i*1_1_1"/>
  <p:tag name="KSO_WM_TEMPLATE_CATEGORY" val="diagram"/>
  <p:tag name="KSO_WM_TEMPLATE_INDEX" val="20234476"/>
  <p:tag name="KSO_WM_UNIT_LAYERLEVEL" val="1_1_1"/>
  <p:tag name="KSO_WM_TAG_VERSION" val="3.0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1"/>
  <p:tag name="KSO_WM_UNIT_TEXT_FILL_TYPE" val="1"/>
  <p:tag name="KSO_WM_DIAGRAM_MAX_ITEMCNT" val="3"/>
  <p:tag name="KSO_WM_DIAGRAM_MIN_ITEMCNT" val="1"/>
  <p:tag name="KSO_WM_DIAGRAM_VIRTUALLY_FRAME" val="{&quot;height&quot;:379.5064574906957,&quot;left&quot;:58.18992125984251,&quot;top&quot;:114.69354250930425,&quot;width&quot;:844.0345732633334}"/>
  <p:tag name="KSO_WM_DIAGRAM_COLOR_MATCH_VALUE" val="{&quot;shape&quot;:{&quot;fill&quot;:{&quot;gradient&quot;:[{&quot;brightness&quot;:0,&quot;colorType&quot;:1,&quot;foreColorIndex&quot;:5,&quot;pos&quot;:0,&quot;transparency&quot;:0.5099999904632568},{&quot;brightness&quot;:0,&quot;colorType&quot;:1,&quot;foreColorIndex&quot;:5,&quot;pos&quot;:1,&quot;transparency&quot;:0}],&quot;type&quot;:3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USESOURCEFORMAT_APPL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76_2*l_h_i*1_1_3"/>
  <p:tag name="KSO_WM_TEMPLATE_CATEGORY" val="diagram"/>
  <p:tag name="KSO_WM_TEMPLATE_INDEX" val="20234476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3"/>
  <p:tag name="KSO_WM_DIAGRAM_MIN_ITEMCNT" val="1"/>
  <p:tag name="KSO_WM_DIAGRAM_VIRTUALLY_FRAME" val="{&quot;height&quot;:379.5064574906957,&quot;left&quot;:58.18992125984251,&quot;top&quot;:114.69354250930425,&quot;width&quot;:844.034573263333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7400000095367432,&quot;transparency&quot;:1},{&quot;brightness&quot;:0,&quot;colorType&quot;:1,&quot;foreColorIndex&quot;:5,&quot;pos&quot;:0.9900000095367432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76_2*l_h_i*1_2_3"/>
  <p:tag name="KSO_WM_TEMPLATE_CATEGORY" val="diagram"/>
  <p:tag name="KSO_WM_TEMPLATE_INDEX" val="20234476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3"/>
  <p:tag name="KSO_WM_DIAGRAM_MIN_ITEMCNT" val="1"/>
  <p:tag name="KSO_WM_DIAGRAM_VIRTUALLY_FRAME" val="{&quot;height&quot;:379.5064574906957,&quot;left&quot;:58.18992125984251,&quot;top&quot;:114.69354250930425,&quot;width&quot;:844.0345732633334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7400000095367432,&quot;transparency&quot;:1},{&quot;brightness&quot;:0,&quot;colorType&quot;:1,&quot;foreColorIndex&quot;:5,&quot;pos&quot;:0.9900000095367432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2175</TotalTime>
  <Words>3298</Words>
  <Application>Microsoft Office PowerPoint</Application>
  <PresentationFormat>Widescreen</PresentationFormat>
  <Paragraphs>714</Paragraphs>
  <Slides>36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+中文正文</vt:lpstr>
      <vt:lpstr>Microsoft YaHei</vt:lpstr>
      <vt:lpstr>Microsoft YaHei</vt:lpstr>
      <vt:lpstr>Arial</vt:lpstr>
      <vt:lpstr>Bradley Hand ITC</vt:lpstr>
      <vt:lpstr>等线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北美质量管理月会 2026年05月</dc:title>
  <dc:subject>PptxGenJS Presentation</dc:subject>
  <dc:creator>曾翔宇 / 北美质量保障部</dc:creator>
  <cp:lastModifiedBy>Monica Jiang</cp:lastModifiedBy>
  <cp:revision>41</cp:revision>
  <dcterms:created xsi:type="dcterms:W3CDTF">2026-06-01T19:01:09Z</dcterms:created>
  <dcterms:modified xsi:type="dcterms:W3CDTF">2026-07-04T20:49:36Z</dcterms:modified>
</cp:coreProperties>
</file>